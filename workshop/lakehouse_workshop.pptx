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9"/>
    <p:restoredTop sz="76746"/>
  </p:normalViewPr>
  <p:slideViewPr>
    <p:cSldViewPr snapToGrid="0">
      <p:cViewPr varScale="1">
        <p:scale>
          <a:sx n="155" d="100"/>
          <a:sy n="155" d="100"/>
        </p:scale>
        <p:origin x="20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10/7/26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 — TITLE</a:t>
            </a:r>
          </a:p>
          <a:p>
            <a:r>
              <a:rPr lang="en-US"/>
              <a:t>Welcome. Today we look at how these open-source technologies connect into one coherent, production-style data platform — and then walk through it hands-on. Total presentation: ~30 minutes before transitioning to the hands-on workshop.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2 — AGENDA</a:t>
            </a:r>
          </a:p>
          <a:p>
            <a:r>
              <a:rPr lang="en-US"/>
              <a:t>Walk through the 8 agenda items briefly. Emphasise that items 1–7 are the conceptual foundation and item 8 is when participants take the wheel. The concept section is ~30 minutes; the workshop itself is self-paced from there.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3 — THE PROBLEM</a:t>
            </a:r>
          </a:p>
          <a:p>
            <a:r>
              <a:rPr lang="en-US"/>
              <a:t>These five pain points are the universal data lake problems. Uber hit all of them at massive scale and built Hudi to solve them. Mention that Delta Lake (Databricks) and Apache Iceberg tackle the same problem — Hudi is the one we use here because HoodieStreamer gives us a mature bulk-ingestion path with Avro schema enforcement out of the box.</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4 — THE LAKEHOUSE PATTERN</a:t>
            </a:r>
          </a:p>
          <a:p>
            <a:r>
              <a:rPr lang="en-US"/>
              <a:t>The key message: a Lakehouse is not a new type of storage — it is a transaction layer (table format) sitting on top of ordinary object storage. Hudi, Delta Lake, and Iceberg all implement this. The differentiator for this workshop is HoodieStreamer, which is Hudi's purpose-built bulk-ingestion utility. No equivalent exists for Delta or Iceberg on vanilla open-source infra.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5 — ARCHITECTURE OVERVIEW</a:t>
            </a:r>
          </a:p>
          <a:p>
            <a:r>
              <a:rPr lang="en-US"/>
              <a:t>Walk through the flow left to right, top row, then bottom row. Key point: the data flows right (download → store → process → catalog), and queries flow left (Superset → Presto → MinIO via Metastore). The two flows are completely decoupled — reads never block writes and vice versa. If the repo has the architecture image, point participants to images/lakehouse_architecture.png for a visual reference.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6 — TECHNOLOGY STACK</a:t>
            </a:r>
          </a:p>
          <a:p>
            <a:r>
              <a:rPr lang="en-US"/>
              <a:t>For each row, briefly explain the single-responsibility principle: MinIO is just storage, Spark is just ingestion, Hive is just the catalog, Presto is just queries. No one component does two jobs. This is what makes the system swappable — you could replace Presto with Trino (API-compatible) or MinIO with AWS S3 (same S3A API) without touching any other layer.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7 — MINIO</a:t>
            </a:r>
          </a:p>
          <a:p>
            <a:r>
              <a:rPr lang="en-US"/>
              <a:t>Key talking points: (1) 'S3-compatible' means the SDK doesn't know it's talking to MinIO vs real AWS S3 — the same boto3 and hadoop-aws code works unchanged. (2) The bucket has two distinct purposes: raw staging (transient, gets cleaned each run) and Hudi tables (persistent, keeps history). (3) During the workshop, show participants the MinIO console to make storage tangible — seeing actual Parquet files in a browser makes the lakehouse concept click.</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8 — APACHE HUDI</a:t>
            </a:r>
          </a:p>
          <a:p>
            <a:r>
              <a:rPr lang="en-US"/>
              <a:t>Spend the most time here — this is the core of the whole system. Three concepts to nail: (1) Record key + precombine = idempotent ingestion, the pipeline can be re-run safely. (2) COW vs MOR trade-off — we chose read performance over write speed because Presto and Superset are query-heavy, not write-heavy. (3) The .hoodie/ timeline is what turns a flat directory of Parquet files into a proper ACID database — it's the equivalent of a transaction log in Postgres.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9 — HIVE METASTORE</a:t>
            </a:r>
          </a:p>
          <a:p>
            <a:r>
              <a:rPr lang="en-US"/>
              <a:t>The most common misconception: people think the Metastore stores their data. It does not. It stores only metadata — table names, column types, partition locations, file counts. The actual Parquet bytes always live in MinIO. The Metastore is like a library card catalogue: it tells you which shelf a book is on, but the book is still on the shelf. Emphasise partition pruning — this is how Presto avoids full-table scans even on 1.7M+ records.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10 — PRESTO</a:t>
            </a:r>
          </a:p>
          <a:p>
            <a:r>
              <a:rPr lang="en-US"/>
              <a:t>Key message: separation of concerns. Spark is the write engine, Presto is the read engine. They never conflict. The Hudi connector on Presto reads the table from the Metastore and then reads Parquet directly from MinIO — the data never passes through Presto's coordinator, only results do. Point out that Trino (the community fork) is API-compatible — you can swap the Docker image and nothing else changes.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11 — AIRFLOW PIPELINE</a:t>
            </a:r>
          </a:p>
          <a:p>
            <a:r>
              <a:rPr lang="en-US"/>
              <a:t>Two things worth calling out in detail: (1) The circuit breaker pattern on Task 2 — Hudi exits with code 0 (success) when there's nothing to commit. Without the 'Nothing to commit' string check, Airflow would show a green DAG even when zero records were written. This is a real production pattern. (2) The Docker socket approach for Spark — this is a deliberate design choice to keep Airflow lean and Spark isolated. It's fine for a workshop/dev setup; explain the production alternative (Livy/K8s operator) for completeness.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12 — DATA FLOW END-TO-END</a:t>
            </a:r>
          </a:p>
          <a:p>
            <a:r>
              <a:rPr lang="en-US"/>
              <a:t>This is the 'putting it all together' slide. Walk left-to-right through the write path first, then right-to-left through the read path. The key insight to hammer home: snapshot isolation means a Presto query running at the same moment a Spark job is writing will always see a consistent snapshot — never half-written data. This is what ACID buys you at the lake level.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13 — HUDI ACID SUPERPOWERS</a:t>
            </a:r>
          </a:p>
          <a:p>
            <a:r>
              <a:rPr lang="en-US"/>
              <a:t>This is the most dramatic demo slide — save the actual script run for the workshop hands-on section. But here, explain WHY each operation is powerful: Upsert = CDC without a database. GDPR delete = compliance without a full table rewrite ($$$). Time travel = 'git log' for your data. These three capabilities are what separate a Lakehouse from a raw data lake, and they all come for free with Hudi on Parquet.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14 — APACHE SUPERSET</a:t>
            </a:r>
          </a:p>
          <a:p>
            <a:r>
              <a:rPr lang="en-US"/>
              <a:t>Key insight: Superset does NOT store any data. It issues SQL to Presto, Presto reads Parquet from MinIO, and results are returned directly. The virtual dataset is the semantic layer — it's a named Presto query stored in Superset. Show images/superset_dashboard_overview.png here. The 80/20 human vs bot split and the 92.4% PR merge rate are always crowd-pleasers — real live data, computed live.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15 — BENEFITS SUMMARY</a:t>
            </a:r>
          </a:p>
          <a:p>
            <a:r>
              <a:rPr lang="en-US"/>
              <a:t>The punch line: everything on this slide is a direct consequence of choosing open formats and clean separation of concerns. When your storage format is open (Parquet), your catalog protocol is open (Thrift/HMS), and your compute is pluggable (any MPP engine), the whole system becomes future-proof. You are never locked in to a vendor's upgrade cycle or pricing model.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16 — WORKSHOP TRANSITION</a:t>
            </a:r>
          </a:p>
          <a:p>
            <a:r>
              <a:rPr lang="en-US"/>
              <a:t>This is the handoff slide. After presenting this, switch to a terminal and start with Step 1 live. Tip: pre-run 'docker compose pull' before the session so images are already cached and Step 1 takes seconds instead of minutes. While the containers start (Step 1 takes 2-3 min for first-time health checks), walk participants through the repo file structure to fill the wait time.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000"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001" name="Title"/>
          <p:cNvSpPr txBox="1"/>
          <p:nvPr/>
        </p:nvSpPr>
        <p:spPr>
          <a:xfrm>
            <a:off x="900000" y="1008000"/>
            <a:ext cx="10080000" cy="2160000"/>
          </a:xfrm>
          <a:prstGeom prst="rect">
            <a:avLst/>
          </a:prstGeom>
          <a:noFill/>
        </p:spPr>
        <p:txBody>
          <a:bodyPr/>
          <a:lstStyle/>
          <a:p>
            <a:r>
              <a:rPr lang="en-US" sz="4200" b="1">
                <a:solidFill>
                  <a:srgbClr val="FFFFFF"/>
                </a:solidFill>
                <a:latin typeface="IBM Plex Sans"/>
                <a:ea typeface="IBM Plex Sans"/>
              </a:rPr>
              <a:t>Building a Modern</a:t>
            </a:r>
          </a:p>
          <a:p>
            <a:r>
              <a:rPr lang="en-US" sz="4200" b="1">
                <a:solidFill>
                  <a:srgbClr val="FFFFFF"/>
                </a:solidFill>
                <a:latin typeface="IBM Plex Sans"/>
                <a:ea typeface="IBM Plex Sans"/>
              </a:rPr>
              <a:t>Data Lakehouse</a:t>
            </a:r>
          </a:p>
          <a:p>
            <a:r>
              <a:rPr lang="en-US" sz="4200" b="1">
                <a:solidFill>
                  <a:srgbClr val="FFFFFF"/>
                </a:solidFill>
                <a:latin typeface="IBM Plex Sans"/>
                <a:ea typeface="IBM Plex Sans"/>
              </a:rPr>
              <a:t>- Process GitHub Archive</a:t>
            </a:r>
          </a:p>
        </p:txBody>
      </p:sp>
      <p:sp>
        <p:nvSpPr>
          <p:cNvPr id="100002" name="Subtitle"/>
          <p:cNvSpPr txBox="1"/>
          <p:nvPr/>
        </p:nvSpPr>
        <p:spPr>
          <a:xfrm>
            <a:off x="900000" y="3420000"/>
            <a:ext cx="10080000" cy="540000"/>
          </a:xfrm>
          <a:prstGeom prst="rect">
            <a:avLst/>
          </a:prstGeom>
          <a:noFill/>
        </p:spPr>
        <p:txBody>
          <a:bodyPr/>
          <a:lstStyle/>
          <a:p>
            <a:r>
              <a:rPr lang="en-US" sz="2000" b="0">
                <a:solidFill>
                  <a:srgbClr val="78A9FF"/>
                </a:solidFill>
                <a:latin typeface="IBM Plex Sans"/>
                <a:ea typeface="IBM Plex Sans"/>
              </a:rPr>
              <a:t>GitHub Events  ·  Apache Hudi  ·  PrestoDB  ·  MinIO  ·  Airflow</a:t>
            </a:r>
          </a:p>
        </p:txBody>
      </p:sp>
      <p:sp>
        <p:nvSpPr>
          <p:cNvPr id="100003" name="Tagline"/>
          <p:cNvSpPr txBox="1"/>
          <p:nvPr/>
        </p:nvSpPr>
        <p:spPr>
          <a:xfrm>
            <a:off x="900000" y="4032000"/>
            <a:ext cx="10080000" cy="360000"/>
          </a:xfrm>
          <a:prstGeom prst="rect">
            <a:avLst/>
          </a:prstGeom>
          <a:noFill/>
        </p:spPr>
        <p:txBody>
          <a:bodyPr/>
          <a:lstStyle/>
          <a:p>
            <a:r>
              <a:rPr lang="en-US" sz="1400" b="0">
                <a:solidFill>
                  <a:srgbClr val="8D8D8D"/>
                </a:solidFill>
                <a:latin typeface="IBM Plex Sans"/>
                <a:ea typeface="IBM Plex Sans"/>
              </a:rPr>
              <a:t>A self-contained, production-style data lakehouse — running entirely in Docker</a:t>
            </a:r>
          </a:p>
        </p:txBody>
      </p:sp>
      <p:sp>
        <p:nvSpPr>
          <p:cNvPr id="100004"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
        <p:nvSpPr>
          <p:cNvPr id="2" name="TextBox 1">
            <a:extLst>
              <a:ext uri="{FF2B5EF4-FFF2-40B4-BE49-F238E27FC236}">
                <a16:creationId xmlns:a16="http://schemas.microsoft.com/office/drawing/2014/main" id="{EE3039B1-07A9-12C7-2A28-BFB0B052D9A6}"/>
              </a:ext>
            </a:extLst>
          </p:cNvPr>
          <p:cNvSpPr txBox="1"/>
          <p:nvPr/>
        </p:nvSpPr>
        <p:spPr>
          <a:xfrm>
            <a:off x="900000" y="4770304"/>
            <a:ext cx="5196000" cy="923330"/>
          </a:xfrm>
          <a:prstGeom prst="rect">
            <a:avLst/>
          </a:prstGeom>
          <a:noFill/>
        </p:spPr>
        <p:txBody>
          <a:bodyPr wrap="square" rtlCol="0">
            <a:spAutoFit/>
          </a:bodyPr>
          <a:lstStyle/>
          <a:p>
            <a:r>
              <a:rPr lang="en-US" dirty="0">
                <a:solidFill>
                  <a:schemeClr val="bg1"/>
                </a:solidFill>
              </a:rPr>
              <a:t>Yihong Wang</a:t>
            </a:r>
          </a:p>
          <a:p>
            <a:r>
              <a:rPr lang="en-US" dirty="0">
                <a:solidFill>
                  <a:schemeClr val="bg1"/>
                </a:solidFill>
              </a:rPr>
              <a:t>Senior Software Developer/IBM Research</a:t>
            </a:r>
          </a:p>
          <a:p>
            <a:r>
              <a:rPr lang="en-US" dirty="0" err="1">
                <a:solidFill>
                  <a:schemeClr val="bg1"/>
                </a:solidFill>
              </a:rPr>
              <a:t>yh.wang@ibm.com</a:t>
            </a: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005"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006"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02</a:t>
            </a:r>
          </a:p>
        </p:txBody>
      </p:sp>
      <p:sp>
        <p:nvSpPr>
          <p:cNvPr id="100007" name="Title"/>
          <p:cNvSpPr txBox="1"/>
          <p:nvPr/>
        </p:nvSpPr>
        <p:spPr>
          <a:xfrm>
            <a:off x="900000" y="504000"/>
            <a:ext cx="10080000" cy="432000"/>
          </a:xfrm>
          <a:prstGeom prst="rect">
            <a:avLst/>
          </a:prstGeom>
          <a:noFill/>
        </p:spPr>
        <p:txBody>
          <a:bodyPr/>
          <a:lstStyle/>
          <a:p>
            <a:r>
              <a:rPr lang="en-US" sz="3000" b="1">
                <a:solidFill>
                  <a:srgbClr val="FFFFFF"/>
                </a:solidFill>
                <a:latin typeface="IBM Plex Sans"/>
                <a:ea typeface="IBM Plex Sans"/>
              </a:rPr>
              <a:t>Agenda</a:t>
            </a:r>
          </a:p>
        </p:txBody>
      </p:sp>
      <p:sp>
        <p:nvSpPr>
          <p:cNvPr id="100008" name="Body"/>
          <p:cNvSpPr txBox="1"/>
          <p:nvPr/>
        </p:nvSpPr>
        <p:spPr>
          <a:xfrm>
            <a:off x="900000" y="1224000"/>
            <a:ext cx="10080000" cy="3960000"/>
          </a:xfrm>
          <a:prstGeom prst="rect">
            <a:avLst/>
          </a:prstGeom>
          <a:noFill/>
        </p:spPr>
        <p:txBody>
          <a:bodyPr/>
          <a:lstStyle/>
          <a:p>
            <a:r>
              <a:rPr lang="en-US" sz="2000" b="0" dirty="0">
                <a:solidFill>
                  <a:srgbClr val="C6C6C6"/>
                </a:solidFill>
                <a:latin typeface="IBM Plex Sans"/>
                <a:ea typeface="IBM Plex Sans"/>
              </a:rPr>
              <a:t>1  The Problem: Why traditional data lakes fall short</a:t>
            </a:r>
          </a:p>
          <a:p>
            <a:r>
              <a:rPr lang="en-US" sz="2000" b="0" dirty="0">
                <a:solidFill>
                  <a:srgbClr val="C6C6C6"/>
                </a:solidFill>
                <a:latin typeface="IBM Plex Sans"/>
                <a:ea typeface="IBM Plex Sans"/>
              </a:rPr>
              <a:t>2  The Solution: The Lakehouse pattern</a:t>
            </a:r>
          </a:p>
          <a:p>
            <a:r>
              <a:rPr lang="en-US" sz="2000" b="0" dirty="0">
                <a:solidFill>
                  <a:srgbClr val="C6C6C6"/>
                </a:solidFill>
                <a:latin typeface="IBM Plex Sans"/>
                <a:ea typeface="IBM Plex Sans"/>
              </a:rPr>
              <a:t>3  Architecture overview &amp; technology stack</a:t>
            </a:r>
          </a:p>
          <a:p>
            <a:r>
              <a:rPr lang="en-US" sz="2000" b="0" dirty="0">
                <a:solidFill>
                  <a:srgbClr val="C6C6C6"/>
                </a:solidFill>
                <a:latin typeface="IBM Plex Sans"/>
                <a:ea typeface="IBM Plex Sans"/>
              </a:rPr>
              <a:t>4  Deep dive: each layer explained</a:t>
            </a:r>
          </a:p>
          <a:p>
            <a:r>
              <a:rPr lang="en-US" sz="2000" b="0" dirty="0">
                <a:solidFill>
                  <a:srgbClr val="C6C6C6"/>
                </a:solidFill>
                <a:latin typeface="IBM Plex Sans"/>
                <a:ea typeface="IBM Plex Sans"/>
              </a:rPr>
              <a:t>5  Data flow end-to-end</a:t>
            </a:r>
          </a:p>
          <a:p>
            <a:r>
              <a:rPr lang="en-US" sz="2000" b="0" dirty="0">
                <a:solidFill>
                  <a:srgbClr val="C6C6C6"/>
                </a:solidFill>
                <a:latin typeface="IBM Plex Sans"/>
                <a:ea typeface="IBM Plex Sans"/>
              </a:rPr>
              <a:t>6  ACID superpowers — </a:t>
            </a:r>
            <a:r>
              <a:rPr lang="en-US" sz="2000" b="0" dirty="0" err="1">
                <a:solidFill>
                  <a:srgbClr val="C6C6C6"/>
                </a:solidFill>
                <a:latin typeface="IBM Plex Sans"/>
                <a:ea typeface="IBM Plex Sans"/>
              </a:rPr>
              <a:t>Upsert</a:t>
            </a:r>
            <a:r>
              <a:rPr lang="en-US" sz="2000" b="0" dirty="0">
                <a:solidFill>
                  <a:srgbClr val="C6C6C6"/>
                </a:solidFill>
                <a:latin typeface="IBM Plex Sans"/>
                <a:ea typeface="IBM Plex Sans"/>
              </a:rPr>
              <a:t> · Delete · Time Travel</a:t>
            </a:r>
          </a:p>
          <a:p>
            <a:r>
              <a:rPr lang="en-US" sz="2000" b="0" dirty="0">
                <a:solidFill>
                  <a:srgbClr val="C6C6C6"/>
                </a:solidFill>
                <a:latin typeface="IBM Plex Sans"/>
                <a:ea typeface="IBM Plex Sans"/>
              </a:rPr>
              <a:t>7  Analytics &amp; BI layer (Apache Superset)</a:t>
            </a:r>
          </a:p>
        </p:txBody>
      </p:sp>
      <p:sp>
        <p:nvSpPr>
          <p:cNvPr id="100009"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010" name="TopAccent"/>
          <p:cNvSpPr txBox="1"/>
          <p:nvPr/>
        </p:nvSpPr>
        <p:spPr>
          <a:xfrm>
            <a:off x="0" y="0"/>
            <a:ext cx="12193200" cy="144000"/>
          </a:xfrm>
          <a:prstGeom prst="rect">
            <a:avLst/>
          </a:prstGeom>
          <a:solidFill>
            <a:srgbClr val="DA1E28"/>
          </a:solidFill>
        </p:spPr>
        <p:txBody>
          <a:bodyPr/>
          <a:lstStyle/>
          <a:p>
            <a:endParaRPr lang="en-US" sz="800">
              <a:solidFill>
                <a:srgbClr val="DA1E28"/>
              </a:solidFill>
            </a:endParaRPr>
          </a:p>
        </p:txBody>
      </p:sp>
      <p:sp>
        <p:nvSpPr>
          <p:cNvPr id="100011" name="SlideNum"/>
          <p:cNvSpPr txBox="1"/>
          <p:nvPr/>
        </p:nvSpPr>
        <p:spPr>
          <a:xfrm>
            <a:off x="900000" y="216000"/>
            <a:ext cx="1080000" cy="216000"/>
          </a:xfrm>
          <a:prstGeom prst="rect">
            <a:avLst/>
          </a:prstGeom>
          <a:noFill/>
        </p:spPr>
        <p:txBody>
          <a:bodyPr/>
          <a:lstStyle/>
          <a:p>
            <a:r>
              <a:rPr lang="en-US" sz="1100" b="0">
                <a:solidFill>
                  <a:srgbClr val="DA1E28"/>
                </a:solidFill>
                <a:latin typeface="IBM Plex Mono"/>
                <a:ea typeface="IBM Plex Mono"/>
              </a:rPr>
              <a:t>03</a:t>
            </a:r>
          </a:p>
        </p:txBody>
      </p:sp>
      <p:sp>
        <p:nvSpPr>
          <p:cNvPr id="100012"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The Problem with Traditional Data Lakes</a:t>
            </a:r>
          </a:p>
        </p:txBody>
      </p:sp>
      <p:sp>
        <p:nvSpPr>
          <p:cNvPr id="100013" name="Subtitle"/>
          <p:cNvSpPr txBox="1"/>
          <p:nvPr/>
        </p:nvSpPr>
        <p:spPr>
          <a:xfrm>
            <a:off x="900000" y="1008000"/>
            <a:ext cx="10080000" cy="324000"/>
          </a:xfrm>
          <a:prstGeom prst="rect">
            <a:avLst/>
          </a:prstGeom>
          <a:noFill/>
        </p:spPr>
        <p:txBody>
          <a:bodyPr/>
          <a:lstStyle/>
          <a:p>
            <a:r>
              <a:rPr lang="en-US" sz="1600" b="0">
                <a:solidFill>
                  <a:srgbClr val="78A9FF"/>
                </a:solidFill>
                <a:latin typeface="IBM Plex Sans"/>
                <a:ea typeface="IBM Plex Sans"/>
              </a:rPr>
              <a:t>"Raw files on object storage are cheap. Using them correctly is hard."</a:t>
            </a:r>
          </a:p>
        </p:txBody>
      </p:sp>
      <p:sp>
        <p:nvSpPr>
          <p:cNvPr id="100014" name="Col1Header"/>
          <p:cNvSpPr txBox="1"/>
          <p:nvPr/>
        </p:nvSpPr>
        <p:spPr>
          <a:xfrm>
            <a:off x="900000" y="1440000"/>
            <a:ext cx="4320000" cy="252000"/>
          </a:xfrm>
          <a:prstGeom prst="rect">
            <a:avLst/>
          </a:prstGeom>
          <a:solidFill>
            <a:srgbClr val="262626"/>
          </a:solidFill>
        </p:spPr>
        <p:txBody>
          <a:bodyPr/>
          <a:lstStyle/>
          <a:p>
            <a:r>
              <a:rPr lang="en-US" sz="1300" b="1">
                <a:solidFill>
                  <a:srgbClr val="0F62FE"/>
                </a:solidFill>
                <a:latin typeface="IBM Plex Sans"/>
                <a:ea typeface="IBM Plex Sans"/>
              </a:rPr>
              <a:t>Pain Point</a:t>
            </a:r>
          </a:p>
        </p:txBody>
      </p:sp>
      <p:sp>
        <p:nvSpPr>
          <p:cNvPr id="100015" name="Col2Header"/>
          <p:cNvSpPr txBox="1"/>
          <p:nvPr/>
        </p:nvSpPr>
        <p:spPr>
          <a:xfrm>
            <a:off x="5400000" y="1440000"/>
            <a:ext cx="6120000" cy="252000"/>
          </a:xfrm>
          <a:prstGeom prst="rect">
            <a:avLst/>
          </a:prstGeom>
          <a:solidFill>
            <a:srgbClr val="262626"/>
          </a:solidFill>
        </p:spPr>
        <p:txBody>
          <a:bodyPr/>
          <a:lstStyle/>
          <a:p>
            <a:r>
              <a:rPr lang="en-US" sz="1300" b="1">
                <a:solidFill>
                  <a:srgbClr val="0F62FE"/>
                </a:solidFill>
                <a:latin typeface="IBM Plex Sans"/>
                <a:ea typeface="IBM Plex Sans"/>
              </a:rPr>
              <a:t>What Goes Wrong</a:t>
            </a:r>
          </a:p>
        </p:txBody>
      </p:sp>
      <p:sp>
        <p:nvSpPr>
          <p:cNvPr id="100016" name="Row1A"/>
          <p:cNvSpPr txBox="1"/>
          <p:nvPr/>
        </p:nvSpPr>
        <p:spPr>
          <a:xfrm>
            <a:off x="900000" y="1764000"/>
            <a:ext cx="4320000" cy="396000"/>
          </a:xfrm>
          <a:prstGeom prst="rect">
            <a:avLst/>
          </a:prstGeom>
          <a:noFill/>
        </p:spPr>
        <p:txBody>
          <a:bodyPr/>
          <a:lstStyle/>
          <a:p>
            <a:r>
              <a:rPr lang="en-US" sz="1400" b="0">
                <a:solidFill>
                  <a:srgbClr val="F4F4F4"/>
                </a:solidFill>
                <a:latin typeface="IBM Plex Sans"/>
                <a:ea typeface="IBM Plex Sans"/>
              </a:rPr>
              <a:t>No row-level mutations</a:t>
            </a:r>
          </a:p>
        </p:txBody>
      </p:sp>
      <p:sp>
        <p:nvSpPr>
          <p:cNvPr id="100017" name="Row1B"/>
          <p:cNvSpPr txBox="1"/>
          <p:nvPr/>
        </p:nvSpPr>
        <p:spPr>
          <a:xfrm>
            <a:off x="5400000" y="1764000"/>
            <a:ext cx="6120000" cy="396000"/>
          </a:xfrm>
          <a:prstGeom prst="rect">
            <a:avLst/>
          </a:prstGeom>
          <a:noFill/>
        </p:spPr>
        <p:txBody>
          <a:bodyPr/>
          <a:lstStyle/>
          <a:p>
            <a:r>
              <a:rPr lang="en-US" sz="1400" b="0">
                <a:solidFill>
                  <a:srgbClr val="8D8D8D"/>
                </a:solidFill>
                <a:latin typeface="IBM Plex Sans"/>
                <a:ea typeface="IBM Plex Sans"/>
              </a:rPr>
              <a:t>Updating one record forces a full partition rewrite</a:t>
            </a:r>
          </a:p>
        </p:txBody>
      </p:sp>
      <p:sp>
        <p:nvSpPr>
          <p:cNvPr id="100018" name="Row2A"/>
          <p:cNvSpPr txBox="1"/>
          <p:nvPr/>
        </p:nvSpPr>
        <p:spPr>
          <a:xfrm>
            <a:off x="900000" y="2232000"/>
            <a:ext cx="4320000" cy="396000"/>
          </a:xfrm>
          <a:prstGeom prst="rect">
            <a:avLst/>
          </a:prstGeom>
          <a:noFill/>
        </p:spPr>
        <p:txBody>
          <a:bodyPr/>
          <a:lstStyle/>
          <a:p>
            <a:r>
              <a:rPr lang="en-US" sz="1400" b="0">
                <a:solidFill>
                  <a:srgbClr val="F4F4F4"/>
                </a:solidFill>
                <a:latin typeface="IBM Plex Sans"/>
                <a:ea typeface="IBM Plex Sans"/>
              </a:rPr>
              <a:t>No ACID transactions</a:t>
            </a:r>
          </a:p>
        </p:txBody>
      </p:sp>
      <p:sp>
        <p:nvSpPr>
          <p:cNvPr id="100019" name="Row2B"/>
          <p:cNvSpPr txBox="1"/>
          <p:nvPr/>
        </p:nvSpPr>
        <p:spPr>
          <a:xfrm>
            <a:off x="5400000" y="2232000"/>
            <a:ext cx="6120000" cy="396000"/>
          </a:xfrm>
          <a:prstGeom prst="rect">
            <a:avLst/>
          </a:prstGeom>
          <a:noFill/>
        </p:spPr>
        <p:txBody>
          <a:bodyPr/>
          <a:lstStyle/>
          <a:p>
            <a:r>
              <a:rPr lang="en-US" sz="1400" b="0">
                <a:solidFill>
                  <a:srgbClr val="8D8D8D"/>
                </a:solidFill>
                <a:latin typeface="IBM Plex Sans"/>
                <a:ea typeface="IBM Plex Sans"/>
              </a:rPr>
              <a:t>Concurrent writes corrupt readers; failed jobs leave orphan files</a:t>
            </a:r>
          </a:p>
        </p:txBody>
      </p:sp>
      <p:sp>
        <p:nvSpPr>
          <p:cNvPr id="100020" name="Row3A"/>
          <p:cNvSpPr txBox="1"/>
          <p:nvPr/>
        </p:nvSpPr>
        <p:spPr>
          <a:xfrm>
            <a:off x="900000" y="2700000"/>
            <a:ext cx="4320000" cy="396000"/>
          </a:xfrm>
          <a:prstGeom prst="rect">
            <a:avLst/>
          </a:prstGeom>
          <a:noFill/>
        </p:spPr>
        <p:txBody>
          <a:bodyPr/>
          <a:lstStyle/>
          <a:p>
            <a:r>
              <a:rPr lang="en-US" sz="1400" b="0">
                <a:solidFill>
                  <a:srgbClr val="F4F4F4"/>
                </a:solidFill>
                <a:latin typeface="IBM Plex Sans"/>
                <a:ea typeface="IBM Plex Sans"/>
              </a:rPr>
              <a:t>GDPR / Right to be Forgotten</a:t>
            </a:r>
          </a:p>
        </p:txBody>
      </p:sp>
      <p:sp>
        <p:nvSpPr>
          <p:cNvPr id="100021" name="Row3B"/>
          <p:cNvSpPr txBox="1"/>
          <p:nvPr/>
        </p:nvSpPr>
        <p:spPr>
          <a:xfrm>
            <a:off x="5400000" y="2700000"/>
            <a:ext cx="6120000" cy="396000"/>
          </a:xfrm>
          <a:prstGeom prst="rect">
            <a:avLst/>
          </a:prstGeom>
          <a:noFill/>
        </p:spPr>
        <p:txBody>
          <a:bodyPr/>
          <a:lstStyle/>
          <a:p>
            <a:r>
              <a:rPr lang="en-US" sz="1400" b="0" dirty="0">
                <a:solidFill>
                  <a:srgbClr val="8D8D8D"/>
                </a:solidFill>
                <a:latin typeface="IBM Plex Sans"/>
                <a:ea typeface="IBM Plex Sans"/>
              </a:rPr>
              <a:t>Deleting one user's records requires a costly full-table rewrite</a:t>
            </a:r>
          </a:p>
        </p:txBody>
      </p:sp>
      <p:sp>
        <p:nvSpPr>
          <p:cNvPr id="100022" name="Row4A"/>
          <p:cNvSpPr txBox="1"/>
          <p:nvPr/>
        </p:nvSpPr>
        <p:spPr>
          <a:xfrm>
            <a:off x="900000" y="3168000"/>
            <a:ext cx="4320000" cy="396000"/>
          </a:xfrm>
          <a:prstGeom prst="rect">
            <a:avLst/>
          </a:prstGeom>
          <a:noFill/>
        </p:spPr>
        <p:txBody>
          <a:bodyPr/>
          <a:lstStyle/>
          <a:p>
            <a:r>
              <a:rPr lang="en-US" sz="1400" b="0">
                <a:solidFill>
                  <a:srgbClr val="F4F4F4"/>
                </a:solidFill>
                <a:latin typeface="IBM Plex Sans"/>
                <a:ea typeface="IBM Plex Sans"/>
              </a:rPr>
              <a:t>The small-file problem</a:t>
            </a:r>
          </a:p>
        </p:txBody>
      </p:sp>
      <p:sp>
        <p:nvSpPr>
          <p:cNvPr id="100023" name="Row4B"/>
          <p:cNvSpPr txBox="1"/>
          <p:nvPr/>
        </p:nvSpPr>
        <p:spPr>
          <a:xfrm>
            <a:off x="5400000" y="3168000"/>
            <a:ext cx="6120000" cy="396000"/>
          </a:xfrm>
          <a:prstGeom prst="rect">
            <a:avLst/>
          </a:prstGeom>
          <a:noFill/>
        </p:spPr>
        <p:txBody>
          <a:bodyPr/>
          <a:lstStyle/>
          <a:p>
            <a:r>
              <a:rPr lang="en-US" sz="1400" b="0">
                <a:solidFill>
                  <a:srgbClr val="8D8D8D"/>
                </a:solidFill>
                <a:latin typeface="IBM Plex Sans"/>
                <a:ea typeface="IBM Plex Sans"/>
              </a:rPr>
              <a:t>Millions of tiny Parquet files overwhelm object-store metadata and destroy query speed</a:t>
            </a:r>
          </a:p>
        </p:txBody>
      </p:sp>
      <p:sp>
        <p:nvSpPr>
          <p:cNvPr id="100024" name="Row5A"/>
          <p:cNvSpPr txBox="1"/>
          <p:nvPr/>
        </p:nvSpPr>
        <p:spPr>
          <a:xfrm>
            <a:off x="900000" y="3636000"/>
            <a:ext cx="4320000" cy="396000"/>
          </a:xfrm>
          <a:prstGeom prst="rect">
            <a:avLst/>
          </a:prstGeom>
          <a:noFill/>
        </p:spPr>
        <p:txBody>
          <a:bodyPr/>
          <a:lstStyle/>
          <a:p>
            <a:r>
              <a:rPr lang="en-US" sz="1400" b="0">
                <a:solidFill>
                  <a:srgbClr val="F4F4F4"/>
                </a:solidFill>
                <a:latin typeface="IBM Plex Sans"/>
                <a:ea typeface="IBM Plex Sans"/>
              </a:rPr>
              <a:t>Schema evolution</a:t>
            </a:r>
          </a:p>
        </p:txBody>
      </p:sp>
      <p:sp>
        <p:nvSpPr>
          <p:cNvPr id="100025" name="Row5B"/>
          <p:cNvSpPr txBox="1"/>
          <p:nvPr/>
        </p:nvSpPr>
        <p:spPr>
          <a:xfrm>
            <a:off x="5400000" y="3636000"/>
            <a:ext cx="6120000" cy="396000"/>
          </a:xfrm>
          <a:prstGeom prst="rect">
            <a:avLst/>
          </a:prstGeom>
          <a:noFill/>
        </p:spPr>
        <p:txBody>
          <a:bodyPr/>
          <a:lstStyle/>
          <a:p>
            <a:r>
              <a:rPr lang="en-US" sz="1400" b="0">
                <a:solidFill>
                  <a:srgbClr val="8D8D8D"/>
                </a:solidFill>
                <a:latin typeface="IBM Plex Sans"/>
                <a:ea typeface="IBM Plex Sans"/>
              </a:rPr>
              <a:t>Adding a column breaks all downstream consumers with no safety net</a:t>
            </a:r>
          </a:p>
        </p:txBody>
      </p:sp>
      <p:sp>
        <p:nvSpPr>
          <p:cNvPr id="100026" name="Callout"/>
          <p:cNvSpPr txBox="1"/>
          <p:nvPr/>
        </p:nvSpPr>
        <p:spPr>
          <a:xfrm>
            <a:off x="900000" y="4248000"/>
            <a:ext cx="10080000" cy="720000"/>
          </a:xfrm>
          <a:prstGeom prst="rect">
            <a:avLst/>
          </a:prstGeom>
          <a:solidFill>
            <a:srgbClr val="1C3A5E"/>
          </a:solidFill>
        </p:spPr>
        <p:txBody>
          <a:bodyPr/>
          <a:lstStyle/>
          <a:p>
            <a:r>
              <a:rPr lang="en-US" sz="1300" b="0">
                <a:solidFill>
                  <a:srgbClr val="78A9FF"/>
                </a:solidFill>
                <a:latin typeface="IBM Plex Sans"/>
                <a:ea typeface="IBM Plex Sans"/>
              </a:rPr>
              <a:t>These aren't theoretical. Every data engineering team hits all five within the first year of operating a data lake at scale. Apache Hudi was created at Uber specifically to solve them.</a:t>
            </a:r>
          </a:p>
        </p:txBody>
      </p:sp>
      <p:sp>
        <p:nvSpPr>
          <p:cNvPr id="100027" name="BottomBar"/>
          <p:cNvSpPr txBox="1"/>
          <p:nvPr/>
        </p:nvSpPr>
        <p:spPr>
          <a:xfrm>
            <a:off x="0" y="6426000"/>
            <a:ext cx="12193200" cy="144000"/>
          </a:xfrm>
          <a:prstGeom prst="rect">
            <a:avLst/>
          </a:prstGeom>
          <a:solidFill>
            <a:srgbClr val="DA1E28"/>
          </a:solidFill>
        </p:spPr>
        <p:txBody>
          <a:bodyPr/>
          <a:lstStyle/>
          <a:p>
            <a:endParaRPr lang="en-US" sz="800">
              <a:solidFill>
                <a:srgbClr val="DA1E2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028"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029"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04</a:t>
            </a:r>
          </a:p>
        </p:txBody>
      </p:sp>
      <p:sp>
        <p:nvSpPr>
          <p:cNvPr id="100030"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The Lakehouse Pattern</a:t>
            </a:r>
          </a:p>
        </p:txBody>
      </p:sp>
      <p:sp>
        <p:nvSpPr>
          <p:cNvPr id="100031" name="Subtitle"/>
          <p:cNvSpPr txBox="1"/>
          <p:nvPr/>
        </p:nvSpPr>
        <p:spPr>
          <a:xfrm>
            <a:off x="900000" y="1008000"/>
            <a:ext cx="10080000" cy="288000"/>
          </a:xfrm>
          <a:prstGeom prst="rect">
            <a:avLst/>
          </a:prstGeom>
          <a:noFill/>
        </p:spPr>
        <p:txBody>
          <a:bodyPr/>
          <a:lstStyle/>
          <a:p>
            <a:r>
              <a:rPr lang="en-US" sz="1600" b="0">
                <a:solidFill>
                  <a:srgbClr val="78A9FF"/>
                </a:solidFill>
                <a:latin typeface="IBM Plex Sans"/>
                <a:ea typeface="IBM Plex Sans"/>
              </a:rPr>
              <a:t>Best of both worlds — warehouse guarantees on lake economics</a:t>
            </a:r>
          </a:p>
        </p:txBody>
      </p:sp>
      <p:sp>
        <p:nvSpPr>
          <p:cNvPr id="100032" name="WhBox"/>
          <p:cNvSpPr txBox="1"/>
          <p:nvPr/>
        </p:nvSpPr>
        <p:spPr>
          <a:xfrm>
            <a:off x="900000" y="1404000"/>
            <a:ext cx="3060000" cy="2520000"/>
          </a:xfrm>
          <a:prstGeom prst="rect">
            <a:avLst/>
          </a:prstGeom>
          <a:solidFill>
            <a:srgbClr val="1C3A5E"/>
          </a:solidFill>
        </p:spPr>
        <p:txBody>
          <a:bodyPr/>
          <a:lstStyle/>
          <a:p>
            <a:r>
              <a:rPr lang="en-US" sz="1300" b="0">
                <a:solidFill>
                  <a:srgbClr val="C6C6C6"/>
                </a:solidFill>
                <a:latin typeface="IBM Plex Sans"/>
                <a:ea typeface="IBM Plex Sans"/>
              </a:rPr>
              <a:t>DATA WAREHOUSE</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  ACID transactions &amp; fast queries</a:t>
            </a:r>
          </a:p>
          <a:p>
            <a:r>
              <a:rPr lang="en-US" sz="1300" b="0">
                <a:solidFill>
                  <a:srgbClr val="C6C6C6"/>
                </a:solidFill>
                <a:latin typeface="IBM Plex Sans"/>
                <a:ea typeface="IBM Plex Sans"/>
              </a:rPr>
              <a:t>✅  Row-level updates &amp; deletes</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  Expensive, vendor lock-in</a:t>
            </a:r>
          </a:p>
          <a:p>
            <a:r>
              <a:rPr lang="en-US" sz="1300" b="0">
                <a:solidFill>
                  <a:srgbClr val="C6C6C6"/>
                </a:solidFill>
                <a:latin typeface="IBM Plex Sans"/>
                <a:ea typeface="IBM Plex Sans"/>
              </a:rPr>
              <a:t>❌  Proprietary closed formats</a:t>
            </a:r>
          </a:p>
        </p:txBody>
      </p:sp>
      <p:sp>
        <p:nvSpPr>
          <p:cNvPr id="100033" name="DlBox"/>
          <p:cNvSpPr txBox="1"/>
          <p:nvPr/>
        </p:nvSpPr>
        <p:spPr>
          <a:xfrm>
            <a:off x="4248000" y="1404000"/>
            <a:ext cx="3060000" cy="2520000"/>
          </a:xfrm>
          <a:prstGeom prst="rect">
            <a:avLst/>
          </a:prstGeom>
          <a:solidFill>
            <a:srgbClr val="1C3A5E"/>
          </a:solidFill>
        </p:spPr>
        <p:txBody>
          <a:bodyPr/>
          <a:lstStyle/>
          <a:p>
            <a:r>
              <a:rPr lang="en-US" sz="1300" b="0">
                <a:solidFill>
                  <a:srgbClr val="C6C6C6"/>
                </a:solidFill>
                <a:latin typeface="IBM Plex Sans"/>
                <a:ea typeface="IBM Plex Sans"/>
              </a:rPr>
              <a:t>DATA LAKE</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  Cheap object storage (S3)</a:t>
            </a:r>
          </a:p>
          <a:p>
            <a:r>
              <a:rPr lang="en-US" sz="1300" b="0">
                <a:solidFill>
                  <a:srgbClr val="C6C6C6"/>
                </a:solidFill>
                <a:latin typeface="IBM Plex Sans"/>
                <a:ea typeface="IBM Plex Sans"/>
              </a:rPr>
              <a:t>✅  Open formats — Parquet, Avro</a:t>
            </a:r>
          </a:p>
          <a:p>
            <a:r>
              <a:rPr lang="en-US" sz="1300" b="0">
                <a:solidFill>
                  <a:srgbClr val="C6C6C6"/>
                </a:solidFill>
                <a:latin typeface="IBM Plex Sans"/>
                <a:ea typeface="IBM Plex Sans"/>
              </a:rPr>
              <a:t>✅  Infinite scale</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  No transactions</a:t>
            </a:r>
          </a:p>
          <a:p>
            <a:r>
              <a:rPr lang="en-US" sz="1300" b="0">
                <a:solidFill>
                  <a:srgbClr val="C6C6C6"/>
                </a:solidFill>
                <a:latin typeface="IBM Plex Sans"/>
                <a:ea typeface="IBM Plex Sans"/>
              </a:rPr>
              <a:t>❌  No row-level mutations</a:t>
            </a:r>
          </a:p>
        </p:txBody>
      </p:sp>
      <p:sp>
        <p:nvSpPr>
          <p:cNvPr id="100034" name="Arrow"/>
          <p:cNvSpPr txBox="1"/>
          <p:nvPr/>
        </p:nvSpPr>
        <p:spPr>
          <a:xfrm>
            <a:off x="3348000" y="2556000"/>
            <a:ext cx="1080000" cy="288000"/>
          </a:xfrm>
          <a:prstGeom prst="rect">
            <a:avLst/>
          </a:prstGeom>
          <a:noFill/>
        </p:spPr>
        <p:txBody>
          <a:bodyPr/>
          <a:lstStyle/>
          <a:p>
            <a:r>
              <a:rPr lang="en-US" sz="1400" b="1">
                <a:solidFill>
                  <a:srgbClr val="78A9FF"/>
                </a:solidFill>
                <a:latin typeface="IBM Plex Sans"/>
                <a:ea typeface="IBM Plex Sans"/>
              </a:rPr>
              <a:t>▼  +  ▼</a:t>
            </a:r>
          </a:p>
        </p:txBody>
      </p:sp>
      <p:sp>
        <p:nvSpPr>
          <p:cNvPr id="100035" name="LhBox"/>
          <p:cNvSpPr txBox="1"/>
          <p:nvPr/>
        </p:nvSpPr>
        <p:spPr>
          <a:xfrm>
            <a:off x="7740000" y="1404000"/>
            <a:ext cx="3600000" cy="2520000"/>
          </a:xfrm>
          <a:prstGeom prst="rect">
            <a:avLst/>
          </a:prstGeom>
          <a:solidFill>
            <a:srgbClr val="0353E9"/>
          </a:solidFill>
        </p:spPr>
        <p:txBody>
          <a:bodyPr/>
          <a:lstStyle/>
          <a:p>
            <a:r>
              <a:rPr lang="en-US" sz="1300" b="0">
                <a:solidFill>
                  <a:srgbClr val="F4F4F4"/>
                </a:solidFill>
                <a:latin typeface="IBM Plex Sans"/>
                <a:ea typeface="IBM Plex Sans"/>
              </a:rPr>
              <a:t>LAKEHOUSE  —  Apache Hudi</a:t>
            </a:r>
          </a:p>
          <a:p>
            <a:endParaRPr lang="en-US" sz="1300" b="0">
              <a:solidFill>
                <a:srgbClr val="F4F4F4"/>
              </a:solidFill>
              <a:latin typeface="IBM Plex Sans"/>
              <a:ea typeface="IBM Plex Sans"/>
            </a:endParaRPr>
          </a:p>
          <a:p>
            <a:r>
              <a:rPr lang="en-US" sz="1300" b="0">
                <a:solidFill>
                  <a:srgbClr val="F4F4F4"/>
                </a:solidFill>
                <a:latin typeface="IBM Plex Sans"/>
                <a:ea typeface="IBM Plex Sans"/>
              </a:rPr>
              <a:t>✅  ACID transactions on object storage</a:t>
            </a:r>
          </a:p>
          <a:p>
            <a:r>
              <a:rPr lang="en-US" sz="1300" b="0">
                <a:solidFill>
                  <a:srgbClr val="F4F4F4"/>
                </a:solidFill>
                <a:latin typeface="IBM Plex Sans"/>
                <a:ea typeface="IBM Plex Sans"/>
              </a:rPr>
              <a:t>✅  Open formats (Parquet files on MinIO / S3)</a:t>
            </a:r>
          </a:p>
          <a:p>
            <a:r>
              <a:rPr lang="en-US" sz="1300" b="0">
                <a:solidFill>
                  <a:srgbClr val="F4F4F4"/>
                </a:solidFill>
                <a:latin typeface="IBM Plex Sans"/>
                <a:ea typeface="IBM Plex Sans"/>
              </a:rPr>
              <a:t>✅  Row-level upserts &amp; point deletes</a:t>
            </a:r>
          </a:p>
          <a:p>
            <a:r>
              <a:rPr lang="en-US" sz="1300" b="0">
                <a:solidFill>
                  <a:srgbClr val="F4F4F4"/>
                </a:solidFill>
                <a:latin typeface="IBM Plex Sans"/>
                <a:ea typeface="IBM Plex Sans"/>
              </a:rPr>
              <a:t>✅  Time travel &amp; incremental pull</a:t>
            </a:r>
          </a:p>
          <a:p>
            <a:r>
              <a:rPr lang="en-US" sz="1300" b="0">
                <a:solidFill>
                  <a:srgbClr val="F4F4F4"/>
                </a:solidFill>
                <a:latin typeface="IBM Plex Sans"/>
                <a:ea typeface="IBM Plex Sans"/>
              </a:rPr>
              <a:t>✅  Any SQL engine can query it</a:t>
            </a:r>
          </a:p>
        </p:txBody>
      </p:sp>
      <p:sp>
        <p:nvSpPr>
          <p:cNvPr id="100036" name="ArrowRight"/>
          <p:cNvSpPr txBox="1"/>
          <p:nvPr/>
        </p:nvSpPr>
        <p:spPr>
          <a:xfrm>
            <a:off x="6768000" y="2556000"/>
            <a:ext cx="720000" cy="288000"/>
          </a:xfrm>
          <a:prstGeom prst="rect">
            <a:avLst/>
          </a:prstGeom>
          <a:noFill/>
        </p:spPr>
        <p:txBody>
          <a:bodyPr/>
          <a:lstStyle/>
          <a:p>
            <a:r>
              <a:rPr lang="en-US" sz="1800" b="1">
                <a:solidFill>
                  <a:srgbClr val="78A9FF"/>
                </a:solidFill>
                <a:latin typeface="IBM Plex Sans"/>
                <a:ea typeface="IBM Plex Sans"/>
              </a:rPr>
              <a:t>➜</a:t>
            </a:r>
          </a:p>
        </p:txBody>
      </p:sp>
      <p:sp>
        <p:nvSpPr>
          <p:cNvPr id="100037" name="Context"/>
          <p:cNvSpPr txBox="1"/>
          <p:nvPr/>
        </p:nvSpPr>
        <p:spPr>
          <a:xfrm>
            <a:off x="900000" y="4104000"/>
            <a:ext cx="10080000" cy="720000"/>
          </a:xfrm>
          <a:prstGeom prst="rect">
            <a:avLst/>
          </a:prstGeom>
          <a:noFill/>
        </p:spPr>
        <p:txBody>
          <a:bodyPr/>
          <a:lstStyle/>
          <a:p>
            <a:r>
              <a:rPr lang="en-US" sz="1200" b="0">
                <a:solidFill>
                  <a:srgbClr val="8D8D8D"/>
                </a:solidFill>
                <a:latin typeface="IBM Plex Sans"/>
                <a:ea typeface="IBM Plex Sans"/>
              </a:rPr>
              <a:t>Apache Delta Lake · Apache Iceberg · Apache Hudi are the three main table format implementations of this pattern. We use Hudi 0.15: HoodieStreamer gives mature bulk-ingestion with Avro schema enforcement out of the box.</a:t>
            </a:r>
          </a:p>
        </p:txBody>
      </p:sp>
      <p:sp>
        <p:nvSpPr>
          <p:cNvPr id="100038"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039"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040"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05</a:t>
            </a:r>
          </a:p>
        </p:txBody>
      </p:sp>
      <p:sp>
        <p:nvSpPr>
          <p:cNvPr id="100041"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Architecture Overview</a:t>
            </a:r>
          </a:p>
        </p:txBody>
      </p:sp>
      <p:sp>
        <p:nvSpPr>
          <p:cNvPr id="100042" name="SubTitle"/>
          <p:cNvSpPr txBox="1"/>
          <p:nvPr/>
        </p:nvSpPr>
        <p:spPr>
          <a:xfrm>
            <a:off x="900000" y="972000"/>
            <a:ext cx="10080000" cy="288000"/>
          </a:xfrm>
          <a:prstGeom prst="rect">
            <a:avLst/>
          </a:prstGeom>
          <a:noFill/>
        </p:spPr>
        <p:txBody>
          <a:bodyPr/>
          <a:lstStyle/>
          <a:p>
            <a:r>
              <a:rPr lang="en-US" sz="1400" b="0">
                <a:solidFill>
                  <a:srgbClr val="78A9FF"/>
                </a:solidFill>
                <a:latin typeface="IBM Plex Mono"/>
                <a:ea typeface="IBM Plex Mono"/>
              </a:rPr>
              <a:t>10 services · 6 volumes · 1 network · 1 docker compose up</a:t>
            </a:r>
          </a:p>
        </p:txBody>
      </p:sp>
      <p:sp>
        <p:nvSpPr>
          <p:cNvPr id="100043" name="Box1"/>
          <p:cNvSpPr txBox="1"/>
          <p:nvPr/>
        </p:nvSpPr>
        <p:spPr>
          <a:xfrm>
            <a:off x="180000" y="1512000"/>
            <a:ext cx="1728000" cy="1260000"/>
          </a:xfrm>
          <a:prstGeom prst="rect">
            <a:avLst/>
          </a:prstGeom>
          <a:solidFill>
            <a:srgbClr val="393939"/>
          </a:solidFill>
        </p:spPr>
        <p:txBody>
          <a:bodyPr/>
          <a:lstStyle/>
          <a:p>
            <a:r>
              <a:rPr lang="en-US" sz="1200" b="0">
                <a:solidFill>
                  <a:srgbClr val="F4F4F4"/>
                </a:solidFill>
                <a:latin typeface="IBM Plex Sans"/>
                <a:ea typeface="IBM Plex Sans"/>
              </a:rPr>
              <a:t>GitHub Archive</a:t>
            </a:r>
          </a:p>
          <a:p>
            <a:r>
              <a:rPr lang="en-US" sz="1200" b="0">
                <a:solidFill>
                  <a:srgbClr val="F4F4F4"/>
                </a:solidFill>
                <a:latin typeface="IBM Plex Sans"/>
                <a:ea typeface="IBM Plex Sans"/>
              </a:rPr>
              <a:t>gharchive.org</a:t>
            </a:r>
          </a:p>
          <a:p>
            <a:endParaRPr lang="en-US" sz="1200" b="0">
              <a:solidFill>
                <a:srgbClr val="F4F4F4"/>
              </a:solidFill>
              <a:latin typeface="IBM Plex Sans"/>
              <a:ea typeface="IBM Plex Sans"/>
            </a:endParaRPr>
          </a:p>
          <a:p>
            <a:r>
              <a:rPr lang="en-US" sz="1200" b="0">
                <a:solidFill>
                  <a:srgbClr val="F4F4F4"/>
                </a:solidFill>
                <a:latin typeface="IBM Plex Sans"/>
                <a:ea typeface="IBM Plex Sans"/>
              </a:rPr>
              <a:t>.json.gz</a:t>
            </a:r>
          </a:p>
          <a:p>
            <a:r>
              <a:rPr lang="en-US" sz="1200" b="0">
                <a:solidFill>
                  <a:srgbClr val="F4F4F4"/>
                </a:solidFill>
                <a:latin typeface="IBM Plex Sans"/>
                <a:ea typeface="IBM Plex Sans"/>
              </a:rPr>
              <a:t>hourly dumps</a:t>
            </a:r>
          </a:p>
        </p:txBody>
      </p:sp>
      <p:sp>
        <p:nvSpPr>
          <p:cNvPr id="100044" name="Arr1"/>
          <p:cNvSpPr txBox="1"/>
          <p:nvPr/>
        </p:nvSpPr>
        <p:spPr>
          <a:xfrm>
            <a:off x="1980000" y="2016000"/>
            <a:ext cx="540000" cy="288000"/>
          </a:xfrm>
          <a:prstGeom prst="rect">
            <a:avLst/>
          </a:prstGeom>
          <a:noFill/>
        </p:spPr>
        <p:txBody>
          <a:bodyPr/>
          <a:lstStyle/>
          <a:p>
            <a:r>
              <a:rPr lang="en-US" sz="1800" b="1">
                <a:solidFill>
                  <a:srgbClr val="0F62FE"/>
                </a:solidFill>
                <a:latin typeface="IBM Plex Sans"/>
                <a:ea typeface="IBM Plex Sans"/>
              </a:rPr>
              <a:t>➜</a:t>
            </a:r>
          </a:p>
        </p:txBody>
      </p:sp>
      <p:sp>
        <p:nvSpPr>
          <p:cNvPr id="100045" name="Box2"/>
          <p:cNvSpPr txBox="1"/>
          <p:nvPr/>
        </p:nvSpPr>
        <p:spPr>
          <a:xfrm>
            <a:off x="2592000" y="1512000"/>
            <a:ext cx="1800000" cy="1260000"/>
          </a:xfrm>
          <a:prstGeom prst="rect">
            <a:avLst/>
          </a:prstGeom>
          <a:solidFill>
            <a:srgbClr val="0353E9"/>
          </a:solidFill>
        </p:spPr>
        <p:txBody>
          <a:bodyPr/>
          <a:lstStyle/>
          <a:p>
            <a:r>
              <a:rPr lang="en-US" sz="1200" b="0">
                <a:solidFill>
                  <a:srgbClr val="F4F4F4"/>
                </a:solidFill>
                <a:latin typeface="IBM Plex Sans"/>
                <a:ea typeface="IBM Plex Sans"/>
              </a:rPr>
              <a:t>Apache Airflow</a:t>
            </a:r>
          </a:p>
          <a:p>
            <a:r>
              <a:rPr lang="en-US" sz="1200" b="0">
                <a:solidFill>
                  <a:srgbClr val="F4F4F4"/>
                </a:solidFill>
                <a:latin typeface="IBM Plex Sans"/>
                <a:ea typeface="IBM Plex Sans"/>
              </a:rPr>
              <a:t>:8085</a:t>
            </a:r>
          </a:p>
          <a:p>
            <a:endParaRPr lang="en-US" sz="1200" b="0">
              <a:solidFill>
                <a:srgbClr val="F4F4F4"/>
              </a:solidFill>
              <a:latin typeface="IBM Plex Sans"/>
              <a:ea typeface="IBM Plex Sans"/>
            </a:endParaRPr>
          </a:p>
          <a:p>
            <a:r>
              <a:rPr lang="en-US" sz="1200" b="0">
                <a:solidFill>
                  <a:srgbClr val="F4F4F4"/>
                </a:solidFill>
                <a:latin typeface="IBM Plex Sans"/>
                <a:ea typeface="IBM Plex Sans"/>
              </a:rPr>
              <a:t>DAG Orchestrator</a:t>
            </a:r>
          </a:p>
          <a:p>
            <a:r>
              <a:rPr lang="en-US" sz="1200" b="0">
                <a:solidFill>
                  <a:srgbClr val="F4F4F4"/>
                </a:solidFill>
                <a:latin typeface="IBM Plex Sans"/>
                <a:ea typeface="IBM Plex Sans"/>
              </a:rPr>
              <a:t>Download → Ingest</a:t>
            </a:r>
          </a:p>
          <a:p>
            <a:r>
              <a:rPr lang="en-US" sz="1200" b="0">
                <a:solidFill>
                  <a:srgbClr val="F4F4F4"/>
                </a:solidFill>
                <a:latin typeface="IBM Plex Sans"/>
                <a:ea typeface="IBM Plex Sans"/>
              </a:rPr>
              <a:t>→ Quality Gate</a:t>
            </a:r>
          </a:p>
        </p:txBody>
      </p:sp>
      <p:sp>
        <p:nvSpPr>
          <p:cNvPr id="100046" name="Arr2"/>
          <p:cNvSpPr txBox="1"/>
          <p:nvPr/>
        </p:nvSpPr>
        <p:spPr>
          <a:xfrm>
            <a:off x="4464000" y="2016000"/>
            <a:ext cx="540000" cy="288000"/>
          </a:xfrm>
          <a:prstGeom prst="rect">
            <a:avLst/>
          </a:prstGeom>
          <a:noFill/>
        </p:spPr>
        <p:txBody>
          <a:bodyPr/>
          <a:lstStyle/>
          <a:p>
            <a:r>
              <a:rPr lang="en-US" sz="1800" b="1">
                <a:solidFill>
                  <a:srgbClr val="0F62FE"/>
                </a:solidFill>
                <a:latin typeface="IBM Plex Sans"/>
                <a:ea typeface="IBM Plex Sans"/>
              </a:rPr>
              <a:t>➜</a:t>
            </a:r>
          </a:p>
        </p:txBody>
      </p:sp>
      <p:sp>
        <p:nvSpPr>
          <p:cNvPr id="100047" name="Box3"/>
          <p:cNvSpPr txBox="1"/>
          <p:nvPr/>
        </p:nvSpPr>
        <p:spPr>
          <a:xfrm>
            <a:off x="5076000" y="1512000"/>
            <a:ext cx="1800000" cy="1260000"/>
          </a:xfrm>
          <a:prstGeom prst="rect">
            <a:avLst/>
          </a:prstGeom>
          <a:solidFill>
            <a:srgbClr val="393939"/>
          </a:solidFill>
        </p:spPr>
        <p:txBody>
          <a:bodyPr/>
          <a:lstStyle/>
          <a:p>
            <a:r>
              <a:rPr lang="en-US" sz="1200" b="0">
                <a:solidFill>
                  <a:srgbClr val="F4F4F4"/>
                </a:solidFill>
                <a:latin typeface="IBM Plex Sans"/>
                <a:ea typeface="IBM Plex Sans"/>
              </a:rPr>
              <a:t>MinIO  :9000</a:t>
            </a:r>
          </a:p>
          <a:p>
            <a:r>
              <a:rPr lang="en-US" sz="1200" b="0">
                <a:solidFill>
                  <a:srgbClr val="F4F4F4"/>
                </a:solidFill>
                <a:latin typeface="IBM Plex Sans"/>
                <a:ea typeface="IBM Plex Sans"/>
              </a:rPr>
              <a:t>Object Storage</a:t>
            </a:r>
          </a:p>
          <a:p>
            <a:r>
              <a:rPr lang="en-US" sz="1200" b="0">
                <a:solidFill>
                  <a:srgbClr val="F4F4F4"/>
                </a:solidFill>
                <a:latin typeface="IBM Plex Sans"/>
                <a:ea typeface="IBM Plex Sans"/>
              </a:rPr>
              <a:t>(S3-compatible)</a:t>
            </a:r>
          </a:p>
          <a:p>
            <a:endParaRPr lang="en-US" sz="1200" b="0">
              <a:solidFill>
                <a:srgbClr val="F4F4F4"/>
              </a:solidFill>
              <a:latin typeface="IBM Plex Sans"/>
              <a:ea typeface="IBM Plex Sans"/>
            </a:endParaRPr>
          </a:p>
          <a:p>
            <a:r>
              <a:rPr lang="en-US" sz="1200" b="0">
                <a:solidFill>
                  <a:srgbClr val="F4F4F4"/>
                </a:solidFill>
                <a:latin typeface="IBM Plex Sans"/>
                <a:ea typeface="IBM Plex Sans"/>
              </a:rPr>
              <a:t>github-raw/</a:t>
            </a:r>
          </a:p>
          <a:p>
            <a:r>
              <a:rPr lang="en-US" sz="1200" b="0">
                <a:solidFill>
                  <a:srgbClr val="F4F4F4"/>
                </a:solidFill>
                <a:latin typeface="IBM Plex Sans"/>
                <a:ea typeface="IBM Plex Sans"/>
              </a:rPr>
              <a:t>hudi-tables/</a:t>
            </a:r>
          </a:p>
        </p:txBody>
      </p:sp>
      <p:sp>
        <p:nvSpPr>
          <p:cNvPr id="100048" name="Arr3"/>
          <p:cNvSpPr txBox="1"/>
          <p:nvPr/>
        </p:nvSpPr>
        <p:spPr>
          <a:xfrm>
            <a:off x="6948000" y="2016000"/>
            <a:ext cx="540000" cy="288000"/>
          </a:xfrm>
          <a:prstGeom prst="rect">
            <a:avLst/>
          </a:prstGeom>
          <a:noFill/>
        </p:spPr>
        <p:txBody>
          <a:bodyPr/>
          <a:lstStyle/>
          <a:p>
            <a:r>
              <a:rPr lang="en-US" sz="1800" b="1">
                <a:solidFill>
                  <a:srgbClr val="0F62FE"/>
                </a:solidFill>
                <a:latin typeface="IBM Plex Sans"/>
                <a:ea typeface="IBM Plex Sans"/>
              </a:rPr>
              <a:t>➜</a:t>
            </a:r>
          </a:p>
        </p:txBody>
      </p:sp>
      <p:sp>
        <p:nvSpPr>
          <p:cNvPr id="100049" name="Box4"/>
          <p:cNvSpPr txBox="1"/>
          <p:nvPr/>
        </p:nvSpPr>
        <p:spPr>
          <a:xfrm>
            <a:off x="7560000" y="1512000"/>
            <a:ext cx="1800000" cy="1260000"/>
          </a:xfrm>
          <a:prstGeom prst="rect">
            <a:avLst/>
          </a:prstGeom>
          <a:solidFill>
            <a:srgbClr val="0353E9"/>
          </a:solidFill>
        </p:spPr>
        <p:txBody>
          <a:bodyPr/>
          <a:lstStyle/>
          <a:p>
            <a:r>
              <a:rPr lang="en-US" sz="1200" b="0">
                <a:solidFill>
                  <a:srgbClr val="F4F4F4"/>
                </a:solidFill>
                <a:latin typeface="IBM Plex Sans"/>
                <a:ea typeface="IBM Plex Sans"/>
              </a:rPr>
              <a:t>Apache Spark</a:t>
            </a:r>
          </a:p>
          <a:p>
            <a:r>
              <a:rPr lang="en-US" sz="1200" b="0">
                <a:solidFill>
                  <a:srgbClr val="F4F4F4"/>
                </a:solidFill>
                <a:latin typeface="IBM Plex Sans"/>
                <a:ea typeface="IBM Plex Sans"/>
              </a:rPr>
              <a:t>:4040  :18080</a:t>
            </a:r>
          </a:p>
          <a:p>
            <a:endParaRPr lang="en-US" sz="1200" b="0">
              <a:solidFill>
                <a:srgbClr val="F4F4F4"/>
              </a:solidFill>
              <a:latin typeface="IBM Plex Sans"/>
              <a:ea typeface="IBM Plex Sans"/>
            </a:endParaRPr>
          </a:p>
          <a:p>
            <a:r>
              <a:rPr lang="en-US" sz="1200" b="0">
                <a:solidFill>
                  <a:srgbClr val="F4F4F4"/>
                </a:solidFill>
                <a:latin typeface="IBM Plex Sans"/>
                <a:ea typeface="IBM Plex Sans"/>
              </a:rPr>
              <a:t>HoodieStreamer</a:t>
            </a:r>
          </a:p>
          <a:p>
            <a:r>
              <a:rPr lang="en-US" sz="1200" b="0">
                <a:solidFill>
                  <a:srgbClr val="F4F4F4"/>
                </a:solidFill>
                <a:latin typeface="IBM Plex Sans"/>
                <a:ea typeface="IBM Plex Sans"/>
              </a:rPr>
              <a:t>JSON → Hudi</a:t>
            </a:r>
          </a:p>
          <a:p>
            <a:r>
              <a:rPr lang="en-US" sz="1200" b="0">
                <a:solidFill>
                  <a:srgbClr val="F4F4F4"/>
                </a:solidFill>
                <a:latin typeface="IBM Plex Sans"/>
                <a:ea typeface="IBM Plex Sans"/>
              </a:rPr>
              <a:t>COW tables</a:t>
            </a:r>
          </a:p>
        </p:txBody>
      </p:sp>
      <p:sp>
        <p:nvSpPr>
          <p:cNvPr id="100050" name="ArrDown"/>
          <p:cNvSpPr txBox="1"/>
          <p:nvPr/>
        </p:nvSpPr>
        <p:spPr>
          <a:xfrm>
            <a:off x="7560000" y="2844000"/>
            <a:ext cx="3600000" cy="252000"/>
          </a:xfrm>
          <a:prstGeom prst="rect">
            <a:avLst/>
          </a:prstGeom>
          <a:noFill/>
        </p:spPr>
        <p:txBody>
          <a:bodyPr/>
          <a:lstStyle/>
          <a:p>
            <a:r>
              <a:rPr lang="en-US" sz="1200" b="0">
                <a:solidFill>
                  <a:srgbClr val="8D8D8D"/>
                </a:solidFill>
                <a:latin typeface="IBM Plex Sans"/>
                <a:ea typeface="IBM Plex Sans"/>
              </a:rPr>
              <a:t>▼  (writes Parquet + syncs catalog)</a:t>
            </a:r>
          </a:p>
        </p:txBody>
      </p:sp>
      <p:sp>
        <p:nvSpPr>
          <p:cNvPr id="100051" name="Box5"/>
          <p:cNvSpPr txBox="1"/>
          <p:nvPr/>
        </p:nvSpPr>
        <p:spPr>
          <a:xfrm>
            <a:off x="7560000" y="3168000"/>
            <a:ext cx="1800000" cy="1260000"/>
          </a:xfrm>
          <a:prstGeom prst="rect">
            <a:avLst/>
          </a:prstGeom>
          <a:solidFill>
            <a:srgbClr val="393939"/>
          </a:solidFill>
        </p:spPr>
        <p:txBody>
          <a:bodyPr/>
          <a:lstStyle/>
          <a:p>
            <a:r>
              <a:rPr lang="en-US" sz="1200" b="0" dirty="0">
                <a:solidFill>
                  <a:srgbClr val="F4F4F4"/>
                </a:solidFill>
                <a:latin typeface="IBM Plex Sans"/>
                <a:ea typeface="IBM Plex Sans"/>
              </a:rPr>
              <a:t>Hive </a:t>
            </a:r>
            <a:r>
              <a:rPr lang="en-US" sz="1200" b="0" dirty="0" err="1">
                <a:solidFill>
                  <a:srgbClr val="F4F4F4"/>
                </a:solidFill>
                <a:latin typeface="IBM Plex Sans"/>
                <a:ea typeface="IBM Plex Sans"/>
              </a:rPr>
              <a:t>Metastore</a:t>
            </a:r>
            <a:endParaRPr lang="en-US" sz="1200" b="0" dirty="0">
              <a:solidFill>
                <a:srgbClr val="F4F4F4"/>
              </a:solidFill>
              <a:latin typeface="IBM Plex Sans"/>
              <a:ea typeface="IBM Plex Sans"/>
            </a:endParaRPr>
          </a:p>
          <a:p>
            <a:r>
              <a:rPr lang="en-US" sz="1200" b="0" dirty="0">
                <a:solidFill>
                  <a:srgbClr val="F4F4F4"/>
                </a:solidFill>
                <a:latin typeface="IBM Plex Sans"/>
                <a:ea typeface="IBM Plex Sans"/>
              </a:rPr>
              <a:t>:9083</a:t>
            </a:r>
          </a:p>
          <a:p>
            <a:endParaRPr lang="en-US" sz="1200" b="0" dirty="0">
              <a:solidFill>
                <a:srgbClr val="F4F4F4"/>
              </a:solidFill>
              <a:latin typeface="IBM Plex Sans"/>
              <a:ea typeface="IBM Plex Sans"/>
            </a:endParaRPr>
          </a:p>
          <a:p>
            <a:r>
              <a:rPr lang="en-US" sz="1200" b="0" dirty="0">
                <a:solidFill>
                  <a:srgbClr val="F4F4F4"/>
                </a:solidFill>
                <a:latin typeface="IBM Plex Sans"/>
                <a:ea typeface="IBM Plex Sans"/>
              </a:rPr>
              <a:t>Thrift catalog</a:t>
            </a:r>
          </a:p>
          <a:p>
            <a:r>
              <a:rPr lang="en-US" sz="1200" b="0" dirty="0">
                <a:solidFill>
                  <a:srgbClr val="F4F4F4"/>
                </a:solidFill>
                <a:latin typeface="IBM Plex Sans"/>
                <a:ea typeface="IBM Plex Sans"/>
              </a:rPr>
              <a:t>+ MySQL DB</a:t>
            </a:r>
          </a:p>
        </p:txBody>
      </p:sp>
      <p:sp>
        <p:nvSpPr>
          <p:cNvPr id="100052" name="Arr4"/>
          <p:cNvSpPr txBox="1"/>
          <p:nvPr/>
        </p:nvSpPr>
        <p:spPr>
          <a:xfrm>
            <a:off x="5220000" y="3528000"/>
            <a:ext cx="2160000" cy="252000"/>
          </a:xfrm>
          <a:prstGeom prst="rect">
            <a:avLst/>
          </a:prstGeom>
          <a:noFill/>
        </p:spPr>
        <p:txBody>
          <a:bodyPr/>
          <a:lstStyle/>
          <a:p>
            <a:r>
              <a:rPr lang="en-US" sz="1200" b="0">
                <a:solidFill>
                  <a:srgbClr val="8D8D8D"/>
                </a:solidFill>
                <a:latin typeface="IBM Plex Sans"/>
                <a:ea typeface="IBM Plex Sans"/>
              </a:rPr>
              <a:t>◀ reads catalog</a:t>
            </a:r>
          </a:p>
        </p:txBody>
      </p:sp>
      <p:sp>
        <p:nvSpPr>
          <p:cNvPr id="100053" name="Box6"/>
          <p:cNvSpPr txBox="1"/>
          <p:nvPr/>
        </p:nvSpPr>
        <p:spPr>
          <a:xfrm>
            <a:off x="3060000" y="3168000"/>
            <a:ext cx="1800000" cy="1296000"/>
          </a:xfrm>
          <a:prstGeom prst="rect">
            <a:avLst/>
          </a:prstGeom>
          <a:solidFill>
            <a:srgbClr val="0353E9"/>
          </a:solidFill>
        </p:spPr>
        <p:txBody>
          <a:bodyPr/>
          <a:lstStyle/>
          <a:p>
            <a:r>
              <a:rPr lang="en-US" sz="1200" b="0">
                <a:solidFill>
                  <a:srgbClr val="F4F4F4"/>
                </a:solidFill>
                <a:latin typeface="IBM Plex Sans"/>
                <a:ea typeface="IBM Plex Sans"/>
              </a:rPr>
              <a:t>PrestoDB</a:t>
            </a:r>
          </a:p>
          <a:p>
            <a:r>
              <a:rPr lang="en-US" sz="1200" b="0">
                <a:solidFill>
                  <a:srgbClr val="F4F4F4"/>
                </a:solidFill>
                <a:latin typeface="IBM Plex Sans"/>
                <a:ea typeface="IBM Plex Sans"/>
              </a:rPr>
              <a:t>:8080</a:t>
            </a:r>
          </a:p>
          <a:p>
            <a:endParaRPr lang="en-US" sz="1200" b="0">
              <a:solidFill>
                <a:srgbClr val="F4F4F4"/>
              </a:solidFill>
              <a:latin typeface="IBM Plex Sans"/>
              <a:ea typeface="IBM Plex Sans"/>
            </a:endParaRPr>
          </a:p>
          <a:p>
            <a:r>
              <a:rPr lang="en-US" sz="1200" b="0">
                <a:solidFill>
                  <a:srgbClr val="F4F4F4"/>
                </a:solidFill>
                <a:latin typeface="IBM Plex Sans"/>
                <a:ea typeface="IBM Plex Sans"/>
              </a:rPr>
              <a:t>1 Coordinator</a:t>
            </a:r>
          </a:p>
          <a:p>
            <a:r>
              <a:rPr lang="en-US" sz="1200" b="0">
                <a:solidFill>
                  <a:srgbClr val="F4F4F4"/>
                </a:solidFill>
                <a:latin typeface="IBM Plex Sans"/>
                <a:ea typeface="IBM Plex Sans"/>
              </a:rPr>
              <a:t>2 Workers</a:t>
            </a:r>
          </a:p>
          <a:p>
            <a:r>
              <a:rPr lang="en-US" sz="1200" b="0">
                <a:solidFill>
                  <a:srgbClr val="F4F4F4"/>
                </a:solidFill>
                <a:latin typeface="IBM Plex Sans"/>
                <a:ea typeface="IBM Plex Sans"/>
              </a:rPr>
              <a:t>SQL engine</a:t>
            </a:r>
          </a:p>
        </p:txBody>
      </p:sp>
      <p:sp>
        <p:nvSpPr>
          <p:cNvPr id="100054" name="Arr5"/>
          <p:cNvSpPr txBox="1"/>
          <p:nvPr/>
        </p:nvSpPr>
        <p:spPr>
          <a:xfrm>
            <a:off x="900000" y="3528000"/>
            <a:ext cx="1980000" cy="252000"/>
          </a:xfrm>
          <a:prstGeom prst="rect">
            <a:avLst/>
          </a:prstGeom>
          <a:noFill/>
        </p:spPr>
        <p:txBody>
          <a:bodyPr/>
          <a:lstStyle/>
          <a:p>
            <a:r>
              <a:rPr lang="en-US" sz="1200" b="0">
                <a:solidFill>
                  <a:srgbClr val="8D8D8D"/>
                </a:solidFill>
                <a:latin typeface="IBM Plex Sans"/>
                <a:ea typeface="IBM Plex Sans"/>
              </a:rPr>
              <a:t>◀ SQL queries</a:t>
            </a:r>
          </a:p>
        </p:txBody>
      </p:sp>
      <p:sp>
        <p:nvSpPr>
          <p:cNvPr id="100055" name="Box7"/>
          <p:cNvSpPr txBox="1"/>
          <p:nvPr/>
        </p:nvSpPr>
        <p:spPr>
          <a:xfrm>
            <a:off x="900000" y="3168000"/>
            <a:ext cx="1800000" cy="1260000"/>
          </a:xfrm>
          <a:prstGeom prst="rect">
            <a:avLst/>
          </a:prstGeom>
          <a:solidFill>
            <a:srgbClr val="393939"/>
          </a:solidFill>
        </p:spPr>
        <p:txBody>
          <a:bodyPr/>
          <a:lstStyle/>
          <a:p>
            <a:r>
              <a:rPr lang="en-US" sz="1200" b="0">
                <a:solidFill>
                  <a:srgbClr val="F4F4F4"/>
                </a:solidFill>
                <a:latin typeface="IBM Plex Sans"/>
                <a:ea typeface="IBM Plex Sans"/>
              </a:rPr>
              <a:t>Superset</a:t>
            </a:r>
          </a:p>
          <a:p>
            <a:r>
              <a:rPr lang="en-US" sz="1200" b="0">
                <a:solidFill>
                  <a:srgbClr val="F4F4F4"/>
                </a:solidFill>
                <a:latin typeface="IBM Plex Sans"/>
                <a:ea typeface="IBM Plex Sans"/>
              </a:rPr>
              <a:t>:8088</a:t>
            </a:r>
          </a:p>
          <a:p>
            <a:endParaRPr lang="en-US" sz="1200" b="0">
              <a:solidFill>
                <a:srgbClr val="F4F4F4"/>
              </a:solidFill>
              <a:latin typeface="IBM Plex Sans"/>
              <a:ea typeface="IBM Plex Sans"/>
            </a:endParaRPr>
          </a:p>
          <a:p>
            <a:r>
              <a:rPr lang="en-US" sz="1200" b="0">
                <a:solidFill>
                  <a:srgbClr val="F4F4F4"/>
                </a:solidFill>
                <a:latin typeface="IBM Plex Sans"/>
                <a:ea typeface="IBM Plex Sans"/>
              </a:rPr>
              <a:t>SQL Lab</a:t>
            </a:r>
          </a:p>
          <a:p>
            <a:r>
              <a:rPr lang="en-US" sz="1200" b="0">
                <a:solidFill>
                  <a:srgbClr val="F4F4F4"/>
                </a:solidFill>
                <a:latin typeface="IBM Plex Sans"/>
                <a:ea typeface="IBM Plex Sans"/>
              </a:rPr>
              <a:t>+ Dashboards</a:t>
            </a:r>
          </a:p>
          <a:p>
            <a:r>
              <a:rPr lang="en-US" sz="1200" b="0">
                <a:solidFill>
                  <a:srgbClr val="F4F4F4"/>
                </a:solidFill>
                <a:latin typeface="IBM Plex Sans"/>
                <a:ea typeface="IBM Plex Sans"/>
              </a:rPr>
              <a:t>15 live charts</a:t>
            </a:r>
          </a:p>
        </p:txBody>
      </p:sp>
      <p:sp>
        <p:nvSpPr>
          <p:cNvPr id="100056" name="FootNote"/>
          <p:cNvSpPr txBox="1"/>
          <p:nvPr/>
        </p:nvSpPr>
        <p:spPr>
          <a:xfrm>
            <a:off x="900000" y="4788000"/>
            <a:ext cx="10080000" cy="432000"/>
          </a:xfrm>
          <a:prstGeom prst="rect">
            <a:avLst/>
          </a:prstGeom>
          <a:noFill/>
        </p:spPr>
        <p:txBody>
          <a:bodyPr/>
          <a:lstStyle/>
          <a:p>
            <a:r>
              <a:rPr lang="en-US" sz="1200" b="0">
                <a:solidFill>
                  <a:srgbClr val="8D8D8D"/>
                </a:solidFill>
                <a:latin typeface="IBM Plex Sans"/>
                <a:ea typeface="IBM Plex Sans"/>
              </a:rPr>
              <a:t>All services run in Docker on a single machine. Only external dependency: gharchive.org for raw data. Everything else — storage, compute, catalog, BI — is local.</a:t>
            </a:r>
          </a:p>
        </p:txBody>
      </p:sp>
      <p:sp>
        <p:nvSpPr>
          <p:cNvPr id="100057"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058"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059"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06</a:t>
            </a:r>
          </a:p>
        </p:txBody>
      </p:sp>
      <p:sp>
        <p:nvSpPr>
          <p:cNvPr id="100060"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Technology Stack</a:t>
            </a:r>
          </a:p>
        </p:txBody>
      </p:sp>
      <p:sp>
        <p:nvSpPr>
          <p:cNvPr id="100061" name="ColH1"/>
          <p:cNvSpPr txBox="1"/>
          <p:nvPr/>
        </p:nvSpPr>
        <p:spPr>
          <a:xfrm>
            <a:off x="900000" y="1080000"/>
            <a:ext cx="1800000" cy="234000"/>
          </a:xfrm>
          <a:prstGeom prst="rect">
            <a:avLst/>
          </a:prstGeom>
          <a:solidFill>
            <a:srgbClr val="262626"/>
          </a:solidFill>
        </p:spPr>
        <p:txBody>
          <a:bodyPr/>
          <a:lstStyle/>
          <a:p>
            <a:r>
              <a:rPr lang="en-US" sz="1200" b="1">
                <a:solidFill>
                  <a:srgbClr val="0F62FE"/>
                </a:solidFill>
                <a:latin typeface="IBM Plex Sans"/>
                <a:ea typeface="IBM Plex Sans"/>
              </a:rPr>
              <a:t>Layer</a:t>
            </a:r>
          </a:p>
        </p:txBody>
      </p:sp>
      <p:sp>
        <p:nvSpPr>
          <p:cNvPr id="100062" name="ColH2"/>
          <p:cNvSpPr txBox="1"/>
          <p:nvPr/>
        </p:nvSpPr>
        <p:spPr>
          <a:xfrm>
            <a:off x="2772000" y="1080000"/>
            <a:ext cx="3060000" cy="234000"/>
          </a:xfrm>
          <a:prstGeom prst="rect">
            <a:avLst/>
          </a:prstGeom>
          <a:solidFill>
            <a:srgbClr val="262626"/>
          </a:solidFill>
        </p:spPr>
        <p:txBody>
          <a:bodyPr/>
          <a:lstStyle/>
          <a:p>
            <a:r>
              <a:rPr lang="en-US" sz="1200" b="1">
                <a:solidFill>
                  <a:srgbClr val="0F62FE"/>
                </a:solidFill>
                <a:latin typeface="IBM Plex Sans"/>
                <a:ea typeface="IBM Plex Sans"/>
              </a:rPr>
              <a:t>Technology &amp; Version</a:t>
            </a:r>
          </a:p>
        </p:txBody>
      </p:sp>
      <p:sp>
        <p:nvSpPr>
          <p:cNvPr id="100063" name="ColH3"/>
          <p:cNvSpPr txBox="1"/>
          <p:nvPr/>
        </p:nvSpPr>
        <p:spPr>
          <a:xfrm>
            <a:off x="5904000" y="1080000"/>
            <a:ext cx="5760000" cy="234000"/>
          </a:xfrm>
          <a:prstGeom prst="rect">
            <a:avLst/>
          </a:prstGeom>
          <a:solidFill>
            <a:srgbClr val="262626"/>
          </a:solidFill>
        </p:spPr>
        <p:txBody>
          <a:bodyPr/>
          <a:lstStyle/>
          <a:p>
            <a:r>
              <a:rPr lang="en-US" sz="1200" b="1">
                <a:solidFill>
                  <a:srgbClr val="0F62FE"/>
                </a:solidFill>
                <a:latin typeface="IBM Plex Sans"/>
                <a:ea typeface="IBM Plex Sans"/>
              </a:rPr>
              <a:t>Why We Use It</a:t>
            </a:r>
          </a:p>
        </p:txBody>
      </p:sp>
      <p:sp>
        <p:nvSpPr>
          <p:cNvPr id="100064" name="R1C1"/>
          <p:cNvSpPr txBox="1"/>
          <p:nvPr/>
        </p:nvSpPr>
        <p:spPr>
          <a:xfrm>
            <a:off x="900000" y="1368000"/>
            <a:ext cx="1800000" cy="468000"/>
          </a:xfrm>
          <a:prstGeom prst="rect">
            <a:avLst/>
          </a:prstGeom>
          <a:noFill/>
        </p:spPr>
        <p:txBody>
          <a:bodyPr/>
          <a:lstStyle/>
          <a:p>
            <a:r>
              <a:rPr lang="en-US" sz="1300" b="0">
                <a:solidFill>
                  <a:srgbClr val="C6C6C6"/>
                </a:solidFill>
                <a:latin typeface="IBM Plex Sans"/>
                <a:ea typeface="IBM Plex Sans"/>
              </a:rPr>
              <a:t>Object Storage</a:t>
            </a:r>
          </a:p>
        </p:txBody>
      </p:sp>
      <p:sp>
        <p:nvSpPr>
          <p:cNvPr id="100065" name="R1C2"/>
          <p:cNvSpPr txBox="1"/>
          <p:nvPr/>
        </p:nvSpPr>
        <p:spPr>
          <a:xfrm>
            <a:off x="2772000" y="1368000"/>
            <a:ext cx="3060000" cy="468000"/>
          </a:xfrm>
          <a:prstGeom prst="rect">
            <a:avLst/>
          </a:prstGeom>
          <a:noFill/>
        </p:spPr>
        <p:txBody>
          <a:bodyPr/>
          <a:lstStyle/>
          <a:p>
            <a:r>
              <a:rPr lang="en-US" sz="1300" b="0">
                <a:solidFill>
                  <a:srgbClr val="78A9FF"/>
                </a:solidFill>
                <a:latin typeface="IBM Plex Mono"/>
                <a:ea typeface="IBM Plex Mono"/>
              </a:rPr>
              <a:t>MinIO  (latest)</a:t>
            </a:r>
          </a:p>
        </p:txBody>
      </p:sp>
      <p:sp>
        <p:nvSpPr>
          <p:cNvPr id="100066" name="R1C3"/>
          <p:cNvSpPr txBox="1"/>
          <p:nvPr/>
        </p:nvSpPr>
        <p:spPr>
          <a:xfrm>
            <a:off x="5904000" y="1368000"/>
            <a:ext cx="5760000" cy="468000"/>
          </a:xfrm>
          <a:prstGeom prst="rect">
            <a:avLst/>
          </a:prstGeom>
          <a:noFill/>
        </p:spPr>
        <p:txBody>
          <a:bodyPr/>
          <a:lstStyle/>
          <a:p>
            <a:r>
              <a:rPr lang="en-US" sz="1300" b="0">
                <a:solidFill>
                  <a:srgbClr val="8D8D8D"/>
                </a:solidFill>
                <a:latin typeface="IBM Plex Sans"/>
                <a:ea typeface="IBM Plex Sans"/>
              </a:rPr>
              <a:t>Free, local, identical API to AWS S3 — swap via one .env variable</a:t>
            </a:r>
          </a:p>
        </p:txBody>
      </p:sp>
      <p:sp>
        <p:nvSpPr>
          <p:cNvPr id="100067" name="R2C1"/>
          <p:cNvSpPr txBox="1"/>
          <p:nvPr/>
        </p:nvSpPr>
        <p:spPr>
          <a:xfrm>
            <a:off x="900000" y="1872000"/>
            <a:ext cx="1800000" cy="468000"/>
          </a:xfrm>
          <a:prstGeom prst="rect">
            <a:avLst/>
          </a:prstGeom>
          <a:noFill/>
        </p:spPr>
        <p:txBody>
          <a:bodyPr/>
          <a:lstStyle/>
          <a:p>
            <a:r>
              <a:rPr lang="en-US" sz="1300" b="0">
                <a:solidFill>
                  <a:srgbClr val="C6C6C6"/>
                </a:solidFill>
                <a:latin typeface="IBM Plex Sans"/>
                <a:ea typeface="IBM Plex Sans"/>
              </a:rPr>
              <a:t>Table Format</a:t>
            </a:r>
          </a:p>
        </p:txBody>
      </p:sp>
      <p:sp>
        <p:nvSpPr>
          <p:cNvPr id="100068" name="R2C2"/>
          <p:cNvSpPr txBox="1"/>
          <p:nvPr/>
        </p:nvSpPr>
        <p:spPr>
          <a:xfrm>
            <a:off x="2772000" y="1872000"/>
            <a:ext cx="3060000" cy="468000"/>
          </a:xfrm>
          <a:prstGeom prst="rect">
            <a:avLst/>
          </a:prstGeom>
          <a:noFill/>
        </p:spPr>
        <p:txBody>
          <a:bodyPr/>
          <a:lstStyle/>
          <a:p>
            <a:r>
              <a:rPr lang="en-US" sz="1300" b="0">
                <a:solidFill>
                  <a:srgbClr val="78A9FF"/>
                </a:solidFill>
                <a:latin typeface="IBM Plex Mono"/>
                <a:ea typeface="IBM Plex Mono"/>
              </a:rPr>
              <a:t>Apache Hudi 0.15</a:t>
            </a:r>
          </a:p>
        </p:txBody>
      </p:sp>
      <p:sp>
        <p:nvSpPr>
          <p:cNvPr id="100069" name="R2C3"/>
          <p:cNvSpPr txBox="1"/>
          <p:nvPr/>
        </p:nvSpPr>
        <p:spPr>
          <a:xfrm>
            <a:off x="5904000" y="1872000"/>
            <a:ext cx="5760000" cy="468000"/>
          </a:xfrm>
          <a:prstGeom prst="rect">
            <a:avLst/>
          </a:prstGeom>
          <a:noFill/>
        </p:spPr>
        <p:txBody>
          <a:bodyPr/>
          <a:lstStyle/>
          <a:p>
            <a:r>
              <a:rPr lang="en-US" sz="1300" b="0">
                <a:solidFill>
                  <a:srgbClr val="8D8D8D"/>
                </a:solidFill>
                <a:latin typeface="IBM Plex Sans"/>
                <a:ea typeface="IBM Plex Sans"/>
              </a:rPr>
              <a:t>ACID commits, record-level upserts/deletes, time travel, inline clustering — on Parquet</a:t>
            </a:r>
          </a:p>
        </p:txBody>
      </p:sp>
      <p:sp>
        <p:nvSpPr>
          <p:cNvPr id="100070" name="R3C1"/>
          <p:cNvSpPr txBox="1"/>
          <p:nvPr/>
        </p:nvSpPr>
        <p:spPr>
          <a:xfrm>
            <a:off x="900000" y="2376000"/>
            <a:ext cx="1800000" cy="468000"/>
          </a:xfrm>
          <a:prstGeom prst="rect">
            <a:avLst/>
          </a:prstGeom>
          <a:noFill/>
        </p:spPr>
        <p:txBody>
          <a:bodyPr/>
          <a:lstStyle/>
          <a:p>
            <a:r>
              <a:rPr lang="en-US" sz="1300" b="0">
                <a:solidFill>
                  <a:srgbClr val="C6C6C6"/>
                </a:solidFill>
                <a:latin typeface="IBM Plex Sans"/>
                <a:ea typeface="IBM Plex Sans"/>
              </a:rPr>
              <a:t>Ingestion</a:t>
            </a:r>
          </a:p>
        </p:txBody>
      </p:sp>
      <p:sp>
        <p:nvSpPr>
          <p:cNvPr id="100071" name="R3C2"/>
          <p:cNvSpPr txBox="1"/>
          <p:nvPr/>
        </p:nvSpPr>
        <p:spPr>
          <a:xfrm>
            <a:off x="2772000" y="2376000"/>
            <a:ext cx="3060000" cy="468000"/>
          </a:xfrm>
          <a:prstGeom prst="rect">
            <a:avLst/>
          </a:prstGeom>
          <a:noFill/>
        </p:spPr>
        <p:txBody>
          <a:bodyPr/>
          <a:lstStyle/>
          <a:p>
            <a:r>
              <a:rPr lang="en-US" sz="1300" b="0">
                <a:solidFill>
                  <a:srgbClr val="78A9FF"/>
                </a:solidFill>
                <a:latin typeface="IBM Plex Mono"/>
                <a:ea typeface="IBM Plex Mono"/>
              </a:rPr>
              <a:t>Spark 3.5 + HoodieStreamer</a:t>
            </a:r>
          </a:p>
        </p:txBody>
      </p:sp>
      <p:sp>
        <p:nvSpPr>
          <p:cNvPr id="100072" name="R3C3"/>
          <p:cNvSpPr txBox="1"/>
          <p:nvPr/>
        </p:nvSpPr>
        <p:spPr>
          <a:xfrm>
            <a:off x="5904000" y="2376000"/>
            <a:ext cx="5760000" cy="468000"/>
          </a:xfrm>
          <a:prstGeom prst="rect">
            <a:avLst/>
          </a:prstGeom>
          <a:noFill/>
        </p:spPr>
        <p:txBody>
          <a:bodyPr/>
          <a:lstStyle/>
          <a:p>
            <a:r>
              <a:rPr lang="en-US" sz="1300" b="0">
                <a:solidFill>
                  <a:srgbClr val="8D8D8D"/>
                </a:solidFill>
                <a:latin typeface="IBM Plex Sans"/>
                <a:ea typeface="IBM Plex Sans"/>
              </a:rPr>
              <a:t>Battle-tested bulk ingestion — handles Avro schema, dedup, partitioning, Hive sync</a:t>
            </a:r>
          </a:p>
        </p:txBody>
      </p:sp>
      <p:sp>
        <p:nvSpPr>
          <p:cNvPr id="100073" name="R4C1"/>
          <p:cNvSpPr txBox="1"/>
          <p:nvPr/>
        </p:nvSpPr>
        <p:spPr>
          <a:xfrm>
            <a:off x="900000" y="2880000"/>
            <a:ext cx="1800000" cy="468000"/>
          </a:xfrm>
          <a:prstGeom prst="rect">
            <a:avLst/>
          </a:prstGeom>
          <a:noFill/>
        </p:spPr>
        <p:txBody>
          <a:bodyPr/>
          <a:lstStyle/>
          <a:p>
            <a:r>
              <a:rPr lang="en-US" sz="1300" b="0">
                <a:solidFill>
                  <a:srgbClr val="C6C6C6"/>
                </a:solidFill>
                <a:latin typeface="IBM Plex Sans"/>
                <a:ea typeface="IBM Plex Sans"/>
              </a:rPr>
              <a:t>Metadata Catalog</a:t>
            </a:r>
          </a:p>
        </p:txBody>
      </p:sp>
      <p:sp>
        <p:nvSpPr>
          <p:cNvPr id="100074" name="R4C2"/>
          <p:cNvSpPr txBox="1"/>
          <p:nvPr/>
        </p:nvSpPr>
        <p:spPr>
          <a:xfrm>
            <a:off x="2772000" y="2880000"/>
            <a:ext cx="3060000" cy="468000"/>
          </a:xfrm>
          <a:prstGeom prst="rect">
            <a:avLst/>
          </a:prstGeom>
          <a:noFill/>
        </p:spPr>
        <p:txBody>
          <a:bodyPr/>
          <a:lstStyle/>
          <a:p>
            <a:r>
              <a:rPr lang="en-US" sz="1300" b="0">
                <a:solidFill>
                  <a:srgbClr val="78A9FF"/>
                </a:solidFill>
                <a:latin typeface="IBM Plex Mono"/>
                <a:ea typeface="IBM Plex Mono"/>
              </a:rPr>
              <a:t>Hive Metastore 3.1</a:t>
            </a:r>
          </a:p>
        </p:txBody>
      </p:sp>
      <p:sp>
        <p:nvSpPr>
          <p:cNvPr id="100075" name="R4C3"/>
          <p:cNvSpPr txBox="1"/>
          <p:nvPr/>
        </p:nvSpPr>
        <p:spPr>
          <a:xfrm>
            <a:off x="5904000" y="2880000"/>
            <a:ext cx="5760000" cy="468000"/>
          </a:xfrm>
          <a:prstGeom prst="rect">
            <a:avLst/>
          </a:prstGeom>
          <a:noFill/>
        </p:spPr>
        <p:txBody>
          <a:bodyPr/>
          <a:lstStyle/>
          <a:p>
            <a:r>
              <a:rPr lang="en-US" sz="1300" b="0">
                <a:solidFill>
                  <a:srgbClr val="8D8D8D"/>
                </a:solidFill>
                <a:latin typeface="IBM Plex Sans"/>
                <a:ea typeface="IBM Plex Sans"/>
              </a:rPr>
              <a:t>Industry-standard Thrift catalog — both Spark and Presto speak to it natively</a:t>
            </a:r>
          </a:p>
        </p:txBody>
      </p:sp>
      <p:sp>
        <p:nvSpPr>
          <p:cNvPr id="100076" name="R5C1"/>
          <p:cNvSpPr txBox="1"/>
          <p:nvPr/>
        </p:nvSpPr>
        <p:spPr>
          <a:xfrm>
            <a:off x="900000" y="3384000"/>
            <a:ext cx="1800000" cy="468000"/>
          </a:xfrm>
          <a:prstGeom prst="rect">
            <a:avLst/>
          </a:prstGeom>
          <a:noFill/>
        </p:spPr>
        <p:txBody>
          <a:bodyPr/>
          <a:lstStyle/>
          <a:p>
            <a:r>
              <a:rPr lang="en-US" sz="1300" b="0">
                <a:solidFill>
                  <a:srgbClr val="C6C6C6"/>
                </a:solidFill>
                <a:latin typeface="IBM Plex Sans"/>
                <a:ea typeface="IBM Plex Sans"/>
              </a:rPr>
              <a:t>Query Engine</a:t>
            </a:r>
          </a:p>
        </p:txBody>
      </p:sp>
      <p:sp>
        <p:nvSpPr>
          <p:cNvPr id="100077" name="R5C2"/>
          <p:cNvSpPr txBox="1"/>
          <p:nvPr/>
        </p:nvSpPr>
        <p:spPr>
          <a:xfrm>
            <a:off x="2772000" y="3384000"/>
            <a:ext cx="3060000" cy="468000"/>
          </a:xfrm>
          <a:prstGeom prst="rect">
            <a:avLst/>
          </a:prstGeom>
          <a:noFill/>
        </p:spPr>
        <p:txBody>
          <a:bodyPr/>
          <a:lstStyle/>
          <a:p>
            <a:r>
              <a:rPr lang="en-US" sz="1300" b="0">
                <a:solidFill>
                  <a:srgbClr val="78A9FF"/>
                </a:solidFill>
                <a:latin typeface="IBM Plex Mono"/>
                <a:ea typeface="IBM Plex Mono"/>
              </a:rPr>
              <a:t>PrestoDB 0.299</a:t>
            </a:r>
          </a:p>
        </p:txBody>
      </p:sp>
      <p:sp>
        <p:nvSpPr>
          <p:cNvPr id="100078" name="R5C3"/>
          <p:cNvSpPr txBox="1"/>
          <p:nvPr/>
        </p:nvSpPr>
        <p:spPr>
          <a:xfrm>
            <a:off x="5904000" y="3384000"/>
            <a:ext cx="5760000" cy="468000"/>
          </a:xfrm>
          <a:prstGeom prst="rect">
            <a:avLst/>
          </a:prstGeom>
          <a:noFill/>
        </p:spPr>
        <p:txBody>
          <a:bodyPr/>
          <a:lstStyle/>
          <a:p>
            <a:r>
              <a:rPr lang="en-US" sz="1300" b="0">
                <a:solidFill>
                  <a:srgbClr val="8D8D8D"/>
                </a:solidFill>
                <a:latin typeface="IBM Plex Sans"/>
                <a:ea typeface="IBM Plex Sans"/>
              </a:rPr>
              <a:t>MPP SQL — 1 coordinator + 2 workers. Reads Hudi/Parquet with zero data copy</a:t>
            </a:r>
          </a:p>
        </p:txBody>
      </p:sp>
      <p:sp>
        <p:nvSpPr>
          <p:cNvPr id="100079" name="R6C1"/>
          <p:cNvSpPr txBox="1"/>
          <p:nvPr/>
        </p:nvSpPr>
        <p:spPr>
          <a:xfrm>
            <a:off x="900000" y="3888000"/>
            <a:ext cx="1800000" cy="468000"/>
          </a:xfrm>
          <a:prstGeom prst="rect">
            <a:avLst/>
          </a:prstGeom>
          <a:noFill/>
        </p:spPr>
        <p:txBody>
          <a:bodyPr/>
          <a:lstStyle/>
          <a:p>
            <a:r>
              <a:rPr lang="en-US" sz="1300" b="0">
                <a:solidFill>
                  <a:srgbClr val="C6C6C6"/>
                </a:solidFill>
                <a:latin typeface="IBM Plex Sans"/>
                <a:ea typeface="IBM Plex Sans"/>
              </a:rPr>
              <a:t>Orchestration</a:t>
            </a:r>
          </a:p>
        </p:txBody>
      </p:sp>
      <p:sp>
        <p:nvSpPr>
          <p:cNvPr id="100080" name="R6C2"/>
          <p:cNvSpPr txBox="1"/>
          <p:nvPr/>
        </p:nvSpPr>
        <p:spPr>
          <a:xfrm>
            <a:off x="2772000" y="3888000"/>
            <a:ext cx="3060000" cy="468000"/>
          </a:xfrm>
          <a:prstGeom prst="rect">
            <a:avLst/>
          </a:prstGeom>
          <a:noFill/>
        </p:spPr>
        <p:txBody>
          <a:bodyPr/>
          <a:lstStyle/>
          <a:p>
            <a:r>
              <a:rPr lang="en-US" sz="1300" b="0">
                <a:solidFill>
                  <a:srgbClr val="78A9FF"/>
                </a:solidFill>
                <a:latin typeface="IBM Plex Mono"/>
                <a:ea typeface="IBM Plex Mono"/>
              </a:rPr>
              <a:t>Airflow 2.7 / Python 3.9</a:t>
            </a:r>
          </a:p>
        </p:txBody>
      </p:sp>
      <p:sp>
        <p:nvSpPr>
          <p:cNvPr id="100081" name="R6C3"/>
          <p:cNvSpPr txBox="1"/>
          <p:nvPr/>
        </p:nvSpPr>
        <p:spPr>
          <a:xfrm>
            <a:off x="5904000" y="3888000"/>
            <a:ext cx="5760000" cy="468000"/>
          </a:xfrm>
          <a:prstGeom prst="rect">
            <a:avLst/>
          </a:prstGeom>
          <a:noFill/>
        </p:spPr>
        <p:txBody>
          <a:bodyPr/>
          <a:lstStyle/>
          <a:p>
            <a:r>
              <a:rPr lang="en-US" sz="1300" b="0">
                <a:solidFill>
                  <a:srgbClr val="8D8D8D"/>
                </a:solidFill>
                <a:latin typeface="IBM Plex Sans"/>
                <a:ea typeface="IBM Plex Sans"/>
              </a:rPr>
              <a:t>DAG-based scheduling, retry logic, data quality gates, Slack failure alerts</a:t>
            </a:r>
          </a:p>
        </p:txBody>
      </p:sp>
      <p:sp>
        <p:nvSpPr>
          <p:cNvPr id="100082" name="R7C1"/>
          <p:cNvSpPr txBox="1"/>
          <p:nvPr/>
        </p:nvSpPr>
        <p:spPr>
          <a:xfrm>
            <a:off x="900000" y="4392000"/>
            <a:ext cx="1800000" cy="468000"/>
          </a:xfrm>
          <a:prstGeom prst="rect">
            <a:avLst/>
          </a:prstGeom>
          <a:noFill/>
        </p:spPr>
        <p:txBody>
          <a:bodyPr/>
          <a:lstStyle/>
          <a:p>
            <a:r>
              <a:rPr lang="en-US" sz="1300" b="0">
                <a:solidFill>
                  <a:srgbClr val="C6C6C6"/>
                </a:solidFill>
                <a:latin typeface="IBM Plex Sans"/>
                <a:ea typeface="IBM Plex Sans"/>
              </a:rPr>
              <a:t>BI / Dashboards</a:t>
            </a:r>
          </a:p>
        </p:txBody>
      </p:sp>
      <p:sp>
        <p:nvSpPr>
          <p:cNvPr id="100083" name="R7C2"/>
          <p:cNvSpPr txBox="1"/>
          <p:nvPr/>
        </p:nvSpPr>
        <p:spPr>
          <a:xfrm>
            <a:off x="2772000" y="4392000"/>
            <a:ext cx="3060000" cy="468000"/>
          </a:xfrm>
          <a:prstGeom prst="rect">
            <a:avLst/>
          </a:prstGeom>
          <a:noFill/>
        </p:spPr>
        <p:txBody>
          <a:bodyPr/>
          <a:lstStyle/>
          <a:p>
            <a:r>
              <a:rPr lang="en-US" sz="1300" b="0">
                <a:solidFill>
                  <a:srgbClr val="78A9FF"/>
                </a:solidFill>
                <a:latin typeface="IBM Plex Mono"/>
                <a:ea typeface="IBM Plex Mono"/>
              </a:rPr>
              <a:t>Apache Superset 6.1</a:t>
            </a:r>
          </a:p>
        </p:txBody>
      </p:sp>
      <p:sp>
        <p:nvSpPr>
          <p:cNvPr id="100084" name="R7C3"/>
          <p:cNvSpPr txBox="1"/>
          <p:nvPr/>
        </p:nvSpPr>
        <p:spPr>
          <a:xfrm>
            <a:off x="5904000" y="4392000"/>
            <a:ext cx="5760000" cy="468000"/>
          </a:xfrm>
          <a:prstGeom prst="rect">
            <a:avLst/>
          </a:prstGeom>
          <a:noFill/>
        </p:spPr>
        <p:txBody>
          <a:bodyPr/>
          <a:lstStyle/>
          <a:p>
            <a:r>
              <a:rPr lang="en-US" sz="1300" b="0">
                <a:solidFill>
                  <a:srgbClr val="8D8D8D"/>
                </a:solidFill>
                <a:latin typeface="IBM Plex Sans"/>
                <a:ea typeface="IBM Plex Sans"/>
              </a:rPr>
              <a:t>SQL Lab + 15-chart production dashboard over Presto — no ETL copies</a:t>
            </a:r>
          </a:p>
        </p:txBody>
      </p:sp>
      <p:sp>
        <p:nvSpPr>
          <p:cNvPr id="100085" name="KeyMsg"/>
          <p:cNvSpPr txBox="1"/>
          <p:nvPr/>
        </p:nvSpPr>
        <p:spPr>
          <a:xfrm>
            <a:off x="900000" y="5040000"/>
            <a:ext cx="10080000" cy="396000"/>
          </a:xfrm>
          <a:prstGeom prst="rect">
            <a:avLst/>
          </a:prstGeom>
          <a:solidFill>
            <a:srgbClr val="1C3A5E"/>
          </a:solidFill>
        </p:spPr>
        <p:txBody>
          <a:bodyPr/>
          <a:lstStyle/>
          <a:p>
            <a:r>
              <a:rPr lang="en-US" sz="1300" b="0">
                <a:solidFill>
                  <a:srgbClr val="78A9FF"/>
                </a:solidFill>
                <a:latin typeface="IBM Plex Sans"/>
                <a:ea typeface="IBM Plex Sans"/>
              </a:rPr>
              <a:t>Each layer has one clearly defined responsibility. Nothing does two jobs. That makes each piece replaceable independently.</a:t>
            </a:r>
          </a:p>
        </p:txBody>
      </p:sp>
      <p:sp>
        <p:nvSpPr>
          <p:cNvPr id="100086"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087"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088"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07</a:t>
            </a:r>
          </a:p>
        </p:txBody>
      </p:sp>
      <p:sp>
        <p:nvSpPr>
          <p:cNvPr id="100089"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Layer Deep Dive: MinIO Object Storage</a:t>
            </a:r>
          </a:p>
        </p:txBody>
      </p:sp>
      <p:sp>
        <p:nvSpPr>
          <p:cNvPr id="100090" name="Subtitle"/>
          <p:cNvSpPr txBox="1"/>
          <p:nvPr/>
        </p:nvSpPr>
        <p:spPr>
          <a:xfrm>
            <a:off x="900000" y="972000"/>
            <a:ext cx="10080000" cy="288000"/>
          </a:xfrm>
          <a:prstGeom prst="rect">
            <a:avLst/>
          </a:prstGeom>
          <a:noFill/>
        </p:spPr>
        <p:txBody>
          <a:bodyPr/>
          <a:lstStyle/>
          <a:p>
            <a:r>
              <a:rPr lang="en-US" sz="1600" b="0">
                <a:solidFill>
                  <a:srgbClr val="78A9FF"/>
                </a:solidFill>
                <a:latin typeface="IBM Plex Sans"/>
                <a:ea typeface="IBM Plex Sans"/>
              </a:rPr>
              <a:t>S3-compatible · zero-cost · fully swappable</a:t>
            </a:r>
          </a:p>
        </p:txBody>
      </p:sp>
      <p:sp>
        <p:nvSpPr>
          <p:cNvPr id="100091" name="Card1"/>
          <p:cNvSpPr txBox="1"/>
          <p:nvPr/>
        </p:nvSpPr>
        <p:spPr>
          <a:xfrm>
            <a:off x="900000" y="1368000"/>
            <a:ext cx="3336000" cy="2394000"/>
          </a:xfrm>
          <a:prstGeom prst="rect">
            <a:avLst/>
          </a:prstGeom>
          <a:solidFill>
            <a:srgbClr val="262626"/>
          </a:solidFill>
        </p:spPr>
        <p:txBody>
          <a:bodyPr/>
          <a:lstStyle/>
          <a:p>
            <a:r>
              <a:rPr lang="en-US" sz="1300" b="0">
                <a:solidFill>
                  <a:srgbClr val="C6C6C6"/>
                </a:solidFill>
                <a:latin typeface="IBM Plex Sans"/>
                <a:ea typeface="IBM Plex Sans"/>
              </a:rPr>
              <a:t>What MinIO is</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An S3-compatible object store that runs as a Docker container. The rest of the stack uses the same s3a:// URI scheme and AWS SDK they would use with real AWS S3 — nothing else changes.</a:t>
            </a:r>
          </a:p>
        </p:txBody>
      </p:sp>
      <p:sp>
        <p:nvSpPr>
          <p:cNvPr id="100092" name="Card2"/>
          <p:cNvSpPr txBox="1"/>
          <p:nvPr/>
        </p:nvSpPr>
        <p:spPr>
          <a:xfrm>
            <a:off x="4428000" y="1368000"/>
            <a:ext cx="3336000" cy="2394000"/>
          </a:xfrm>
          <a:prstGeom prst="rect">
            <a:avLst/>
          </a:prstGeom>
          <a:solidFill>
            <a:srgbClr val="262626"/>
          </a:solidFill>
        </p:spPr>
        <p:txBody>
          <a:bodyPr/>
          <a:lstStyle/>
          <a:p>
            <a:r>
              <a:rPr lang="en-US" sz="1300" b="0" dirty="0">
                <a:solidFill>
                  <a:srgbClr val="C6C6C6"/>
                </a:solidFill>
                <a:latin typeface="IBM Plex Sans"/>
                <a:ea typeface="IBM Plex Sans"/>
              </a:rPr>
              <a:t>Two storage areas in one bucket</a:t>
            </a:r>
          </a:p>
          <a:p>
            <a:endParaRPr lang="en-US" sz="1300" b="0" dirty="0">
              <a:solidFill>
                <a:srgbClr val="C6C6C6"/>
              </a:solidFill>
              <a:latin typeface="IBM Plex Sans"/>
              <a:ea typeface="IBM Plex Sans"/>
            </a:endParaRPr>
          </a:p>
          <a:p>
            <a:r>
              <a:rPr lang="en-US" sz="1300" b="0" dirty="0" err="1">
                <a:solidFill>
                  <a:srgbClr val="C6C6C6"/>
                </a:solidFill>
                <a:latin typeface="IBM Plex Sans"/>
                <a:ea typeface="IBM Plex Sans"/>
              </a:rPr>
              <a:t>github</a:t>
            </a:r>
            <a:r>
              <a:rPr lang="en-US" sz="1300" b="0" dirty="0">
                <a:solidFill>
                  <a:srgbClr val="C6C6C6"/>
                </a:solidFill>
                <a:latin typeface="IBM Plex Sans"/>
                <a:ea typeface="IBM Plex Sans"/>
              </a:rPr>
              <a:t>-raw/</a:t>
            </a:r>
          </a:p>
          <a:p>
            <a:r>
              <a:rPr lang="en-US" sz="1300" b="0" dirty="0">
                <a:solidFill>
                  <a:srgbClr val="C6C6C6"/>
                </a:solidFill>
                <a:latin typeface="IBM Plex Sans"/>
                <a:ea typeface="IBM Plex Sans"/>
              </a:rPr>
              <a:t>  Raw .</a:t>
            </a:r>
            <a:r>
              <a:rPr lang="en-US" sz="1300" b="0" dirty="0" err="1">
                <a:solidFill>
                  <a:srgbClr val="C6C6C6"/>
                </a:solidFill>
                <a:latin typeface="IBM Plex Sans"/>
                <a:ea typeface="IBM Plex Sans"/>
              </a:rPr>
              <a:t>json.gz</a:t>
            </a:r>
            <a:r>
              <a:rPr lang="en-US" sz="1300" b="0" dirty="0">
                <a:solidFill>
                  <a:srgbClr val="C6C6C6"/>
                </a:solidFill>
                <a:latin typeface="IBM Plex Sans"/>
                <a:ea typeface="IBM Plex Sans"/>
              </a:rPr>
              <a:t> staging — Airflow drops files here after download from </a:t>
            </a:r>
            <a:r>
              <a:rPr lang="en-US" sz="1300" b="0" dirty="0" err="1">
                <a:solidFill>
                  <a:srgbClr val="C6C6C6"/>
                </a:solidFill>
                <a:latin typeface="IBM Plex Sans"/>
                <a:ea typeface="IBM Plex Sans"/>
              </a:rPr>
              <a:t>gharchive.org</a:t>
            </a:r>
            <a:endParaRPr lang="en-US" sz="1300" b="0" dirty="0">
              <a:solidFill>
                <a:srgbClr val="C6C6C6"/>
              </a:solidFill>
              <a:latin typeface="IBM Plex Sans"/>
              <a:ea typeface="IBM Plex Sans"/>
            </a:endParaRPr>
          </a:p>
          <a:p>
            <a:endParaRPr lang="en-US" sz="1300" b="0" dirty="0">
              <a:solidFill>
                <a:srgbClr val="C6C6C6"/>
              </a:solidFill>
              <a:latin typeface="IBM Plex Sans"/>
              <a:ea typeface="IBM Plex Sans"/>
            </a:endParaRPr>
          </a:p>
          <a:p>
            <a:r>
              <a:rPr lang="en-US" sz="1300" b="0" dirty="0" err="1">
                <a:solidFill>
                  <a:srgbClr val="C6C6C6"/>
                </a:solidFill>
                <a:latin typeface="IBM Plex Sans"/>
                <a:ea typeface="IBM Plex Sans"/>
              </a:rPr>
              <a:t>hudi</a:t>
            </a:r>
            <a:r>
              <a:rPr lang="en-US" sz="1300" b="0" dirty="0">
                <a:solidFill>
                  <a:srgbClr val="C6C6C6"/>
                </a:solidFill>
                <a:latin typeface="IBM Plex Sans"/>
                <a:ea typeface="IBM Plex Sans"/>
              </a:rPr>
              <a:t>-tables/</a:t>
            </a:r>
            <a:r>
              <a:rPr lang="en-US" sz="1300" b="0" dirty="0" err="1">
                <a:solidFill>
                  <a:srgbClr val="C6C6C6"/>
                </a:solidFill>
                <a:latin typeface="IBM Plex Sans"/>
                <a:ea typeface="IBM Plex Sans"/>
              </a:rPr>
              <a:t>github_events</a:t>
            </a:r>
            <a:r>
              <a:rPr lang="en-US" sz="1300" b="0" dirty="0">
                <a:solidFill>
                  <a:srgbClr val="C6C6C6"/>
                </a:solidFill>
                <a:latin typeface="IBM Plex Sans"/>
                <a:ea typeface="IBM Plex Sans"/>
              </a:rPr>
              <a:t>/</a:t>
            </a:r>
          </a:p>
          <a:p>
            <a:r>
              <a:rPr lang="en-US" sz="1300" b="0" dirty="0">
                <a:solidFill>
                  <a:srgbClr val="C6C6C6"/>
                </a:solidFill>
                <a:latin typeface="IBM Plex Sans"/>
                <a:ea typeface="IBM Plex Sans"/>
              </a:rPr>
              <a:t>  Hudi Parquet files + .hoodie/ commit timeline — the actual </a:t>
            </a:r>
            <a:r>
              <a:rPr lang="en-US" sz="1300" b="0" dirty="0" err="1">
                <a:solidFill>
                  <a:srgbClr val="C6C6C6"/>
                </a:solidFill>
                <a:latin typeface="IBM Plex Sans"/>
                <a:ea typeface="IBM Plex Sans"/>
              </a:rPr>
              <a:t>lakehouse</a:t>
            </a:r>
            <a:r>
              <a:rPr lang="en-US" sz="1300" b="0" dirty="0">
                <a:solidFill>
                  <a:srgbClr val="C6C6C6"/>
                </a:solidFill>
                <a:latin typeface="IBM Plex Sans"/>
                <a:ea typeface="IBM Plex Sans"/>
              </a:rPr>
              <a:t> table</a:t>
            </a:r>
          </a:p>
        </p:txBody>
      </p:sp>
      <p:sp>
        <p:nvSpPr>
          <p:cNvPr id="100093" name="Card3"/>
          <p:cNvSpPr txBox="1"/>
          <p:nvPr/>
        </p:nvSpPr>
        <p:spPr>
          <a:xfrm>
            <a:off x="7956000" y="1368000"/>
            <a:ext cx="3336000" cy="2448000"/>
          </a:xfrm>
          <a:prstGeom prst="rect">
            <a:avLst/>
          </a:prstGeom>
          <a:solidFill>
            <a:srgbClr val="262626"/>
          </a:solidFill>
        </p:spPr>
        <p:txBody>
          <a:bodyPr/>
          <a:lstStyle/>
          <a:p>
            <a:r>
              <a:rPr lang="en-US" sz="1300" b="0" dirty="0">
                <a:solidFill>
                  <a:srgbClr val="C6C6C6"/>
                </a:solidFill>
                <a:latin typeface="IBM Plex Sans"/>
                <a:ea typeface="IBM Plex Sans"/>
              </a:rPr>
              <a:t>Zero-cost cloud portability</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Change ONE variable in .env to move to production:</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S3_ENDPOINT=https://s3.amazonaws.com</a:t>
            </a:r>
          </a:p>
          <a:p>
            <a:r>
              <a:rPr lang="en-US" sz="1300" b="0" dirty="0">
                <a:solidFill>
                  <a:srgbClr val="C6C6C6"/>
                </a:solidFill>
                <a:latin typeface="IBM Plex Sans"/>
                <a:ea typeface="IBM Plex Sans"/>
              </a:rPr>
              <a:t>  → AWS S3</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S3_ENDPOINT=https://s3.backblazeb2.com</a:t>
            </a:r>
          </a:p>
          <a:p>
            <a:r>
              <a:rPr lang="en-US" sz="1300" b="0" dirty="0">
                <a:solidFill>
                  <a:srgbClr val="C6C6C6"/>
                </a:solidFill>
                <a:latin typeface="IBM Plex Sans"/>
                <a:ea typeface="IBM Plex Sans"/>
              </a:rPr>
              <a:t>  → </a:t>
            </a:r>
            <a:r>
              <a:rPr lang="en-US" sz="1300" b="0" dirty="0" err="1">
                <a:solidFill>
                  <a:srgbClr val="C6C6C6"/>
                </a:solidFill>
                <a:latin typeface="IBM Plex Sans"/>
                <a:ea typeface="IBM Plex Sans"/>
              </a:rPr>
              <a:t>Backblaze</a:t>
            </a:r>
            <a:r>
              <a:rPr lang="en-US" sz="1300" b="0" dirty="0">
                <a:solidFill>
                  <a:srgbClr val="C6C6C6"/>
                </a:solidFill>
                <a:latin typeface="IBM Plex Sans"/>
                <a:ea typeface="IBM Plex Sans"/>
              </a:rPr>
              <a:t> B2</a:t>
            </a:r>
          </a:p>
        </p:txBody>
      </p:sp>
      <p:sp>
        <p:nvSpPr>
          <p:cNvPr id="100094" name="Divider"/>
          <p:cNvSpPr txBox="1"/>
          <p:nvPr/>
        </p:nvSpPr>
        <p:spPr>
          <a:xfrm>
            <a:off x="900000" y="3960000"/>
            <a:ext cx="10080000" cy="18000"/>
          </a:xfrm>
          <a:prstGeom prst="rect">
            <a:avLst/>
          </a:prstGeom>
          <a:solidFill>
            <a:srgbClr val="393939"/>
          </a:solidFill>
        </p:spPr>
        <p:txBody>
          <a:bodyPr/>
          <a:lstStyle/>
          <a:p>
            <a:endParaRPr lang="en-US" sz="800">
              <a:solidFill>
                <a:srgbClr val="393939"/>
              </a:solidFill>
            </a:endParaRPr>
          </a:p>
        </p:txBody>
      </p:sp>
      <p:sp>
        <p:nvSpPr>
          <p:cNvPr id="100095" name="BrowseNote"/>
          <p:cNvSpPr txBox="1"/>
          <p:nvPr/>
        </p:nvSpPr>
        <p:spPr>
          <a:xfrm>
            <a:off x="900000" y="4176000"/>
            <a:ext cx="10080000" cy="540000"/>
          </a:xfrm>
          <a:prstGeom prst="rect">
            <a:avLst/>
          </a:prstGeom>
          <a:solidFill>
            <a:srgbClr val="1C3A5E"/>
          </a:solidFill>
        </p:spPr>
        <p:txBody>
          <a:bodyPr/>
          <a:lstStyle/>
          <a:p>
            <a:r>
              <a:rPr lang="en-US" sz="1300" b="0" dirty="0">
                <a:solidFill>
                  <a:srgbClr val="78A9FF"/>
                </a:solidFill>
                <a:latin typeface="IBM Plex Mono"/>
                <a:ea typeface="IBM Plex Mono"/>
              </a:rPr>
              <a:t>Live demo: </a:t>
            </a:r>
            <a:r>
              <a:rPr lang="en-US" sz="1300" b="0" dirty="0" err="1">
                <a:solidFill>
                  <a:srgbClr val="78A9FF"/>
                </a:solidFill>
                <a:latin typeface="IBM Plex Mono"/>
                <a:ea typeface="IBM Plex Mono"/>
              </a:rPr>
              <a:t>MinIO</a:t>
            </a:r>
            <a:r>
              <a:rPr lang="en-US" sz="1300" b="0" dirty="0">
                <a:solidFill>
                  <a:srgbClr val="78A9FF"/>
                </a:solidFill>
                <a:latin typeface="IBM Plex Mono"/>
                <a:ea typeface="IBM Plex Mono"/>
              </a:rPr>
              <a:t> Console at localhost:9001  →  browse </a:t>
            </a:r>
            <a:r>
              <a:rPr lang="en-US" sz="1300" b="0" dirty="0" err="1">
                <a:solidFill>
                  <a:srgbClr val="78A9FF"/>
                </a:solidFill>
                <a:latin typeface="IBM Plex Mono"/>
                <a:ea typeface="IBM Plex Mono"/>
              </a:rPr>
              <a:t>github</a:t>
            </a:r>
            <a:r>
              <a:rPr lang="en-US" sz="1300" b="0" dirty="0">
                <a:solidFill>
                  <a:srgbClr val="78A9FF"/>
                </a:solidFill>
                <a:latin typeface="IBM Plex Mono"/>
                <a:ea typeface="IBM Plex Mono"/>
              </a:rPr>
              <a:t>-raw/ and </a:t>
            </a:r>
            <a:r>
              <a:rPr lang="en-US" sz="1300" b="0" dirty="0" err="1">
                <a:solidFill>
                  <a:srgbClr val="78A9FF"/>
                </a:solidFill>
                <a:latin typeface="IBM Plex Mono"/>
                <a:ea typeface="IBM Plex Mono"/>
              </a:rPr>
              <a:t>hudi</a:t>
            </a:r>
            <a:r>
              <a:rPr lang="en-US" sz="1300" b="0" dirty="0">
                <a:solidFill>
                  <a:srgbClr val="78A9FF"/>
                </a:solidFill>
                <a:latin typeface="IBM Plex Mono"/>
                <a:ea typeface="IBM Plex Mono"/>
              </a:rPr>
              <a:t>-tables/ folders  →  see raw .</a:t>
            </a:r>
            <a:r>
              <a:rPr lang="en-US" sz="1300" b="0" dirty="0" err="1">
                <a:solidFill>
                  <a:srgbClr val="78A9FF"/>
                </a:solidFill>
                <a:latin typeface="IBM Plex Mono"/>
                <a:ea typeface="IBM Plex Mono"/>
              </a:rPr>
              <a:t>json.gz</a:t>
            </a:r>
            <a:r>
              <a:rPr lang="en-US" sz="1300" b="0" dirty="0">
                <a:solidFill>
                  <a:srgbClr val="78A9FF"/>
                </a:solidFill>
                <a:latin typeface="IBM Plex Mono"/>
                <a:ea typeface="IBM Plex Mono"/>
              </a:rPr>
              <a:t> files vs Hudi Parquet partition structure</a:t>
            </a:r>
          </a:p>
        </p:txBody>
      </p:sp>
      <p:sp>
        <p:nvSpPr>
          <p:cNvPr id="100096" name="HealthNote"/>
          <p:cNvSpPr txBox="1"/>
          <p:nvPr/>
        </p:nvSpPr>
        <p:spPr>
          <a:xfrm>
            <a:off x="900000" y="4824000"/>
            <a:ext cx="10080000" cy="432000"/>
          </a:xfrm>
          <a:prstGeom prst="rect">
            <a:avLst/>
          </a:prstGeom>
          <a:noFill/>
        </p:spPr>
        <p:txBody>
          <a:bodyPr/>
          <a:lstStyle/>
          <a:p>
            <a:r>
              <a:rPr lang="en-US" sz="1200" b="0" dirty="0" err="1">
                <a:solidFill>
                  <a:srgbClr val="8D8D8D"/>
                </a:solidFill>
                <a:latin typeface="IBM Plex Sans"/>
                <a:ea typeface="IBM Plex Sans"/>
              </a:rPr>
              <a:t>Healthcheck</a:t>
            </a:r>
            <a:r>
              <a:rPr lang="en-US" sz="1200" b="0" dirty="0">
                <a:solidFill>
                  <a:srgbClr val="8D8D8D"/>
                </a:solidFill>
                <a:latin typeface="IBM Plex Sans"/>
                <a:ea typeface="IBM Plex Sans"/>
              </a:rPr>
              <a:t>: /bin/mc ready local — </a:t>
            </a:r>
            <a:r>
              <a:rPr lang="en-US" sz="1200" b="0" dirty="0" err="1">
                <a:solidFill>
                  <a:srgbClr val="8D8D8D"/>
                </a:solidFill>
                <a:latin typeface="IBM Plex Sans"/>
                <a:ea typeface="IBM Plex Sans"/>
              </a:rPr>
              <a:t>MinIO</a:t>
            </a:r>
            <a:r>
              <a:rPr lang="en-US" sz="1200" b="0" dirty="0">
                <a:solidFill>
                  <a:srgbClr val="8D8D8D"/>
                </a:solidFill>
                <a:latin typeface="IBM Plex Sans"/>
                <a:ea typeface="IBM Plex Sans"/>
              </a:rPr>
              <a:t> is the first service other containers depend on. </a:t>
            </a:r>
            <a:r>
              <a:rPr lang="en-US" sz="1200" b="0" dirty="0" err="1">
                <a:solidFill>
                  <a:srgbClr val="8D8D8D"/>
                </a:solidFill>
                <a:latin typeface="IBM Plex Sans"/>
                <a:ea typeface="IBM Plex Sans"/>
              </a:rPr>
              <a:t>minio-init</a:t>
            </a:r>
            <a:r>
              <a:rPr lang="en-US" sz="1200" b="0" dirty="0">
                <a:solidFill>
                  <a:srgbClr val="8D8D8D"/>
                </a:solidFill>
                <a:latin typeface="IBM Plex Sans"/>
                <a:ea typeface="IBM Plex Sans"/>
              </a:rPr>
              <a:t> (Exited 0) creates the bucket once and exits normally.</a:t>
            </a:r>
          </a:p>
        </p:txBody>
      </p:sp>
      <p:sp>
        <p:nvSpPr>
          <p:cNvPr id="100097"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098"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099"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08</a:t>
            </a:r>
          </a:p>
        </p:txBody>
      </p:sp>
      <p:sp>
        <p:nvSpPr>
          <p:cNvPr id="100100"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Layer Deep Dive: Apache Hudi</a:t>
            </a:r>
          </a:p>
        </p:txBody>
      </p:sp>
      <p:sp>
        <p:nvSpPr>
          <p:cNvPr id="100101" name="Subtitle"/>
          <p:cNvSpPr txBox="1"/>
          <p:nvPr/>
        </p:nvSpPr>
        <p:spPr>
          <a:xfrm>
            <a:off x="900000" y="972000"/>
            <a:ext cx="10080000" cy="288000"/>
          </a:xfrm>
          <a:prstGeom prst="rect">
            <a:avLst/>
          </a:prstGeom>
          <a:noFill/>
        </p:spPr>
        <p:txBody>
          <a:bodyPr/>
          <a:lstStyle/>
          <a:p>
            <a:r>
              <a:rPr lang="en-US" sz="1500" b="0">
                <a:solidFill>
                  <a:srgbClr val="78A9FF"/>
                </a:solidFill>
                <a:latin typeface="IBM Plex Sans"/>
                <a:ea typeface="IBM Plex Sans"/>
              </a:rPr>
              <a:t>The most important layer — what makes this a Lakehouse, not just a data lake</a:t>
            </a:r>
          </a:p>
        </p:txBody>
      </p:sp>
      <p:sp>
        <p:nvSpPr>
          <p:cNvPr id="100102" name="C1Title"/>
          <p:cNvSpPr txBox="1"/>
          <p:nvPr/>
        </p:nvSpPr>
        <p:spPr>
          <a:xfrm>
            <a:off x="900000" y="1368000"/>
            <a:ext cx="3312000" cy="252000"/>
          </a:xfrm>
          <a:prstGeom prst="rect">
            <a:avLst/>
          </a:prstGeom>
          <a:solidFill>
            <a:srgbClr val="0353E9"/>
          </a:solidFill>
        </p:spPr>
        <p:txBody>
          <a:bodyPr/>
          <a:lstStyle/>
          <a:p>
            <a:r>
              <a:rPr lang="en-US" sz="1400" b="1">
                <a:solidFill>
                  <a:srgbClr val="FFFFFF"/>
                </a:solidFill>
                <a:latin typeface="IBM Plex Sans"/>
                <a:ea typeface="IBM Plex Sans"/>
              </a:rPr>
              <a:t>1  Record Key + Precombine Key</a:t>
            </a:r>
          </a:p>
        </p:txBody>
      </p:sp>
      <p:sp>
        <p:nvSpPr>
          <p:cNvPr id="100103" name="C1Body"/>
          <p:cNvSpPr txBox="1"/>
          <p:nvPr/>
        </p:nvSpPr>
        <p:spPr>
          <a:xfrm>
            <a:off x="900000" y="1655999"/>
            <a:ext cx="3312000" cy="2321999"/>
          </a:xfrm>
          <a:prstGeom prst="rect">
            <a:avLst/>
          </a:prstGeom>
          <a:solidFill>
            <a:srgbClr val="262626"/>
          </a:solidFill>
        </p:spPr>
        <p:txBody>
          <a:bodyPr/>
          <a:lstStyle/>
          <a:p>
            <a:r>
              <a:rPr lang="en-US" sz="1300" b="0" dirty="0" err="1">
                <a:solidFill>
                  <a:srgbClr val="C6C6C6"/>
                </a:solidFill>
                <a:latin typeface="IBM Plex Sans"/>
                <a:ea typeface="IBM Plex Sans"/>
              </a:rPr>
              <a:t>recordkey</a:t>
            </a:r>
            <a:r>
              <a:rPr lang="en-US" sz="1300" b="0" dirty="0">
                <a:solidFill>
                  <a:srgbClr val="C6C6C6"/>
                </a:solidFill>
                <a:latin typeface="IBM Plex Sans"/>
                <a:ea typeface="IBM Plex Sans"/>
              </a:rPr>
              <a:t> = id</a:t>
            </a:r>
          </a:p>
          <a:p>
            <a:r>
              <a:rPr lang="en-US" sz="1300" b="0" dirty="0">
                <a:solidFill>
                  <a:srgbClr val="C6C6C6"/>
                </a:solidFill>
                <a:latin typeface="IBM Plex Sans"/>
                <a:ea typeface="IBM Plex Sans"/>
              </a:rPr>
              <a:t>(GitHub event ID — globally unique)</a:t>
            </a:r>
          </a:p>
          <a:p>
            <a:endParaRPr lang="en-US" sz="1300" b="0" dirty="0">
              <a:solidFill>
                <a:srgbClr val="C6C6C6"/>
              </a:solidFill>
              <a:latin typeface="IBM Plex Sans"/>
              <a:ea typeface="IBM Plex Sans"/>
            </a:endParaRPr>
          </a:p>
          <a:p>
            <a:r>
              <a:rPr lang="en-US" sz="1300" b="0" dirty="0" err="1">
                <a:solidFill>
                  <a:srgbClr val="C6C6C6"/>
                </a:solidFill>
                <a:latin typeface="IBM Plex Sans"/>
                <a:ea typeface="IBM Plex Sans"/>
              </a:rPr>
              <a:t>precombine</a:t>
            </a:r>
            <a:r>
              <a:rPr lang="en-US" sz="1300" b="0" dirty="0">
                <a:solidFill>
                  <a:srgbClr val="C6C6C6"/>
                </a:solidFill>
                <a:latin typeface="IBM Plex Sans"/>
                <a:ea typeface="IBM Plex Sans"/>
              </a:rPr>
              <a:t> = </a:t>
            </a:r>
            <a:r>
              <a:rPr lang="en-US" sz="1300" b="0" dirty="0" err="1">
                <a:solidFill>
                  <a:srgbClr val="C6C6C6"/>
                </a:solidFill>
                <a:latin typeface="IBM Plex Sans"/>
                <a:ea typeface="IBM Plex Sans"/>
              </a:rPr>
              <a:t>created_at</a:t>
            </a:r>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If the same id arrives twice, the record with the newer timestamp wins automatically.</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Result: idempotent ingestion — run the same file twice, get no duplicates.</a:t>
            </a:r>
          </a:p>
        </p:txBody>
      </p:sp>
      <p:sp>
        <p:nvSpPr>
          <p:cNvPr id="100104" name="C2Title"/>
          <p:cNvSpPr txBox="1"/>
          <p:nvPr/>
        </p:nvSpPr>
        <p:spPr>
          <a:xfrm>
            <a:off x="4464000" y="1368000"/>
            <a:ext cx="3312000" cy="252000"/>
          </a:xfrm>
          <a:prstGeom prst="rect">
            <a:avLst/>
          </a:prstGeom>
          <a:solidFill>
            <a:srgbClr val="0353E9"/>
          </a:solidFill>
        </p:spPr>
        <p:txBody>
          <a:bodyPr/>
          <a:lstStyle/>
          <a:p>
            <a:r>
              <a:rPr lang="en-US" sz="1400" b="1">
                <a:solidFill>
                  <a:srgbClr val="FFFFFF"/>
                </a:solidFill>
                <a:latin typeface="IBM Plex Sans"/>
                <a:ea typeface="IBM Plex Sans"/>
              </a:rPr>
              <a:t>2  Copy-on-Write (COW) Table Type</a:t>
            </a:r>
          </a:p>
        </p:txBody>
      </p:sp>
      <p:sp>
        <p:nvSpPr>
          <p:cNvPr id="100105" name="C2Body"/>
          <p:cNvSpPr txBox="1"/>
          <p:nvPr/>
        </p:nvSpPr>
        <p:spPr>
          <a:xfrm>
            <a:off x="4464000" y="1656000"/>
            <a:ext cx="3312000" cy="2322000"/>
          </a:xfrm>
          <a:prstGeom prst="rect">
            <a:avLst/>
          </a:prstGeom>
          <a:solidFill>
            <a:srgbClr val="262626"/>
          </a:solidFill>
        </p:spPr>
        <p:txBody>
          <a:bodyPr/>
          <a:lstStyle/>
          <a:p>
            <a:r>
              <a:rPr lang="en-US" sz="1300" b="0" dirty="0">
                <a:solidFill>
                  <a:srgbClr val="C6C6C6"/>
                </a:solidFill>
                <a:latin typeface="IBM Plex Sans"/>
                <a:ea typeface="IBM Plex Sans"/>
              </a:rPr>
              <a:t>On </a:t>
            </a:r>
            <a:r>
              <a:rPr lang="en-US" sz="1300" b="0" dirty="0" err="1">
                <a:solidFill>
                  <a:srgbClr val="C6C6C6"/>
                </a:solidFill>
                <a:latin typeface="IBM Plex Sans"/>
                <a:ea typeface="IBM Plex Sans"/>
              </a:rPr>
              <a:t>upsert</a:t>
            </a:r>
            <a:r>
              <a:rPr lang="en-US" sz="1300" b="0" dirty="0">
                <a:solidFill>
                  <a:srgbClr val="C6C6C6"/>
                </a:solidFill>
                <a:latin typeface="IBM Plex Sans"/>
                <a:ea typeface="IBM Plex Sans"/>
              </a:rPr>
              <a:t>: rewrite only the Parquet files that contain changed rows — not the whole table.</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Presto reads pure Parquet with zero merge overhead → fastest possible reads.</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Trade-off: writes are slightly slower than Merge-on-Read — acceptable for batch workloads.</a:t>
            </a:r>
          </a:p>
        </p:txBody>
      </p:sp>
      <p:sp>
        <p:nvSpPr>
          <p:cNvPr id="100106" name="C3Title"/>
          <p:cNvSpPr txBox="1"/>
          <p:nvPr/>
        </p:nvSpPr>
        <p:spPr>
          <a:xfrm>
            <a:off x="7992000" y="1368000"/>
            <a:ext cx="3312000" cy="252000"/>
          </a:xfrm>
          <a:prstGeom prst="rect">
            <a:avLst/>
          </a:prstGeom>
          <a:solidFill>
            <a:srgbClr val="0353E9"/>
          </a:solidFill>
        </p:spPr>
        <p:txBody>
          <a:bodyPr/>
          <a:lstStyle/>
          <a:p>
            <a:r>
              <a:rPr lang="en-US" sz="1400" b="1">
                <a:solidFill>
                  <a:srgbClr val="FFFFFF"/>
                </a:solidFill>
                <a:latin typeface="IBM Plex Sans"/>
                <a:ea typeface="IBM Plex Sans"/>
              </a:rPr>
              <a:t>3  The .hoodie/ Commit Timeline</a:t>
            </a:r>
          </a:p>
        </p:txBody>
      </p:sp>
      <p:sp>
        <p:nvSpPr>
          <p:cNvPr id="100107" name="C3Body"/>
          <p:cNvSpPr txBox="1"/>
          <p:nvPr/>
        </p:nvSpPr>
        <p:spPr>
          <a:xfrm>
            <a:off x="7992000" y="1656000"/>
            <a:ext cx="3312000" cy="2358000"/>
          </a:xfrm>
          <a:prstGeom prst="rect">
            <a:avLst/>
          </a:prstGeom>
          <a:solidFill>
            <a:srgbClr val="262626"/>
          </a:solidFill>
        </p:spPr>
        <p:txBody>
          <a:bodyPr/>
          <a:lstStyle/>
          <a:p>
            <a:r>
              <a:rPr lang="en-US" sz="1300" b="0" dirty="0">
                <a:solidFill>
                  <a:srgbClr val="C6C6C6"/>
                </a:solidFill>
                <a:latin typeface="IBM Plex Sans"/>
                <a:ea typeface="IBM Plex Sans"/>
              </a:rPr>
              <a:t>Every write = one immutable entry in the timeline stored alongside Parquet in </a:t>
            </a:r>
            <a:r>
              <a:rPr lang="en-US" sz="1300" b="0" dirty="0" err="1">
                <a:solidFill>
                  <a:srgbClr val="C6C6C6"/>
                </a:solidFill>
                <a:latin typeface="IBM Plex Sans"/>
                <a:ea typeface="IBM Plex Sans"/>
              </a:rPr>
              <a:t>MinIO</a:t>
            </a:r>
            <a:r>
              <a:rPr lang="en-US" sz="1300" b="0" dirty="0">
                <a:solidFill>
                  <a:srgbClr val="C6C6C6"/>
                </a:solidFill>
                <a:latin typeface="IBM Plex Sans"/>
                <a:ea typeface="IBM Plex Sans"/>
              </a:rPr>
              <a:t>.</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Enables:</a:t>
            </a:r>
          </a:p>
          <a:p>
            <a:r>
              <a:rPr lang="en-US" sz="1300" b="0" dirty="0">
                <a:solidFill>
                  <a:srgbClr val="C6C6C6"/>
                </a:solidFill>
                <a:latin typeface="IBM Plex Sans"/>
                <a:ea typeface="IBM Plex Sans"/>
              </a:rPr>
              <a:t>• Snapshot isolation (readers never see partial writes)</a:t>
            </a:r>
          </a:p>
          <a:p>
            <a:r>
              <a:rPr lang="en-US" sz="1300" b="0" dirty="0">
                <a:solidFill>
                  <a:srgbClr val="C6C6C6"/>
                </a:solidFill>
                <a:latin typeface="IBM Plex Sans"/>
                <a:ea typeface="IBM Plex Sans"/>
              </a:rPr>
              <a:t>• Time travel queries</a:t>
            </a:r>
          </a:p>
          <a:p>
            <a:r>
              <a:rPr lang="en-US" sz="1300" b="0" dirty="0">
                <a:solidFill>
                  <a:srgbClr val="C6C6C6"/>
                </a:solidFill>
                <a:latin typeface="IBM Plex Sans"/>
                <a:ea typeface="IBM Plex Sans"/>
              </a:rPr>
              <a:t>• Rollback of failed commits</a:t>
            </a:r>
          </a:p>
          <a:p>
            <a:r>
              <a:rPr lang="en-US" sz="1300" b="0" dirty="0">
                <a:solidFill>
                  <a:srgbClr val="C6C6C6"/>
                </a:solidFill>
                <a:latin typeface="IBM Plex Sans"/>
                <a:ea typeface="IBM Plex Sans"/>
              </a:rPr>
              <a:t>• Incremental pull (new records since checkpoint)</a:t>
            </a:r>
          </a:p>
        </p:txBody>
      </p:sp>
      <p:sp>
        <p:nvSpPr>
          <p:cNvPr id="100108" name="HudiNote"/>
          <p:cNvSpPr txBox="1"/>
          <p:nvPr/>
        </p:nvSpPr>
        <p:spPr>
          <a:xfrm>
            <a:off x="900000" y="4338000"/>
            <a:ext cx="10080000" cy="360000"/>
          </a:xfrm>
          <a:prstGeom prst="rect">
            <a:avLst/>
          </a:prstGeom>
          <a:solidFill>
            <a:srgbClr val="1C3A5E"/>
          </a:solidFill>
        </p:spPr>
        <p:txBody>
          <a:bodyPr/>
          <a:lstStyle/>
          <a:p>
            <a:r>
              <a:rPr lang="en-US" sz="1300" b="0" dirty="0">
                <a:solidFill>
                  <a:srgbClr val="78A9FF"/>
                </a:solidFill>
                <a:latin typeface="IBM Plex Sans"/>
                <a:ea typeface="IBM Plex Sans"/>
              </a:rPr>
              <a:t>Hudi = Hadoop </a:t>
            </a:r>
            <a:r>
              <a:rPr lang="en-US" sz="1300" b="0" dirty="0" err="1">
                <a:solidFill>
                  <a:srgbClr val="78A9FF"/>
                </a:solidFill>
                <a:latin typeface="IBM Plex Sans"/>
                <a:ea typeface="IBM Plex Sans"/>
              </a:rPr>
              <a:t>Upserts</a:t>
            </a:r>
            <a:r>
              <a:rPr lang="en-US" sz="1300" b="0" dirty="0">
                <a:solidFill>
                  <a:srgbClr val="78A9FF"/>
                </a:solidFill>
                <a:latin typeface="IBM Plex Sans"/>
                <a:ea typeface="IBM Plex Sans"/>
              </a:rPr>
              <a:t> Deletes and </a:t>
            </a:r>
            <a:r>
              <a:rPr lang="en-US" sz="1300" b="0" dirty="0" err="1">
                <a:solidFill>
                  <a:srgbClr val="78A9FF"/>
                </a:solidFill>
                <a:latin typeface="IBM Plex Sans"/>
                <a:ea typeface="IBM Plex Sans"/>
              </a:rPr>
              <a:t>Incrementals</a:t>
            </a:r>
            <a:r>
              <a:rPr lang="en-US" sz="1300" b="0" dirty="0">
                <a:solidFill>
                  <a:srgbClr val="78A9FF"/>
                </a:solidFill>
                <a:latin typeface="IBM Plex Sans"/>
                <a:ea typeface="IBM Plex Sans"/>
              </a:rPr>
              <a:t> — originally created at Uber to solve exactly the five problems on slide 3.</a:t>
            </a:r>
          </a:p>
        </p:txBody>
      </p:sp>
      <p:sp>
        <p:nvSpPr>
          <p:cNvPr id="100109" name="COWTable"/>
          <p:cNvSpPr txBox="1"/>
          <p:nvPr/>
        </p:nvSpPr>
        <p:spPr>
          <a:xfrm>
            <a:off x="900000" y="4842000"/>
            <a:ext cx="10080000" cy="720000"/>
          </a:xfrm>
          <a:prstGeom prst="rect">
            <a:avLst/>
          </a:prstGeom>
          <a:noFill/>
        </p:spPr>
        <p:txBody>
          <a:bodyPr/>
          <a:lstStyle/>
          <a:p>
            <a:r>
              <a:rPr lang="en-US" sz="1100" b="0" dirty="0">
                <a:solidFill>
                  <a:srgbClr val="8D8D8D"/>
                </a:solidFill>
                <a:latin typeface="IBM Plex Mono"/>
                <a:ea typeface="IBM Plex Mono"/>
              </a:rPr>
              <a:t>TABLE TYPE COMPARISON</a:t>
            </a:r>
          </a:p>
          <a:p>
            <a:r>
              <a:rPr lang="en-US" sz="1100" b="0" dirty="0">
                <a:solidFill>
                  <a:srgbClr val="8D8D8D"/>
                </a:solidFill>
                <a:latin typeface="IBM Plex Mono"/>
                <a:ea typeface="IBM Plex Mono"/>
              </a:rPr>
              <a:t>Copy-on-Write (chosen)   |  Slower writes  |  Fastest reads  |  Best for: analytics &amp; BI batch</a:t>
            </a:r>
          </a:p>
          <a:p>
            <a:r>
              <a:rPr lang="en-US" sz="1100" b="0" dirty="0">
                <a:solidFill>
                  <a:srgbClr val="8D8D8D"/>
                </a:solidFill>
                <a:latin typeface="IBM Plex Mono"/>
                <a:ea typeface="IBM Plex Mono"/>
              </a:rPr>
              <a:t>Merge-on-Read            |  Fastest writes |  Slower reads   |  Best for: high-</a:t>
            </a:r>
            <a:r>
              <a:rPr lang="en-US" sz="1100" b="0" dirty="0" err="1">
                <a:solidFill>
                  <a:srgbClr val="8D8D8D"/>
                </a:solidFill>
                <a:latin typeface="IBM Plex Mono"/>
                <a:ea typeface="IBM Plex Mono"/>
              </a:rPr>
              <a:t>freq</a:t>
            </a:r>
            <a:r>
              <a:rPr lang="en-US" sz="1100" b="0" dirty="0">
                <a:solidFill>
                  <a:srgbClr val="8D8D8D"/>
                </a:solidFill>
                <a:latin typeface="IBM Plex Mono"/>
                <a:ea typeface="IBM Plex Mono"/>
              </a:rPr>
              <a:t> streaming CDC</a:t>
            </a:r>
          </a:p>
        </p:txBody>
      </p:sp>
      <p:sp>
        <p:nvSpPr>
          <p:cNvPr id="100110"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111"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112"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09</a:t>
            </a:r>
          </a:p>
        </p:txBody>
      </p:sp>
      <p:sp>
        <p:nvSpPr>
          <p:cNvPr id="100113"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Layer Deep Dive: Hive Metastore</a:t>
            </a:r>
          </a:p>
        </p:txBody>
      </p:sp>
      <p:sp>
        <p:nvSpPr>
          <p:cNvPr id="100114" name="Subtitle"/>
          <p:cNvSpPr txBox="1"/>
          <p:nvPr/>
        </p:nvSpPr>
        <p:spPr>
          <a:xfrm>
            <a:off x="900000" y="972000"/>
            <a:ext cx="10080000" cy="288000"/>
          </a:xfrm>
          <a:prstGeom prst="rect">
            <a:avLst/>
          </a:prstGeom>
          <a:noFill/>
        </p:spPr>
        <p:txBody>
          <a:bodyPr/>
          <a:lstStyle/>
          <a:p>
            <a:r>
              <a:rPr lang="en-US" sz="1600" b="0">
                <a:solidFill>
                  <a:srgbClr val="78A9FF"/>
                </a:solidFill>
                <a:latin typeface="IBM Plex Sans"/>
                <a:ea typeface="IBM Plex Sans"/>
              </a:rPr>
              <a:t>The phone book — how Presto knows where the tables are</a:t>
            </a:r>
          </a:p>
        </p:txBody>
      </p:sp>
      <p:sp>
        <p:nvSpPr>
          <p:cNvPr id="100115" name="FlowBox"/>
          <p:cNvSpPr txBox="1"/>
          <p:nvPr/>
        </p:nvSpPr>
        <p:spPr>
          <a:xfrm>
            <a:off x="900000" y="1368000"/>
            <a:ext cx="4860000" cy="3600000"/>
          </a:xfrm>
          <a:prstGeom prst="rect">
            <a:avLst/>
          </a:prstGeom>
          <a:solidFill>
            <a:srgbClr val="262626"/>
          </a:solidFill>
        </p:spPr>
        <p:txBody>
          <a:bodyPr/>
          <a:lstStyle/>
          <a:p>
            <a:r>
              <a:rPr lang="en-US" sz="1200" b="0">
                <a:solidFill>
                  <a:srgbClr val="C6C6C6"/>
                </a:solidFill>
                <a:latin typeface="IBM Plex Mono"/>
                <a:ea typeface="IBM Plex Mono"/>
              </a:rPr>
              <a:t>HOW CATALOG DISCOVERY WORKS</a:t>
            </a:r>
          </a:p>
          <a:p>
            <a:endParaRPr lang="en-US" sz="1200" b="0">
              <a:solidFill>
                <a:srgbClr val="C6C6C6"/>
              </a:solidFill>
              <a:latin typeface="IBM Plex Mono"/>
              <a:ea typeface="IBM Plex Mono"/>
            </a:endParaRPr>
          </a:p>
          <a:p>
            <a:r>
              <a:rPr lang="en-US" sz="1200" b="0">
                <a:solidFill>
                  <a:srgbClr val="C6C6C6"/>
                </a:solidFill>
                <a:latin typeface="IBM Plex Mono"/>
                <a:ea typeface="IBM Plex Mono"/>
              </a:rPr>
              <a:t>  Spark writes Parquet files to MinIO</a:t>
            </a:r>
          </a:p>
          <a:p>
            <a:r>
              <a:rPr lang="en-US" sz="1200" b="0">
                <a:solidFill>
                  <a:srgbClr val="C6C6C6"/>
                </a:solidFill>
                <a:latin typeface="IBM Plex Mono"/>
                <a:ea typeface="IBM Plex Mono"/>
              </a:rPr>
              <a:t>           |</a:t>
            </a:r>
          </a:p>
          <a:p>
            <a:r>
              <a:rPr lang="en-US" sz="1200" b="0">
                <a:solidFill>
                  <a:srgbClr val="C6C6C6"/>
                </a:solidFill>
                <a:latin typeface="IBM Plex Mono"/>
                <a:ea typeface="IBM Plex Mono"/>
              </a:rPr>
              <a:t>           v</a:t>
            </a:r>
          </a:p>
          <a:p>
            <a:r>
              <a:rPr lang="en-US" sz="1200" b="0">
                <a:solidFill>
                  <a:srgbClr val="C6C6C6"/>
                </a:solidFill>
                <a:latin typeface="IBM Plex Mono"/>
                <a:ea typeface="IBM Plex Mono"/>
              </a:rPr>
              <a:t>  Spark calls Hive Metastore (Thrift :9083)</a:t>
            </a:r>
          </a:p>
          <a:p>
            <a:r>
              <a:rPr lang="en-US" sz="1200" b="0">
                <a:solidFill>
                  <a:srgbClr val="C6C6C6"/>
                </a:solidFill>
                <a:latin typeface="IBM Plex Mono"/>
                <a:ea typeface="IBM Plex Mono"/>
              </a:rPr>
              <a:t>  Records: table name, s3a:// location,</a:t>
            </a:r>
          </a:p>
          <a:p>
            <a:r>
              <a:rPr lang="en-US" sz="1200" b="0">
                <a:solidFill>
                  <a:srgbClr val="C6C6C6"/>
                </a:solidFill>
                <a:latin typeface="IBM Plex Mono"/>
                <a:ea typeface="IBM Plex Mono"/>
              </a:rPr>
              <a:t>  partition list, column schema</a:t>
            </a:r>
          </a:p>
          <a:p>
            <a:r>
              <a:rPr lang="en-US" sz="1200" b="0">
                <a:solidFill>
                  <a:srgbClr val="C6C6C6"/>
                </a:solidFill>
                <a:latin typeface="IBM Plex Mono"/>
                <a:ea typeface="IBM Plex Mono"/>
              </a:rPr>
              <a:t>           |</a:t>
            </a:r>
          </a:p>
          <a:p>
            <a:r>
              <a:rPr lang="en-US" sz="1200" b="0">
                <a:solidFill>
                  <a:srgbClr val="C6C6C6"/>
                </a:solidFill>
                <a:latin typeface="IBM Plex Mono"/>
                <a:ea typeface="IBM Plex Mono"/>
              </a:rPr>
              <a:t>           v</a:t>
            </a:r>
          </a:p>
          <a:p>
            <a:r>
              <a:rPr lang="en-US" sz="1200" b="0">
                <a:solidFill>
                  <a:srgbClr val="C6C6C6"/>
                </a:solidFill>
                <a:latin typeface="IBM Plex Mono"/>
                <a:ea typeface="IBM Plex Mono"/>
              </a:rPr>
              <a:t>  Presto asks Metastore: "Where is github_events?"</a:t>
            </a:r>
          </a:p>
          <a:p>
            <a:r>
              <a:rPr lang="en-US" sz="1200" b="0">
                <a:solidFill>
                  <a:srgbClr val="C6C6C6"/>
                </a:solidFill>
                <a:latin typeface="IBM Plex Mono"/>
                <a:ea typeface="IBM Plex Mono"/>
              </a:rPr>
              <a:t>           |</a:t>
            </a:r>
          </a:p>
          <a:p>
            <a:r>
              <a:rPr lang="en-US" sz="1200" b="0">
                <a:solidFill>
                  <a:srgbClr val="C6C6C6"/>
                </a:solidFill>
                <a:latin typeface="IBM Plex Mono"/>
                <a:ea typeface="IBM Plex Mono"/>
              </a:rPr>
              <a:t>           v</a:t>
            </a:r>
          </a:p>
          <a:p>
            <a:r>
              <a:rPr lang="en-US" sz="1200" b="0">
                <a:solidFill>
                  <a:srgbClr val="C6C6C6"/>
                </a:solidFill>
                <a:latin typeface="IBM Plex Mono"/>
                <a:ea typeface="IBM Plex Mono"/>
              </a:rPr>
              <a:t>  Presto reads Parquet files directly from MinIO</a:t>
            </a:r>
          </a:p>
          <a:p>
            <a:r>
              <a:rPr lang="en-US" sz="1200" b="0">
                <a:solidFill>
                  <a:srgbClr val="C6C6C6"/>
                </a:solidFill>
                <a:latin typeface="IBM Plex Mono"/>
                <a:ea typeface="IBM Plex Mono"/>
              </a:rPr>
              <a:t>  (no data passes through Metastore — it is</a:t>
            </a:r>
          </a:p>
          <a:p>
            <a:r>
              <a:rPr lang="en-US" sz="1200" b="0">
                <a:solidFill>
                  <a:srgbClr val="C6C6C6"/>
                </a:solidFill>
                <a:latin typeface="IBM Plex Mono"/>
                <a:ea typeface="IBM Plex Mono"/>
              </a:rPr>
              <a:t>  only a catalog, not a data proxy)</a:t>
            </a:r>
          </a:p>
        </p:txBody>
      </p:sp>
      <p:sp>
        <p:nvSpPr>
          <p:cNvPr id="100116" name="KeyFacts"/>
          <p:cNvSpPr txBox="1"/>
          <p:nvPr/>
        </p:nvSpPr>
        <p:spPr>
          <a:xfrm>
            <a:off x="6120000" y="1368000"/>
            <a:ext cx="5220000" cy="3600000"/>
          </a:xfrm>
          <a:prstGeom prst="rect">
            <a:avLst/>
          </a:prstGeom>
          <a:solidFill>
            <a:srgbClr val="262626"/>
          </a:solidFill>
        </p:spPr>
        <p:txBody>
          <a:bodyPr/>
          <a:lstStyle/>
          <a:p>
            <a:r>
              <a:rPr lang="en-US" sz="1300" b="0">
                <a:solidFill>
                  <a:srgbClr val="C6C6C6"/>
                </a:solidFill>
                <a:latin typeface="IBM Plex Sans"/>
                <a:ea typeface="IBM Plex Sans"/>
              </a:rPr>
              <a:t>Key facts</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MySQL backs the Metastore schema — 74 internal tables tracking databases, tables, partitions, columns, and stats. MySQL stores the CATALOG, not your data.</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Hive-style partitioning: Parquet files land in directories named type=PushEvent/, type=PullRequestEvent/ etc.</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Partition pruning: When Presto sees WHERE type = 'PushEvent', it reads the Metastore, gets the partition path, and skips all other directories in MinIO entirely.</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Both Spark and Presto speak Thrift to the Metastore — the common language that makes the whole system interoperable.</a:t>
            </a:r>
          </a:p>
        </p:txBody>
      </p:sp>
      <p:sp>
        <p:nvSpPr>
          <p:cNvPr id="100117"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118"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119"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10</a:t>
            </a:r>
          </a:p>
        </p:txBody>
      </p:sp>
      <p:sp>
        <p:nvSpPr>
          <p:cNvPr id="100120"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Layer Deep Dive: PrestoDB Query Engine</a:t>
            </a:r>
          </a:p>
        </p:txBody>
      </p:sp>
      <p:sp>
        <p:nvSpPr>
          <p:cNvPr id="100121" name="Subtitle"/>
          <p:cNvSpPr txBox="1"/>
          <p:nvPr/>
        </p:nvSpPr>
        <p:spPr>
          <a:xfrm>
            <a:off x="900000" y="972000"/>
            <a:ext cx="10080000" cy="288000"/>
          </a:xfrm>
          <a:prstGeom prst="rect">
            <a:avLst/>
          </a:prstGeom>
          <a:noFill/>
        </p:spPr>
        <p:txBody>
          <a:bodyPr/>
          <a:lstStyle/>
          <a:p>
            <a:r>
              <a:rPr lang="en-US" sz="1600" b="0">
                <a:solidFill>
                  <a:srgbClr val="78A9FF"/>
                </a:solidFill>
                <a:latin typeface="IBM Plex Sans"/>
                <a:ea typeface="IBM Plex Sans"/>
              </a:rPr>
              <a:t>Distributed MPP SQL — no data movement, no copies</a:t>
            </a:r>
          </a:p>
        </p:txBody>
      </p:sp>
      <p:sp>
        <p:nvSpPr>
          <p:cNvPr id="100122" name="ArchBox"/>
          <p:cNvSpPr txBox="1"/>
          <p:nvPr/>
        </p:nvSpPr>
        <p:spPr>
          <a:xfrm>
            <a:off x="900000" y="1368000"/>
            <a:ext cx="3600000" cy="2700000"/>
          </a:xfrm>
          <a:prstGeom prst="rect">
            <a:avLst/>
          </a:prstGeom>
          <a:solidFill>
            <a:srgbClr val="262626"/>
          </a:solidFill>
        </p:spPr>
        <p:txBody>
          <a:bodyPr/>
          <a:lstStyle/>
          <a:p>
            <a:r>
              <a:rPr lang="en-US" sz="1200" b="0">
                <a:solidFill>
                  <a:srgbClr val="C6C6C6"/>
                </a:solidFill>
                <a:latin typeface="IBM Plex Mono"/>
                <a:ea typeface="IBM Plex Mono"/>
              </a:rPr>
              <a:t>CLUSTER LAYOUT</a:t>
            </a:r>
          </a:p>
          <a:p>
            <a:endParaRPr lang="en-US" sz="1200" b="0">
              <a:solidFill>
                <a:srgbClr val="C6C6C6"/>
              </a:solidFill>
              <a:latin typeface="IBM Plex Mono"/>
              <a:ea typeface="IBM Plex Mono"/>
            </a:endParaRPr>
          </a:p>
          <a:p>
            <a:r>
              <a:rPr lang="en-US" sz="1200" b="0">
                <a:solidFill>
                  <a:srgbClr val="C6C6C6"/>
                </a:solidFill>
                <a:latin typeface="IBM Plex Mono"/>
                <a:ea typeface="IBM Plex Mono"/>
              </a:rPr>
              <a:t>  presto-server  (Coordinator)</a:t>
            </a:r>
          </a:p>
          <a:p>
            <a:r>
              <a:rPr lang="en-US" sz="1200" b="0">
                <a:solidFill>
                  <a:srgbClr val="C6C6C6"/>
                </a:solidFill>
                <a:latin typeface="IBM Plex Mono"/>
                <a:ea typeface="IBM Plex Mono"/>
              </a:rPr>
              <a:t>  :8080</a:t>
            </a:r>
          </a:p>
          <a:p>
            <a:r>
              <a:rPr lang="en-US" sz="1200" b="0">
                <a:solidFill>
                  <a:srgbClr val="C6C6C6"/>
                </a:solidFill>
                <a:latin typeface="IBM Plex Mono"/>
                <a:ea typeface="IBM Plex Mono"/>
              </a:rPr>
              <a:t>  ├── Routes queries</a:t>
            </a:r>
          </a:p>
          <a:p>
            <a:r>
              <a:rPr lang="en-US" sz="1200" b="0">
                <a:solidFill>
                  <a:srgbClr val="C6C6C6"/>
                </a:solidFill>
                <a:latin typeface="IBM Plex Mono"/>
                <a:ea typeface="IBM Plex Mono"/>
              </a:rPr>
              <a:t>  ├── Parses + plans SQL</a:t>
            </a:r>
          </a:p>
          <a:p>
            <a:r>
              <a:rPr lang="en-US" sz="1200" b="0">
                <a:solidFill>
                  <a:srgbClr val="C6C6C6"/>
                </a:solidFill>
                <a:latin typeface="IBM Plex Mono"/>
                <a:ea typeface="IBM Plex Mono"/>
              </a:rPr>
              <a:t>  └── Aggregates results</a:t>
            </a:r>
          </a:p>
          <a:p>
            <a:endParaRPr lang="en-US" sz="1200" b="0">
              <a:solidFill>
                <a:srgbClr val="C6C6C6"/>
              </a:solidFill>
              <a:latin typeface="IBM Plex Mono"/>
              <a:ea typeface="IBM Plex Mono"/>
            </a:endParaRPr>
          </a:p>
          <a:p>
            <a:r>
              <a:rPr lang="en-US" sz="1200" b="0">
                <a:solidFill>
                  <a:srgbClr val="C6C6C6"/>
                </a:solidFill>
                <a:latin typeface="IBM Plex Mono"/>
                <a:ea typeface="IBM Plex Mono"/>
              </a:rPr>
              <a:t>  presto-worker-1</a:t>
            </a:r>
          </a:p>
          <a:p>
            <a:r>
              <a:rPr lang="en-US" sz="1200" b="0">
                <a:solidFill>
                  <a:srgbClr val="C6C6C6"/>
                </a:solidFill>
                <a:latin typeface="IBM Plex Mono"/>
                <a:ea typeface="IBM Plex Mono"/>
              </a:rPr>
              <a:t>  presto-worker-2</a:t>
            </a:r>
          </a:p>
          <a:p>
            <a:r>
              <a:rPr lang="en-US" sz="1200" b="0">
                <a:solidFill>
                  <a:srgbClr val="C6C6C6"/>
                </a:solidFill>
                <a:latin typeface="IBM Plex Mono"/>
                <a:ea typeface="IBM Plex Mono"/>
              </a:rPr>
              <a:t>  ├── Execute scan tasks</a:t>
            </a:r>
          </a:p>
          <a:p>
            <a:r>
              <a:rPr lang="en-US" sz="1200" b="0">
                <a:solidFill>
                  <a:srgbClr val="C6C6C6"/>
                </a:solidFill>
                <a:latin typeface="IBM Plex Mono"/>
                <a:ea typeface="IBM Plex Mono"/>
              </a:rPr>
              <a:t>  ├── Read Parquet from MinIO</a:t>
            </a:r>
          </a:p>
          <a:p>
            <a:r>
              <a:rPr lang="en-US" sz="1200" b="0">
                <a:solidFill>
                  <a:srgbClr val="C6C6C6"/>
                </a:solidFill>
                <a:latin typeface="IBM Plex Mono"/>
                <a:ea typeface="IBM Plex Mono"/>
              </a:rPr>
              <a:t>  └── Return data to coordinator</a:t>
            </a:r>
          </a:p>
        </p:txBody>
      </p:sp>
      <p:sp>
        <p:nvSpPr>
          <p:cNvPr id="100123" name="WhyBox"/>
          <p:cNvSpPr txBox="1"/>
          <p:nvPr/>
        </p:nvSpPr>
        <p:spPr>
          <a:xfrm>
            <a:off x="4860000" y="1368000"/>
            <a:ext cx="6300000" cy="2700000"/>
          </a:xfrm>
          <a:prstGeom prst="rect">
            <a:avLst/>
          </a:prstGeom>
          <a:solidFill>
            <a:srgbClr val="262626"/>
          </a:solidFill>
        </p:spPr>
        <p:txBody>
          <a:bodyPr/>
          <a:lstStyle/>
          <a:p>
            <a:r>
              <a:rPr lang="en-US" sz="1400" b="0">
                <a:solidFill>
                  <a:srgbClr val="C6C6C6"/>
                </a:solidFill>
                <a:latin typeface="IBM Plex Sans"/>
                <a:ea typeface="IBM Plex Sans"/>
              </a:rPr>
              <a:t>Why Presto over Spark SQL for queries?</a:t>
            </a:r>
          </a:p>
          <a:p>
            <a:endParaRPr lang="en-US" sz="1400" b="0">
              <a:solidFill>
                <a:srgbClr val="C6C6C6"/>
              </a:solidFill>
              <a:latin typeface="IBM Plex Sans"/>
              <a:ea typeface="IBM Plex Sans"/>
            </a:endParaRPr>
          </a:p>
          <a:p>
            <a:r>
              <a:rPr lang="en-US" sz="1400" b="0">
                <a:solidFill>
                  <a:srgbClr val="C6C6C6"/>
                </a:solidFill>
                <a:latin typeface="IBM Plex Sans"/>
                <a:ea typeface="IBM Plex Sans"/>
              </a:rPr>
              <a:t>• Purpose-built for low-latency interactive queries — minimal startup overhead vs Spark session</a:t>
            </a:r>
          </a:p>
          <a:p>
            <a:endParaRPr lang="en-US" sz="1400" b="0">
              <a:solidFill>
                <a:srgbClr val="C6C6C6"/>
              </a:solidFill>
              <a:latin typeface="IBM Plex Sans"/>
              <a:ea typeface="IBM Plex Sans"/>
            </a:endParaRPr>
          </a:p>
          <a:p>
            <a:r>
              <a:rPr lang="en-US" sz="1400" b="0">
                <a:solidFill>
                  <a:srgbClr val="C6C6C6"/>
                </a:solidFill>
                <a:latin typeface="IBM Plex Sans"/>
                <a:ea typeface="IBM Plex Sans"/>
              </a:rPr>
              <a:t>• Separate query layer scales readers and writers independently</a:t>
            </a:r>
          </a:p>
          <a:p>
            <a:endParaRPr lang="en-US" sz="1400" b="0">
              <a:solidFill>
                <a:srgbClr val="C6C6C6"/>
              </a:solidFill>
              <a:latin typeface="IBM Plex Sans"/>
              <a:ea typeface="IBM Plex Sans"/>
            </a:endParaRPr>
          </a:p>
          <a:p>
            <a:r>
              <a:rPr lang="en-US" sz="1400" b="0">
                <a:solidFill>
                  <a:srgbClr val="C6C6C6"/>
                </a:solidFill>
                <a:latin typeface="IBM Plex Sans"/>
                <a:ea typeface="IBM Plex Sans"/>
              </a:rPr>
              <a:t>• Standard ANSI SQL — any BI tool (Superset, Tableau, Looker) connects via JDBC/PyHive</a:t>
            </a:r>
          </a:p>
          <a:p>
            <a:endParaRPr lang="en-US" sz="1400" b="0">
              <a:solidFill>
                <a:srgbClr val="C6C6C6"/>
              </a:solidFill>
              <a:latin typeface="IBM Plex Sans"/>
              <a:ea typeface="IBM Plex Sans"/>
            </a:endParaRPr>
          </a:p>
          <a:p>
            <a:r>
              <a:rPr lang="en-US" sz="1400" b="0">
                <a:solidFill>
                  <a:srgbClr val="C6C6C6"/>
                </a:solidFill>
                <a:latin typeface="IBM Plex Sans"/>
                <a:ea typeface="IBM Plex Sans"/>
              </a:rPr>
              <a:t>• Demonstrates the open table format principle: any engine can read Hudi tables — Spark owns writes, Presto owns reads</a:t>
            </a:r>
          </a:p>
        </p:txBody>
      </p:sp>
      <p:sp>
        <p:nvSpPr>
          <p:cNvPr id="100124" name="ReadOnly"/>
          <p:cNvSpPr txBox="1"/>
          <p:nvPr/>
        </p:nvSpPr>
        <p:spPr>
          <a:xfrm>
            <a:off x="900000" y="4248000"/>
            <a:ext cx="10080000" cy="540000"/>
          </a:xfrm>
          <a:prstGeom prst="rect">
            <a:avLst/>
          </a:prstGeom>
          <a:solidFill>
            <a:srgbClr val="0353E9"/>
          </a:solidFill>
        </p:spPr>
        <p:txBody>
          <a:bodyPr/>
          <a:lstStyle/>
          <a:p>
            <a:r>
              <a:rPr lang="en-US" sz="1300" b="0">
                <a:solidFill>
                  <a:srgbClr val="F4F4F4"/>
                </a:solidFill>
                <a:latin typeface="IBM Plex Sans"/>
                <a:ea typeface="IBM Plex Sans"/>
              </a:rPr>
              <a:t>The Presto Hudi connector is READ-ONLY  (SELECT only). All writes — upserts, deletes, schema changes — go through Apache Spark. This is by design: clean separation of read path and write path.</a:t>
            </a:r>
          </a:p>
        </p:txBody>
      </p:sp>
      <p:sp>
        <p:nvSpPr>
          <p:cNvPr id="100125"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126"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127"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11</a:t>
            </a:r>
          </a:p>
        </p:txBody>
      </p:sp>
      <p:sp>
        <p:nvSpPr>
          <p:cNvPr id="100128"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Layer Deep Dive: Airflow Pipeline</a:t>
            </a:r>
          </a:p>
        </p:txBody>
      </p:sp>
      <p:sp>
        <p:nvSpPr>
          <p:cNvPr id="100129" name="Subtitle"/>
          <p:cNvSpPr txBox="1"/>
          <p:nvPr/>
        </p:nvSpPr>
        <p:spPr>
          <a:xfrm>
            <a:off x="900000" y="972000"/>
            <a:ext cx="10080000" cy="288000"/>
          </a:xfrm>
          <a:prstGeom prst="rect">
            <a:avLst/>
          </a:prstGeom>
          <a:noFill/>
        </p:spPr>
        <p:txBody>
          <a:bodyPr/>
          <a:lstStyle/>
          <a:p>
            <a:r>
              <a:rPr lang="en-US" sz="1600" b="0">
                <a:solidFill>
                  <a:srgbClr val="78A9FF"/>
                </a:solidFill>
                <a:latin typeface="IBM Plex Sans"/>
                <a:ea typeface="IBM Plex Sans"/>
              </a:rPr>
              <a:t>Three tasks · one DAG · automated daily</a:t>
            </a:r>
          </a:p>
        </p:txBody>
      </p:sp>
      <p:sp>
        <p:nvSpPr>
          <p:cNvPr id="100130" name="T1Box"/>
          <p:cNvSpPr txBox="1"/>
          <p:nvPr/>
        </p:nvSpPr>
        <p:spPr>
          <a:xfrm>
            <a:off x="900000" y="1368000"/>
            <a:ext cx="3060000" cy="2484000"/>
          </a:xfrm>
          <a:prstGeom prst="rect">
            <a:avLst/>
          </a:prstGeom>
          <a:solidFill>
            <a:srgbClr val="262626"/>
          </a:solidFill>
        </p:spPr>
        <p:txBody>
          <a:bodyPr/>
          <a:lstStyle/>
          <a:p>
            <a:r>
              <a:rPr lang="en-US" sz="1200" b="0" dirty="0">
                <a:solidFill>
                  <a:srgbClr val="C6C6C6"/>
                </a:solidFill>
                <a:latin typeface="IBM Plex Sans"/>
                <a:ea typeface="IBM Plex Sans"/>
              </a:rPr>
              <a:t>TASK 1</a:t>
            </a:r>
          </a:p>
          <a:p>
            <a:r>
              <a:rPr lang="en-US" sz="1200" b="0" dirty="0" err="1">
                <a:solidFill>
                  <a:srgbClr val="C6C6C6"/>
                </a:solidFill>
                <a:latin typeface="IBM Plex Sans"/>
                <a:ea typeface="IBM Plex Sans"/>
              </a:rPr>
              <a:t>download_and_upload_raw_data</a:t>
            </a:r>
            <a:endParaRPr lang="en-US" sz="1200" b="0" dirty="0">
              <a:solidFill>
                <a:srgbClr val="C6C6C6"/>
              </a:solidFill>
              <a:latin typeface="IBM Plex Sans"/>
              <a:ea typeface="IBM Plex Sans"/>
            </a:endParaRPr>
          </a:p>
          <a:p>
            <a:endParaRPr lang="en-US" sz="1200" b="0" dirty="0">
              <a:solidFill>
                <a:srgbClr val="C6C6C6"/>
              </a:solidFill>
              <a:latin typeface="IBM Plex Sans"/>
              <a:ea typeface="IBM Plex Sans"/>
            </a:endParaRPr>
          </a:p>
          <a:p>
            <a:r>
              <a:rPr lang="en-US" sz="1200" b="0" dirty="0">
                <a:solidFill>
                  <a:srgbClr val="C6C6C6"/>
                </a:solidFill>
                <a:latin typeface="IBM Plex Sans"/>
                <a:ea typeface="IBM Plex Sans"/>
              </a:rPr>
              <a:t>• Fetches 24 hourly .</a:t>
            </a:r>
            <a:r>
              <a:rPr lang="en-US" sz="1200" b="0" dirty="0" err="1">
                <a:solidFill>
                  <a:srgbClr val="C6C6C6"/>
                </a:solidFill>
                <a:latin typeface="IBM Plex Sans"/>
                <a:ea typeface="IBM Plex Sans"/>
              </a:rPr>
              <a:t>json.gz</a:t>
            </a:r>
            <a:r>
              <a:rPr lang="en-US" sz="1200" b="0" dirty="0">
                <a:solidFill>
                  <a:srgbClr val="C6C6C6"/>
                </a:solidFill>
                <a:latin typeface="IBM Plex Sans"/>
                <a:ea typeface="IBM Plex Sans"/>
              </a:rPr>
              <a:t> files from </a:t>
            </a:r>
            <a:r>
              <a:rPr lang="en-US" sz="1200" b="0" dirty="0" err="1">
                <a:solidFill>
                  <a:srgbClr val="C6C6C6"/>
                </a:solidFill>
                <a:latin typeface="IBM Plex Sans"/>
                <a:ea typeface="IBM Plex Sans"/>
              </a:rPr>
              <a:t>gharchive.org</a:t>
            </a:r>
            <a:endParaRPr lang="en-US" sz="1200" b="0" dirty="0">
              <a:solidFill>
                <a:srgbClr val="C6C6C6"/>
              </a:solidFill>
              <a:latin typeface="IBM Plex Sans"/>
              <a:ea typeface="IBM Plex Sans"/>
            </a:endParaRPr>
          </a:p>
          <a:p>
            <a:r>
              <a:rPr lang="en-US" sz="1200" b="0" dirty="0">
                <a:solidFill>
                  <a:srgbClr val="C6C6C6"/>
                </a:solidFill>
                <a:latin typeface="IBM Plex Sans"/>
                <a:ea typeface="IBM Plex Sans"/>
              </a:rPr>
              <a:t>• Uploads each to </a:t>
            </a:r>
            <a:r>
              <a:rPr lang="en-US" sz="1200" b="0" dirty="0" err="1">
                <a:solidFill>
                  <a:srgbClr val="C6C6C6"/>
                </a:solidFill>
                <a:latin typeface="IBM Plex Sans"/>
                <a:ea typeface="IBM Plex Sans"/>
              </a:rPr>
              <a:t>MinIO</a:t>
            </a:r>
            <a:r>
              <a:rPr lang="en-US" sz="1200" b="0" dirty="0">
                <a:solidFill>
                  <a:srgbClr val="C6C6C6"/>
                </a:solidFill>
                <a:latin typeface="IBM Plex Sans"/>
                <a:ea typeface="IBM Plex Sans"/>
              </a:rPr>
              <a:t> s3://</a:t>
            </a:r>
            <a:r>
              <a:rPr lang="en-US" sz="1200" b="0" dirty="0" err="1">
                <a:solidFill>
                  <a:srgbClr val="C6C6C6"/>
                </a:solidFill>
                <a:latin typeface="IBM Plex Sans"/>
                <a:ea typeface="IBM Plex Sans"/>
              </a:rPr>
              <a:t>github</a:t>
            </a:r>
            <a:r>
              <a:rPr lang="en-US" sz="1200" b="0" dirty="0">
                <a:solidFill>
                  <a:srgbClr val="C6C6C6"/>
                </a:solidFill>
                <a:latin typeface="IBM Plex Sans"/>
                <a:ea typeface="IBM Plex Sans"/>
              </a:rPr>
              <a:t>-raw-data/</a:t>
            </a:r>
            <a:r>
              <a:rPr lang="en-US" sz="1200" b="0" dirty="0" err="1">
                <a:solidFill>
                  <a:srgbClr val="C6C6C6"/>
                </a:solidFill>
                <a:latin typeface="IBM Plex Sans"/>
                <a:ea typeface="IBM Plex Sans"/>
              </a:rPr>
              <a:t>github</a:t>
            </a:r>
            <a:r>
              <a:rPr lang="en-US" sz="1200" b="0" dirty="0">
                <a:solidFill>
                  <a:srgbClr val="C6C6C6"/>
                </a:solidFill>
                <a:latin typeface="IBM Plex Sans"/>
                <a:ea typeface="IBM Plex Sans"/>
              </a:rPr>
              <a:t>-raw/</a:t>
            </a:r>
          </a:p>
          <a:p>
            <a:r>
              <a:rPr lang="en-US" sz="1200" b="0" dirty="0">
                <a:solidFill>
                  <a:srgbClr val="C6C6C6"/>
                </a:solidFill>
                <a:latin typeface="IBM Plex Sans"/>
                <a:ea typeface="IBM Plex Sans"/>
              </a:rPr>
              <a:t>• Cleans up previous batch first (idempotent runs)</a:t>
            </a:r>
          </a:p>
          <a:p>
            <a:r>
              <a:rPr lang="en-US" sz="1200" b="0" dirty="0">
                <a:solidFill>
                  <a:srgbClr val="C6C6C6"/>
                </a:solidFill>
                <a:latin typeface="IBM Plex Sans"/>
                <a:ea typeface="IBM Plex Sans"/>
              </a:rPr>
              <a:t>• 3 retry attempts per file with exponential back-off</a:t>
            </a:r>
          </a:p>
          <a:p>
            <a:r>
              <a:rPr lang="en-US" sz="1200" b="0" dirty="0">
                <a:solidFill>
                  <a:srgbClr val="C6C6C6"/>
                </a:solidFill>
                <a:latin typeface="IBM Plex Sans"/>
                <a:ea typeface="IBM Plex Sans"/>
              </a:rPr>
              <a:t>• Fails safely if ALL 24 files fail — partial success is allowed</a:t>
            </a:r>
          </a:p>
        </p:txBody>
      </p:sp>
      <p:sp>
        <p:nvSpPr>
          <p:cNvPr id="100131" name="Arrow1"/>
          <p:cNvSpPr txBox="1"/>
          <p:nvPr/>
        </p:nvSpPr>
        <p:spPr>
          <a:xfrm>
            <a:off x="1944000" y="3636000"/>
            <a:ext cx="1008000" cy="252000"/>
          </a:xfrm>
          <a:prstGeom prst="rect">
            <a:avLst/>
          </a:prstGeom>
          <a:noFill/>
        </p:spPr>
        <p:txBody>
          <a:bodyPr/>
          <a:lstStyle/>
          <a:p>
            <a:r>
              <a:rPr lang="en-US" sz="1600" b="1">
                <a:solidFill>
                  <a:srgbClr val="0F62FE"/>
                </a:solidFill>
                <a:latin typeface="IBM Plex Sans"/>
                <a:ea typeface="IBM Plex Sans"/>
              </a:rPr>
              <a:t>▼</a:t>
            </a:r>
          </a:p>
        </p:txBody>
      </p:sp>
      <p:sp>
        <p:nvSpPr>
          <p:cNvPr id="100132" name="T2Box"/>
          <p:cNvSpPr txBox="1"/>
          <p:nvPr/>
        </p:nvSpPr>
        <p:spPr>
          <a:xfrm>
            <a:off x="900000" y="3924000"/>
            <a:ext cx="3060000" cy="2430000"/>
          </a:xfrm>
          <a:prstGeom prst="rect">
            <a:avLst/>
          </a:prstGeom>
          <a:solidFill>
            <a:srgbClr val="262626"/>
          </a:solidFill>
        </p:spPr>
        <p:txBody>
          <a:bodyPr/>
          <a:lstStyle/>
          <a:p>
            <a:r>
              <a:rPr lang="en-US" sz="1200" b="0">
                <a:solidFill>
                  <a:srgbClr val="C6C6C6"/>
                </a:solidFill>
                <a:latin typeface="IBM Plex Sans"/>
                <a:ea typeface="IBM Plex Sans"/>
              </a:rPr>
              <a:t>TASK 2</a:t>
            </a:r>
          </a:p>
          <a:p>
            <a:r>
              <a:rPr lang="en-US" sz="1200" b="0">
                <a:solidFill>
                  <a:srgbClr val="C6C6C6"/>
                </a:solidFill>
                <a:latin typeface="IBM Plex Sans"/>
                <a:ea typeface="IBM Plex Sans"/>
              </a:rPr>
              <a:t>trigger_hudi_ingestion</a:t>
            </a:r>
          </a:p>
          <a:p>
            <a:endParaRPr lang="en-US" sz="1200" b="0">
              <a:solidFill>
                <a:srgbClr val="C6C6C6"/>
              </a:solidFill>
              <a:latin typeface="IBM Plex Sans"/>
              <a:ea typeface="IBM Plex Sans"/>
            </a:endParaRPr>
          </a:p>
          <a:p>
            <a:r>
              <a:rPr lang="en-US" sz="1200" b="0">
                <a:solidFill>
                  <a:srgbClr val="C6C6C6"/>
                </a:solidFill>
                <a:latin typeface="IBM Plex Sans"/>
                <a:ea typeface="IBM Plex Sans"/>
              </a:rPr>
              <a:t>• Calls docker exec into spark-client container</a:t>
            </a:r>
          </a:p>
          <a:p>
            <a:r>
              <a:rPr lang="en-US" sz="1200" b="0">
                <a:solidFill>
                  <a:srgbClr val="C6C6C6"/>
                </a:solidFill>
                <a:latin typeface="IBM Plex Sans"/>
                <a:ea typeface="IBM Plex Sans"/>
              </a:rPr>
              <a:t>• Runs HoodieStreamer: JSON → Hudi COW table on MinIO</a:t>
            </a:r>
          </a:p>
          <a:p>
            <a:r>
              <a:rPr lang="en-US" sz="1200" b="0">
                <a:solidFill>
                  <a:srgbClr val="C6C6C6"/>
                </a:solidFill>
                <a:latin typeface="IBM Plex Sans"/>
                <a:ea typeface="IBM Plex Sans"/>
              </a:rPr>
              <a:t>• Hudi syncs table definition to Hive Metastore</a:t>
            </a:r>
          </a:p>
          <a:p>
            <a:r>
              <a:rPr lang="en-US" sz="1200" b="0">
                <a:solidFill>
                  <a:srgbClr val="C6C6C6"/>
                </a:solidFill>
                <a:latin typeface="IBM Plex Sans"/>
                <a:ea typeface="IBM Plex Sans"/>
              </a:rPr>
              <a:t>• Circuit breaker: fails if output contains 'Nothing to commit'</a:t>
            </a:r>
          </a:p>
          <a:p>
            <a:r>
              <a:rPr lang="en-US" sz="1200" b="0">
                <a:solidFill>
                  <a:srgbClr val="C6C6C6"/>
                </a:solidFill>
                <a:latin typeface="IBM Plex Sans"/>
                <a:ea typeface="IBM Plex Sans"/>
              </a:rPr>
              <a:t>  (prevents silent false-green when 0 records ingested)</a:t>
            </a:r>
          </a:p>
        </p:txBody>
      </p:sp>
      <p:sp>
        <p:nvSpPr>
          <p:cNvPr id="100133" name="Arrow2"/>
          <p:cNvSpPr txBox="1"/>
          <p:nvPr/>
        </p:nvSpPr>
        <p:spPr>
          <a:xfrm>
            <a:off x="1944000" y="5976000"/>
            <a:ext cx="1008000" cy="252000"/>
          </a:xfrm>
          <a:prstGeom prst="rect">
            <a:avLst/>
          </a:prstGeom>
          <a:noFill/>
        </p:spPr>
        <p:txBody>
          <a:bodyPr/>
          <a:lstStyle/>
          <a:p>
            <a:r>
              <a:rPr lang="en-US" sz="1600" b="1">
                <a:solidFill>
                  <a:srgbClr val="0F62FE"/>
                </a:solidFill>
                <a:latin typeface="IBM Plex Sans"/>
                <a:ea typeface="IBM Plex Sans"/>
              </a:rPr>
              <a:t>▼</a:t>
            </a:r>
          </a:p>
        </p:txBody>
      </p:sp>
      <p:sp>
        <p:nvSpPr>
          <p:cNvPr id="100134" name="T3Label"/>
          <p:cNvSpPr txBox="1"/>
          <p:nvPr/>
        </p:nvSpPr>
        <p:spPr>
          <a:xfrm>
            <a:off x="4401081" y="5859000"/>
            <a:ext cx="7200000" cy="216000"/>
          </a:xfrm>
          <a:prstGeom prst="rect">
            <a:avLst/>
          </a:prstGeom>
          <a:noFill/>
        </p:spPr>
        <p:txBody>
          <a:bodyPr/>
          <a:lstStyle/>
          <a:p>
            <a:r>
              <a:rPr lang="en-US" sz="1100" b="0" dirty="0">
                <a:solidFill>
                  <a:srgbClr val="78A9FF"/>
                </a:solidFill>
                <a:latin typeface="IBM Plex Mono"/>
                <a:ea typeface="IBM Plex Mono"/>
              </a:rPr>
              <a:t>TASK 3  →  </a:t>
            </a:r>
            <a:r>
              <a:rPr lang="en-US" sz="1100" b="0" dirty="0" err="1">
                <a:solidFill>
                  <a:srgbClr val="78A9FF"/>
                </a:solidFill>
                <a:latin typeface="IBM Plex Mono"/>
                <a:ea typeface="IBM Plex Mono"/>
              </a:rPr>
              <a:t>run_data_quality_assertions</a:t>
            </a:r>
            <a:r>
              <a:rPr lang="en-US" sz="1100" b="0" dirty="0">
                <a:solidFill>
                  <a:srgbClr val="78A9FF"/>
                </a:solidFill>
                <a:latin typeface="IBM Plex Mono"/>
                <a:ea typeface="IBM Plex Mono"/>
              </a:rPr>
              <a:t>  (5 SQL checks via Presto)</a:t>
            </a:r>
          </a:p>
        </p:txBody>
      </p:sp>
      <p:sp>
        <p:nvSpPr>
          <p:cNvPr id="100135" name="DQBox"/>
          <p:cNvSpPr txBox="1"/>
          <p:nvPr/>
        </p:nvSpPr>
        <p:spPr>
          <a:xfrm>
            <a:off x="4320000" y="1368000"/>
            <a:ext cx="7020000" cy="3240000"/>
          </a:xfrm>
          <a:prstGeom prst="rect">
            <a:avLst/>
          </a:prstGeom>
          <a:solidFill>
            <a:srgbClr val="1C3A5E"/>
          </a:solidFill>
        </p:spPr>
        <p:txBody>
          <a:bodyPr/>
          <a:lstStyle/>
          <a:p>
            <a:r>
              <a:rPr lang="en-US" sz="1300" b="0">
                <a:solidFill>
                  <a:srgbClr val="C6C6C6"/>
                </a:solidFill>
                <a:latin typeface="IBM Plex Sans"/>
                <a:ea typeface="IBM Plex Sans"/>
              </a:rPr>
              <a:t>DATA QUALITY GATE — 5 Checks via PyHive → Presto</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[1] Batch volume: at least 1 row committed in the latest batch</a:t>
            </a:r>
          </a:p>
          <a:p>
            <a:r>
              <a:rPr lang="en-US" sz="1300" b="0">
                <a:solidFill>
                  <a:srgbClr val="C6C6C6"/>
                </a:solidFill>
                <a:latin typeface="IBM Plex Sans"/>
                <a:ea typeface="IBM Plex Sans"/>
              </a:rPr>
              <a:t>[2] Primary key integrity: zero NULL or empty id values</a:t>
            </a:r>
          </a:p>
          <a:p>
            <a:r>
              <a:rPr lang="en-US" sz="1300" b="0">
                <a:solidFill>
                  <a:srgbClr val="C6C6C6"/>
                </a:solidFill>
                <a:latin typeface="IBM Plex Sans"/>
                <a:ea typeface="IBM Plex Sans"/>
              </a:rPr>
              <a:t>[3] Deduplication: count(id) = count(DISTINCT id) — no duplicate event IDs</a:t>
            </a:r>
          </a:p>
          <a:p>
            <a:r>
              <a:rPr lang="en-US" sz="1300" b="0">
                <a:solidFill>
                  <a:srgbClr val="C6C6C6"/>
                </a:solidFill>
                <a:latin typeface="IBM Plex Sans"/>
                <a:ea typeface="IBM Plex Sans"/>
              </a:rPr>
              <a:t>[4] Data freshness: max(created_at) within the past 24 hours</a:t>
            </a:r>
          </a:p>
          <a:p>
            <a:r>
              <a:rPr lang="en-US" sz="1300" b="0">
                <a:solidFill>
                  <a:srgbClr val="C6C6C6"/>
                </a:solidFill>
                <a:latin typeface="IBM Plex Sans"/>
                <a:ea typeface="IBM Plex Sans"/>
              </a:rPr>
              <a:t>[5] Partition completeness: at least 2 distinct event type partitions active</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Failure on any check → Slack/webhook alert fires automatically</a:t>
            </a:r>
          </a:p>
        </p:txBody>
      </p:sp>
      <p:sp>
        <p:nvSpPr>
          <p:cNvPr id="100136" name="ProdNote"/>
          <p:cNvSpPr txBox="1"/>
          <p:nvPr/>
        </p:nvSpPr>
        <p:spPr>
          <a:xfrm>
            <a:off x="4320000" y="4788000"/>
            <a:ext cx="7020000" cy="720000"/>
          </a:xfrm>
          <a:prstGeom prst="rect">
            <a:avLst/>
          </a:prstGeom>
          <a:noFill/>
        </p:spPr>
        <p:txBody>
          <a:bodyPr/>
          <a:lstStyle/>
          <a:p>
            <a:r>
              <a:rPr lang="en-US" sz="1200" b="0">
                <a:solidFill>
                  <a:srgbClr val="8D8D8D"/>
                </a:solidFill>
                <a:latin typeface="IBM Plex Sans"/>
                <a:ea typeface="IBM Plex Sans"/>
              </a:rPr>
              <a:t>Production note: Airflow mounts the Docker socket to exec into spark-client. This keeps the Airflow container lightweight (no Java/JARs). In production: use Apache Livy or the Kubernetes Spark Operator instead.</a:t>
            </a:r>
          </a:p>
        </p:txBody>
      </p:sp>
      <p:sp>
        <p:nvSpPr>
          <p:cNvPr id="100137"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138"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139"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12</a:t>
            </a:r>
          </a:p>
        </p:txBody>
      </p:sp>
      <p:sp>
        <p:nvSpPr>
          <p:cNvPr id="100140"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Data Flow End-to-End</a:t>
            </a:r>
          </a:p>
        </p:txBody>
      </p:sp>
      <p:sp>
        <p:nvSpPr>
          <p:cNvPr id="100141" name="Subtitle"/>
          <p:cNvSpPr txBox="1"/>
          <p:nvPr/>
        </p:nvSpPr>
        <p:spPr>
          <a:xfrm>
            <a:off x="900000" y="972000"/>
            <a:ext cx="10080000" cy="288000"/>
          </a:xfrm>
          <a:prstGeom prst="rect">
            <a:avLst/>
          </a:prstGeom>
          <a:noFill/>
        </p:spPr>
        <p:txBody>
          <a:bodyPr/>
          <a:lstStyle/>
          <a:p>
            <a:r>
              <a:rPr lang="en-US" sz="1500" b="0">
                <a:solidFill>
                  <a:srgbClr val="78A9FF"/>
                </a:solidFill>
                <a:latin typeface="IBM Plex Sans"/>
                <a:ea typeface="IBM Plex Sans"/>
              </a:rPr>
              <a:t>Two decoupled flows: WRITE path (left → right) and READ path (right → left)</a:t>
            </a:r>
          </a:p>
        </p:txBody>
      </p:sp>
      <p:sp>
        <p:nvSpPr>
          <p:cNvPr id="100142" name="WriteLabel"/>
          <p:cNvSpPr txBox="1"/>
          <p:nvPr/>
        </p:nvSpPr>
        <p:spPr>
          <a:xfrm>
            <a:off x="900000" y="1332000"/>
            <a:ext cx="1800000" cy="216000"/>
          </a:xfrm>
          <a:prstGeom prst="rect">
            <a:avLst/>
          </a:prstGeom>
          <a:noFill/>
        </p:spPr>
        <p:txBody>
          <a:bodyPr/>
          <a:lstStyle/>
          <a:p>
            <a:r>
              <a:rPr lang="en-US" sz="1200" b="1">
                <a:solidFill>
                  <a:srgbClr val="0F62FE"/>
                </a:solidFill>
                <a:latin typeface="IBM Plex Sans"/>
                <a:ea typeface="IBM Plex Sans"/>
              </a:rPr>
              <a:t>WRITE PATH</a:t>
            </a:r>
          </a:p>
        </p:txBody>
      </p:sp>
      <p:sp>
        <p:nvSpPr>
          <p:cNvPr id="100143" name="WriteFlow"/>
          <p:cNvSpPr txBox="1"/>
          <p:nvPr/>
        </p:nvSpPr>
        <p:spPr>
          <a:xfrm>
            <a:off x="900000" y="1620000"/>
            <a:ext cx="4680000" cy="4140000"/>
          </a:xfrm>
          <a:prstGeom prst="rect">
            <a:avLst/>
          </a:prstGeom>
          <a:solidFill>
            <a:srgbClr val="262626"/>
          </a:solidFill>
        </p:spPr>
        <p:txBody>
          <a:bodyPr/>
          <a:lstStyle/>
          <a:p>
            <a:r>
              <a:rPr lang="en-US" sz="1100" b="0">
                <a:solidFill>
                  <a:srgbClr val="C6C6C6"/>
                </a:solidFill>
                <a:latin typeface="IBM Plex Mono"/>
                <a:ea typeface="IBM Plex Mono"/>
              </a:rPr>
              <a:t>gharchive.org</a:t>
            </a:r>
          </a:p>
          <a:p>
            <a:r>
              <a:rPr lang="en-US" sz="1100" b="0">
                <a:solidFill>
                  <a:srgbClr val="C6C6C6"/>
                </a:solidFill>
                <a:latin typeface="IBM Plex Mono"/>
                <a:ea typeface="IBM Plex Mono"/>
              </a:rPr>
              <a:t>.json.gz hourly dumps</a:t>
            </a:r>
          </a:p>
          <a:p>
            <a:r>
              <a:rPr lang="en-US" sz="1100" b="0">
                <a:solidFill>
                  <a:srgbClr val="C6C6C6"/>
                </a:solidFill>
                <a:latin typeface="IBM Plex Mono"/>
                <a:ea typeface="IBM Plex Mono"/>
              </a:rPr>
              <a:t>(~50–150 MB each)</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a:t>
            </a:r>
          </a:p>
          <a:p>
            <a:r>
              <a:rPr lang="en-US" sz="1100" b="0">
                <a:solidFill>
                  <a:srgbClr val="C6C6C6"/>
                </a:solidFill>
                <a:latin typeface="IBM Plex Mono"/>
                <a:ea typeface="IBM Plex Mono"/>
              </a:rPr>
              <a:t>Airflow Task 1</a:t>
            </a:r>
          </a:p>
          <a:p>
            <a:r>
              <a:rPr lang="en-US" sz="1100" b="0">
                <a:solidFill>
                  <a:srgbClr val="C6C6C6"/>
                </a:solidFill>
                <a:latin typeface="IBM Plex Mono"/>
                <a:ea typeface="IBM Plex Mono"/>
              </a:rPr>
              <a:t>Download + stage to MinIO</a:t>
            </a:r>
          </a:p>
          <a:p>
            <a:r>
              <a:rPr lang="en-US" sz="1100" b="0">
                <a:solidFill>
                  <a:srgbClr val="C6C6C6"/>
                </a:solidFill>
                <a:latin typeface="IBM Plex Mono"/>
                <a:ea typeface="IBM Plex Mono"/>
              </a:rPr>
              <a:t>s3://github-raw-data/github-raw/</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a:t>
            </a:r>
          </a:p>
          <a:p>
            <a:r>
              <a:rPr lang="en-US" sz="1100" b="0">
                <a:solidFill>
                  <a:srgbClr val="C6C6C6"/>
                </a:solidFill>
                <a:latin typeface="IBM Plex Mono"/>
                <a:ea typeface="IBM Plex Mono"/>
              </a:rPr>
              <a:t>Airflow Task 2  →  Spark HoodieStreamer</a:t>
            </a:r>
          </a:p>
          <a:p>
            <a:r>
              <a:rPr lang="en-US" sz="1100" b="0">
                <a:solidFill>
                  <a:srgbClr val="C6C6C6"/>
                </a:solidFill>
                <a:latin typeface="IBM Plex Mono"/>
                <a:ea typeface="IBM Plex Mono"/>
              </a:rPr>
              <a:t>• Avro schema validation</a:t>
            </a:r>
          </a:p>
          <a:p>
            <a:r>
              <a:rPr lang="en-US" sz="1100" b="0">
                <a:solidFill>
                  <a:srgbClr val="C6C6C6"/>
                </a:solidFill>
                <a:latin typeface="IBM Plex Mono"/>
                <a:ea typeface="IBM Plex Mono"/>
              </a:rPr>
              <a:t>• Dedup by (id, created_at)</a:t>
            </a:r>
          </a:p>
          <a:p>
            <a:r>
              <a:rPr lang="en-US" sz="1100" b="0">
                <a:solidFill>
                  <a:srgbClr val="C6C6C6"/>
                </a:solidFill>
                <a:latin typeface="IBM Plex Mono"/>
                <a:ea typeface="IBM Plex Mono"/>
              </a:rPr>
              <a:t>• Partition by event type</a:t>
            </a:r>
          </a:p>
          <a:p>
            <a:r>
              <a:rPr lang="en-US" sz="1100" b="0">
                <a:solidFill>
                  <a:srgbClr val="C6C6C6"/>
                </a:solidFill>
                <a:latin typeface="IBM Plex Mono"/>
                <a:ea typeface="IBM Plex Mono"/>
              </a:rPr>
              <a:t>• COW upsert write</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a:t>
            </a:r>
          </a:p>
          <a:p>
            <a:r>
              <a:rPr lang="en-US" sz="1100" b="0">
                <a:solidFill>
                  <a:srgbClr val="C6C6C6"/>
                </a:solidFill>
                <a:latin typeface="IBM Plex Mono"/>
                <a:ea typeface="IBM Plex Mono"/>
              </a:rPr>
              <a:t>MinIO  s3://github-raw-data/hudi-tables/</a:t>
            </a:r>
          </a:p>
          <a:p>
            <a:r>
              <a:rPr lang="en-US" sz="1100" b="0">
                <a:solidFill>
                  <a:srgbClr val="C6C6C6"/>
                </a:solidFill>
                <a:latin typeface="IBM Plex Mono"/>
                <a:ea typeface="IBM Plex Mono"/>
              </a:rPr>
              <a:t>Parquet files + .hoodie/ commit timeline</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+--&gt;  Hive Metastore  (partition catalog sync)</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a:t>
            </a:r>
          </a:p>
          <a:p>
            <a:r>
              <a:rPr lang="en-US" sz="1100" b="0">
                <a:solidFill>
                  <a:srgbClr val="C6C6C6"/>
                </a:solidFill>
                <a:latin typeface="IBM Plex Mono"/>
                <a:ea typeface="IBM Plex Mono"/>
              </a:rPr>
              <a:t>Airflow Task 3</a:t>
            </a:r>
          </a:p>
          <a:p>
            <a:r>
              <a:rPr lang="en-US" sz="1100" b="0">
                <a:solidFill>
                  <a:srgbClr val="C6C6C6"/>
                </a:solidFill>
                <a:latin typeface="IBM Plex Mono"/>
                <a:ea typeface="IBM Plex Mono"/>
              </a:rPr>
              <a:t>5× Data Quality Assertions via Presto</a:t>
            </a:r>
          </a:p>
        </p:txBody>
      </p:sp>
      <p:sp>
        <p:nvSpPr>
          <p:cNvPr id="100144" name="ReadLabel"/>
          <p:cNvSpPr txBox="1"/>
          <p:nvPr/>
        </p:nvSpPr>
        <p:spPr>
          <a:xfrm>
            <a:off x="6300000" y="1332000"/>
            <a:ext cx="1800000" cy="216000"/>
          </a:xfrm>
          <a:prstGeom prst="rect">
            <a:avLst/>
          </a:prstGeom>
          <a:noFill/>
        </p:spPr>
        <p:txBody>
          <a:bodyPr/>
          <a:lstStyle/>
          <a:p>
            <a:r>
              <a:rPr lang="en-US" sz="1200" b="1">
                <a:solidFill>
                  <a:srgbClr val="78A9FF"/>
                </a:solidFill>
                <a:latin typeface="IBM Plex Sans"/>
                <a:ea typeface="IBM Plex Sans"/>
              </a:rPr>
              <a:t>READ PATH</a:t>
            </a:r>
          </a:p>
        </p:txBody>
      </p:sp>
      <p:sp>
        <p:nvSpPr>
          <p:cNvPr id="100145" name="ReadFlow"/>
          <p:cNvSpPr txBox="1"/>
          <p:nvPr/>
        </p:nvSpPr>
        <p:spPr>
          <a:xfrm>
            <a:off x="6300000" y="1620000"/>
            <a:ext cx="4860000" cy="4140000"/>
          </a:xfrm>
          <a:prstGeom prst="rect">
            <a:avLst/>
          </a:prstGeom>
          <a:solidFill>
            <a:srgbClr val="1C3A5E"/>
          </a:solidFill>
        </p:spPr>
        <p:txBody>
          <a:bodyPr/>
          <a:lstStyle/>
          <a:p>
            <a:r>
              <a:rPr lang="en-US" sz="1100" b="0">
                <a:solidFill>
                  <a:srgbClr val="C6C6C6"/>
                </a:solidFill>
                <a:latin typeface="IBM Plex Mono"/>
                <a:ea typeface="IBM Plex Mono"/>
              </a:rPr>
              <a:t>Apache Superset  :8088</a:t>
            </a:r>
          </a:p>
          <a:p>
            <a:r>
              <a:rPr lang="en-US" sz="1100" b="0">
                <a:solidFill>
                  <a:srgbClr val="C6C6C6"/>
                </a:solidFill>
                <a:latin typeface="IBM Plex Mono"/>
                <a:ea typeface="IBM Plex Mono"/>
              </a:rPr>
              <a:t>SQL Lab / Dashboards</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  (PyHive / SQLAlchemy)</a:t>
            </a:r>
          </a:p>
          <a:p>
            <a:r>
              <a:rPr lang="en-US" sz="1100" b="0">
                <a:solidFill>
                  <a:srgbClr val="C6C6C6"/>
                </a:solidFill>
                <a:latin typeface="IBM Plex Mono"/>
                <a:ea typeface="IBM Plex Mono"/>
              </a:rPr>
              <a:t>PrestoDB Coordinator  :8080</a:t>
            </a:r>
          </a:p>
          <a:p>
            <a:r>
              <a:rPr lang="en-US" sz="1100" b="0">
                <a:solidFill>
                  <a:srgbClr val="C6C6C6"/>
                </a:solidFill>
                <a:latin typeface="IBM Plex Mono"/>
                <a:ea typeface="IBM Plex Mono"/>
              </a:rPr>
              <a:t>Parse + plan SQL query</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a:t>
            </a:r>
          </a:p>
          <a:p>
            <a:r>
              <a:rPr lang="en-US" sz="1100" b="0">
                <a:solidFill>
                  <a:srgbClr val="C6C6C6"/>
                </a:solidFill>
                <a:latin typeface="IBM Plex Mono"/>
                <a:ea typeface="IBM Plex Mono"/>
              </a:rPr>
              <a:t>Presto Workers (x2)</a:t>
            </a:r>
          </a:p>
          <a:p>
            <a:r>
              <a:rPr lang="en-US" sz="1100" b="0">
                <a:solidFill>
                  <a:srgbClr val="C6C6C6"/>
                </a:solidFill>
                <a:latin typeface="IBM Plex Mono"/>
                <a:ea typeface="IBM Plex Mono"/>
              </a:rPr>
              <a:t>Ask Metastore: WHERE is github_events?</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a:t>
            </a:r>
          </a:p>
          <a:p>
            <a:r>
              <a:rPr lang="en-US" sz="1100" b="0">
                <a:solidFill>
                  <a:srgbClr val="C6C6C6"/>
                </a:solidFill>
                <a:latin typeface="IBM Plex Mono"/>
                <a:ea typeface="IBM Plex Mono"/>
              </a:rPr>
              <a:t>Read Parquet directly from MinIO</a:t>
            </a:r>
          </a:p>
          <a:p>
            <a:r>
              <a:rPr lang="en-US" sz="1100" b="0">
                <a:solidFill>
                  <a:srgbClr val="C6C6C6"/>
                </a:solidFill>
                <a:latin typeface="IBM Plex Mono"/>
                <a:ea typeface="IBM Plex Mono"/>
              </a:rPr>
              <a:t>(partition-pruned — skips irrelevant</a:t>
            </a:r>
          </a:p>
          <a:p>
            <a:r>
              <a:rPr lang="en-US" sz="1100" b="0">
                <a:solidFill>
                  <a:srgbClr val="C6C6C6"/>
                </a:solidFill>
                <a:latin typeface="IBM Plex Mono"/>
                <a:ea typeface="IBM Plex Mono"/>
              </a:rPr>
              <a:t> event type directories)</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a:t>
            </a:r>
          </a:p>
          <a:p>
            <a:r>
              <a:rPr lang="en-US" sz="1100" b="0">
                <a:solidFill>
                  <a:srgbClr val="C6C6C6"/>
                </a:solidFill>
                <a:latin typeface="IBM Plex Mono"/>
                <a:ea typeface="IBM Plex Mono"/>
              </a:rPr>
              <a:t>Aggregate results back to coordinator</a:t>
            </a:r>
          </a:p>
          <a:p>
            <a:r>
              <a:rPr lang="en-US" sz="1100" b="0">
                <a:solidFill>
                  <a:srgbClr val="C6C6C6"/>
                </a:solidFill>
                <a:latin typeface="IBM Plex Mono"/>
                <a:ea typeface="IBM Plex Mono"/>
              </a:rPr>
              <a:t>        |</a:t>
            </a:r>
          </a:p>
          <a:p>
            <a:r>
              <a:rPr lang="en-US" sz="1100" b="0">
                <a:solidFill>
                  <a:srgbClr val="C6C6C6"/>
                </a:solidFill>
                <a:latin typeface="IBM Plex Mono"/>
                <a:ea typeface="IBM Plex Mono"/>
              </a:rPr>
              <a:t>        v</a:t>
            </a:r>
          </a:p>
          <a:p>
            <a:r>
              <a:rPr lang="en-US" sz="1100" b="0">
                <a:solidFill>
                  <a:srgbClr val="C6C6C6"/>
                </a:solidFill>
                <a:latin typeface="IBM Plex Mono"/>
                <a:ea typeface="IBM Plex Mono"/>
              </a:rPr>
              <a:t>Return rows to Superset / user</a:t>
            </a:r>
          </a:p>
        </p:txBody>
      </p:sp>
      <p:sp>
        <p:nvSpPr>
          <p:cNvPr id="100146" name="KeyInsight"/>
          <p:cNvSpPr txBox="1"/>
          <p:nvPr/>
        </p:nvSpPr>
        <p:spPr>
          <a:xfrm>
            <a:off x="900000" y="5868000"/>
            <a:ext cx="10080000" cy="432000"/>
          </a:xfrm>
          <a:prstGeom prst="rect">
            <a:avLst/>
          </a:prstGeom>
          <a:noFill/>
        </p:spPr>
        <p:txBody>
          <a:bodyPr/>
          <a:lstStyle/>
          <a:p>
            <a:r>
              <a:rPr lang="en-US" sz="1300" b="0">
                <a:solidFill>
                  <a:srgbClr val="78A9FF"/>
                </a:solidFill>
                <a:latin typeface="IBM Plex Sans"/>
                <a:ea typeface="IBM Plex Sans"/>
              </a:rPr>
              <a:t>The two flows are completely independent. Reads never block writes. Writes never block reads. Hudi's snapshot isolation ensures readers only see fully committed data.</a:t>
            </a:r>
          </a:p>
        </p:txBody>
      </p:sp>
      <p:sp>
        <p:nvSpPr>
          <p:cNvPr id="100147"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148" name="TopAccent"/>
          <p:cNvSpPr txBox="1"/>
          <p:nvPr/>
        </p:nvSpPr>
        <p:spPr>
          <a:xfrm>
            <a:off x="0" y="0"/>
            <a:ext cx="12193200" cy="144000"/>
          </a:xfrm>
          <a:prstGeom prst="rect">
            <a:avLst/>
          </a:prstGeom>
          <a:solidFill>
            <a:srgbClr val="6929C4"/>
          </a:solidFill>
        </p:spPr>
        <p:txBody>
          <a:bodyPr/>
          <a:lstStyle/>
          <a:p>
            <a:endParaRPr lang="en-US" sz="800">
              <a:solidFill>
                <a:srgbClr val="6929C4"/>
              </a:solidFill>
            </a:endParaRPr>
          </a:p>
        </p:txBody>
      </p:sp>
      <p:sp>
        <p:nvSpPr>
          <p:cNvPr id="100149" name="SlideNum"/>
          <p:cNvSpPr txBox="1"/>
          <p:nvPr/>
        </p:nvSpPr>
        <p:spPr>
          <a:xfrm>
            <a:off x="900000" y="216000"/>
            <a:ext cx="1080000" cy="216000"/>
          </a:xfrm>
          <a:prstGeom prst="rect">
            <a:avLst/>
          </a:prstGeom>
          <a:noFill/>
        </p:spPr>
        <p:txBody>
          <a:bodyPr/>
          <a:lstStyle/>
          <a:p>
            <a:r>
              <a:rPr lang="en-US" sz="1100" b="0">
                <a:solidFill>
                  <a:srgbClr val="A56EFF"/>
                </a:solidFill>
                <a:latin typeface="IBM Plex Mono"/>
                <a:ea typeface="IBM Plex Mono"/>
              </a:rPr>
              <a:t>13</a:t>
            </a:r>
          </a:p>
        </p:txBody>
      </p:sp>
      <p:sp>
        <p:nvSpPr>
          <p:cNvPr id="100150"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Hudi ACID Superpowers</a:t>
            </a:r>
          </a:p>
        </p:txBody>
      </p:sp>
      <p:sp>
        <p:nvSpPr>
          <p:cNvPr id="100151" name="Subtitle"/>
          <p:cNvSpPr txBox="1"/>
          <p:nvPr/>
        </p:nvSpPr>
        <p:spPr>
          <a:xfrm>
            <a:off x="900000" y="972000"/>
            <a:ext cx="10080000" cy="288000"/>
          </a:xfrm>
          <a:prstGeom prst="rect">
            <a:avLst/>
          </a:prstGeom>
          <a:noFill/>
        </p:spPr>
        <p:txBody>
          <a:bodyPr/>
          <a:lstStyle/>
          <a:p>
            <a:r>
              <a:rPr lang="en-US" sz="1600" b="0">
                <a:solidFill>
                  <a:srgbClr val="A56EFF"/>
                </a:solidFill>
                <a:latin typeface="IBM Plex Sans"/>
                <a:ea typeface="IBM Plex Sans"/>
              </a:rPr>
              <a:t>Three operations impossible in a raw data lake — live demo with PySpark</a:t>
            </a:r>
          </a:p>
        </p:txBody>
      </p:sp>
      <p:sp>
        <p:nvSpPr>
          <p:cNvPr id="100152" name="D1Tag"/>
          <p:cNvSpPr txBox="1"/>
          <p:nvPr/>
        </p:nvSpPr>
        <p:spPr>
          <a:xfrm>
            <a:off x="900000" y="1368000"/>
            <a:ext cx="1080000" cy="216000"/>
          </a:xfrm>
          <a:prstGeom prst="rect">
            <a:avLst/>
          </a:prstGeom>
          <a:solidFill>
            <a:srgbClr val="6929C4"/>
          </a:solidFill>
        </p:spPr>
        <p:txBody>
          <a:bodyPr/>
          <a:lstStyle/>
          <a:p>
            <a:r>
              <a:rPr lang="en-US" sz="1200" b="1">
                <a:solidFill>
                  <a:srgbClr val="FFFFFF"/>
                </a:solidFill>
                <a:latin typeface="IBM Plex Mono"/>
                <a:ea typeface="IBM Plex Mono"/>
              </a:rPr>
              <a:t>DEMO 1</a:t>
            </a:r>
          </a:p>
        </p:txBody>
      </p:sp>
      <p:sp>
        <p:nvSpPr>
          <p:cNvPr id="100153" name="D1Title"/>
          <p:cNvSpPr txBox="1"/>
          <p:nvPr/>
        </p:nvSpPr>
        <p:spPr>
          <a:xfrm>
            <a:off x="900000" y="1638000"/>
            <a:ext cx="3312000" cy="288000"/>
          </a:xfrm>
          <a:prstGeom prst="rect">
            <a:avLst/>
          </a:prstGeom>
          <a:noFill/>
        </p:spPr>
        <p:txBody>
          <a:bodyPr/>
          <a:lstStyle/>
          <a:p>
            <a:r>
              <a:rPr lang="en-US" sz="1600" b="1">
                <a:solidFill>
                  <a:srgbClr val="FFFFFF"/>
                </a:solidFill>
                <a:latin typeface="IBM Plex Sans"/>
                <a:ea typeface="IBM Plex Sans"/>
              </a:rPr>
              <a:t>ACID In-Place Upsert</a:t>
            </a:r>
          </a:p>
        </p:txBody>
      </p:sp>
      <p:sp>
        <p:nvSpPr>
          <p:cNvPr id="100154" name="D1Body"/>
          <p:cNvSpPr txBox="1"/>
          <p:nvPr/>
        </p:nvSpPr>
        <p:spPr>
          <a:xfrm>
            <a:off x="900000" y="1980000"/>
            <a:ext cx="3312000" cy="2250000"/>
          </a:xfrm>
          <a:prstGeom prst="rect">
            <a:avLst/>
          </a:prstGeom>
          <a:solidFill>
            <a:srgbClr val="262626"/>
          </a:solidFill>
        </p:spPr>
        <p:txBody>
          <a:bodyPr/>
          <a:lstStyle/>
          <a:p>
            <a:r>
              <a:rPr lang="en-US" sz="1300" b="0" dirty="0">
                <a:solidFill>
                  <a:srgbClr val="C6C6C6"/>
                </a:solidFill>
                <a:latin typeface="IBM Plex Sans"/>
                <a:ea typeface="IBM Plex Sans"/>
              </a:rPr>
              <a:t>Scenario: A PR event status changes from 'opened' to 'merged'.</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Hudi finds the existing record by id, rewrites only the Parquet files containing that record.</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Result: record mutates in-place — no duplicates, no full-table scan, one atomic commit.</a:t>
            </a:r>
          </a:p>
        </p:txBody>
      </p:sp>
      <p:sp>
        <p:nvSpPr>
          <p:cNvPr id="100155" name="D2Tag"/>
          <p:cNvSpPr txBox="1"/>
          <p:nvPr/>
        </p:nvSpPr>
        <p:spPr>
          <a:xfrm>
            <a:off x="4464000" y="1368000"/>
            <a:ext cx="1080000" cy="216000"/>
          </a:xfrm>
          <a:prstGeom prst="rect">
            <a:avLst/>
          </a:prstGeom>
          <a:solidFill>
            <a:srgbClr val="6929C4"/>
          </a:solidFill>
        </p:spPr>
        <p:txBody>
          <a:bodyPr/>
          <a:lstStyle/>
          <a:p>
            <a:r>
              <a:rPr lang="en-US" sz="1200" b="1">
                <a:solidFill>
                  <a:srgbClr val="FFFFFF"/>
                </a:solidFill>
                <a:latin typeface="IBM Plex Mono"/>
                <a:ea typeface="IBM Plex Mono"/>
              </a:rPr>
              <a:t>DEMO 2</a:t>
            </a:r>
          </a:p>
        </p:txBody>
      </p:sp>
      <p:sp>
        <p:nvSpPr>
          <p:cNvPr id="100156" name="D2Title"/>
          <p:cNvSpPr txBox="1"/>
          <p:nvPr/>
        </p:nvSpPr>
        <p:spPr>
          <a:xfrm>
            <a:off x="4464000" y="1638000"/>
            <a:ext cx="3312000" cy="288000"/>
          </a:xfrm>
          <a:prstGeom prst="rect">
            <a:avLst/>
          </a:prstGeom>
          <a:noFill/>
        </p:spPr>
        <p:txBody>
          <a:bodyPr/>
          <a:lstStyle/>
          <a:p>
            <a:r>
              <a:rPr lang="en-US" sz="1600" b="1">
                <a:solidFill>
                  <a:srgbClr val="FFFFFF"/>
                </a:solidFill>
                <a:latin typeface="IBM Plex Sans"/>
                <a:ea typeface="IBM Plex Sans"/>
              </a:rPr>
              <a:t>GDPR Point Delete</a:t>
            </a:r>
          </a:p>
        </p:txBody>
      </p:sp>
      <p:sp>
        <p:nvSpPr>
          <p:cNvPr id="100157" name="D2Body"/>
          <p:cNvSpPr txBox="1"/>
          <p:nvPr/>
        </p:nvSpPr>
        <p:spPr>
          <a:xfrm>
            <a:off x="4464000" y="1980000"/>
            <a:ext cx="3246616" cy="2250000"/>
          </a:xfrm>
          <a:prstGeom prst="rect">
            <a:avLst/>
          </a:prstGeom>
          <a:solidFill>
            <a:srgbClr val="262626"/>
          </a:solidFill>
        </p:spPr>
        <p:txBody>
          <a:bodyPr/>
          <a:lstStyle/>
          <a:p>
            <a:r>
              <a:rPr lang="en-US" sz="1300" b="0" dirty="0">
                <a:solidFill>
                  <a:srgbClr val="C6C6C6"/>
                </a:solidFill>
                <a:latin typeface="IBM Plex Sans"/>
                <a:ea typeface="IBM Plex Sans"/>
              </a:rPr>
              <a:t>Scenario: A user invokes their Right to be Forgotten under GDPR.</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Hudi deletes by primary key (id) across all partitions — only files containing that user's records are rewritten.</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Result: surgical deletion with no impact to unrelated data.</a:t>
            </a:r>
          </a:p>
        </p:txBody>
      </p:sp>
      <p:sp>
        <p:nvSpPr>
          <p:cNvPr id="100158" name="D3Tag"/>
          <p:cNvSpPr txBox="1"/>
          <p:nvPr/>
        </p:nvSpPr>
        <p:spPr>
          <a:xfrm>
            <a:off x="7992000" y="1368000"/>
            <a:ext cx="1080000" cy="216000"/>
          </a:xfrm>
          <a:prstGeom prst="rect">
            <a:avLst/>
          </a:prstGeom>
          <a:solidFill>
            <a:srgbClr val="6929C4"/>
          </a:solidFill>
        </p:spPr>
        <p:txBody>
          <a:bodyPr/>
          <a:lstStyle/>
          <a:p>
            <a:r>
              <a:rPr lang="en-US" sz="1200" b="1">
                <a:solidFill>
                  <a:srgbClr val="FFFFFF"/>
                </a:solidFill>
                <a:latin typeface="IBM Plex Mono"/>
                <a:ea typeface="IBM Plex Mono"/>
              </a:rPr>
              <a:t>DEMO 3</a:t>
            </a:r>
          </a:p>
        </p:txBody>
      </p:sp>
      <p:sp>
        <p:nvSpPr>
          <p:cNvPr id="100159" name="D3Title"/>
          <p:cNvSpPr txBox="1"/>
          <p:nvPr/>
        </p:nvSpPr>
        <p:spPr>
          <a:xfrm>
            <a:off x="7992000" y="1638000"/>
            <a:ext cx="3312000" cy="288000"/>
          </a:xfrm>
          <a:prstGeom prst="rect">
            <a:avLst/>
          </a:prstGeom>
          <a:noFill/>
        </p:spPr>
        <p:txBody>
          <a:bodyPr/>
          <a:lstStyle/>
          <a:p>
            <a:r>
              <a:rPr lang="en-US" sz="1600" b="1">
                <a:solidFill>
                  <a:srgbClr val="FFFFFF"/>
                </a:solidFill>
                <a:latin typeface="IBM Plex Sans"/>
                <a:ea typeface="IBM Plex Sans"/>
              </a:rPr>
              <a:t>Commit Timeline &amp; Time Travel</a:t>
            </a:r>
          </a:p>
        </p:txBody>
      </p:sp>
      <p:sp>
        <p:nvSpPr>
          <p:cNvPr id="100160" name="D3Body"/>
          <p:cNvSpPr txBox="1"/>
          <p:nvPr/>
        </p:nvSpPr>
        <p:spPr>
          <a:xfrm>
            <a:off x="7992000" y="1980000"/>
            <a:ext cx="3312000" cy="2250000"/>
          </a:xfrm>
          <a:prstGeom prst="rect">
            <a:avLst/>
          </a:prstGeom>
          <a:solidFill>
            <a:srgbClr val="262626"/>
          </a:solidFill>
        </p:spPr>
        <p:txBody>
          <a:bodyPr/>
          <a:lstStyle/>
          <a:p>
            <a:r>
              <a:rPr lang="en-US" sz="1300" b="0" dirty="0">
                <a:solidFill>
                  <a:srgbClr val="C6C6C6"/>
                </a:solidFill>
                <a:latin typeface="IBM Plex Sans"/>
                <a:ea typeface="IBM Plex Sans"/>
              </a:rPr>
              <a:t>Every write leaves an immutable entry in .hoodie/ with a timestamp.</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Read the table 'as of' any past commit instant — useful for auditing, debugging, and incremental pipelines.</a:t>
            </a:r>
          </a:p>
          <a:p>
            <a:endParaRPr lang="en-US" sz="1300" b="0" dirty="0">
              <a:solidFill>
                <a:srgbClr val="C6C6C6"/>
              </a:solidFill>
              <a:latin typeface="IBM Plex Sans"/>
              <a:ea typeface="IBM Plex Sans"/>
            </a:endParaRPr>
          </a:p>
          <a:p>
            <a:r>
              <a:rPr lang="en-US" sz="1300" b="0" dirty="0">
                <a:solidFill>
                  <a:srgbClr val="C6C6C6"/>
                </a:solidFill>
                <a:latin typeface="IBM Plex Sans"/>
                <a:ea typeface="IBM Plex Sans"/>
              </a:rPr>
              <a:t>Spark: </a:t>
            </a:r>
            <a:r>
              <a:rPr lang="en-US" sz="1300" b="0" dirty="0" err="1">
                <a:solidFill>
                  <a:srgbClr val="C6C6C6"/>
                </a:solidFill>
                <a:latin typeface="IBM Plex Sans"/>
                <a:ea typeface="IBM Plex Sans"/>
              </a:rPr>
              <a:t>spark.read.format</a:t>
            </a:r>
            <a:r>
              <a:rPr lang="en-US" sz="1300" b="0" dirty="0">
                <a:solidFill>
                  <a:srgbClr val="C6C6C6"/>
                </a:solidFill>
                <a:latin typeface="IBM Plex Sans"/>
                <a:ea typeface="IBM Plex Sans"/>
              </a:rPr>
              <a:t>('</a:t>
            </a:r>
            <a:r>
              <a:rPr lang="en-US" sz="1300" b="0" dirty="0" err="1">
                <a:solidFill>
                  <a:srgbClr val="C6C6C6"/>
                </a:solidFill>
                <a:latin typeface="IBM Plex Sans"/>
                <a:ea typeface="IBM Plex Sans"/>
              </a:rPr>
              <a:t>hudi</a:t>
            </a:r>
            <a:r>
              <a:rPr lang="en-US" sz="1300" b="0" dirty="0">
                <a:solidFill>
                  <a:srgbClr val="C6C6C6"/>
                </a:solidFill>
                <a:latin typeface="IBM Plex Sans"/>
                <a:ea typeface="IBM Plex Sans"/>
              </a:rPr>
              <a:t>').option('</a:t>
            </a:r>
            <a:r>
              <a:rPr lang="en-US" sz="1300" b="0" dirty="0" err="1">
                <a:solidFill>
                  <a:srgbClr val="C6C6C6"/>
                </a:solidFill>
                <a:latin typeface="IBM Plex Sans"/>
                <a:ea typeface="IBM Plex Sans"/>
              </a:rPr>
              <a:t>as.of.instant</a:t>
            </a:r>
            <a:r>
              <a:rPr lang="en-US" sz="1300" b="0" dirty="0">
                <a:solidFill>
                  <a:srgbClr val="C6C6C6"/>
                </a:solidFill>
                <a:latin typeface="IBM Plex Sans"/>
                <a:ea typeface="IBM Plex Sans"/>
              </a:rPr>
              <a:t>', '...')</a:t>
            </a:r>
          </a:p>
        </p:txBody>
      </p:sp>
      <p:sp>
        <p:nvSpPr>
          <p:cNvPr id="100161" name="RunCmd"/>
          <p:cNvSpPr txBox="1"/>
          <p:nvPr/>
        </p:nvSpPr>
        <p:spPr>
          <a:xfrm>
            <a:off x="900000" y="4752000"/>
            <a:ext cx="10080000" cy="468000"/>
          </a:xfrm>
          <a:prstGeom prst="rect">
            <a:avLst/>
          </a:prstGeom>
          <a:solidFill>
            <a:srgbClr val="1C3A5E"/>
          </a:solidFill>
        </p:spPr>
        <p:txBody>
          <a:bodyPr/>
          <a:lstStyle/>
          <a:p>
            <a:r>
              <a:rPr lang="en-US" sz="1200" b="0" dirty="0">
                <a:solidFill>
                  <a:srgbClr val="78A9FF"/>
                </a:solidFill>
                <a:latin typeface="IBM Plex Mono"/>
                <a:ea typeface="IBM Plex Mono"/>
              </a:rPr>
              <a:t>Run the demo:  docker exec -it spark-client /opt/spark/bin/spark-submit --master 'local[4]' --driver-memory 2G /opt/spark/</a:t>
            </a:r>
            <a:r>
              <a:rPr lang="en-US" sz="1200" b="0" dirty="0" err="1">
                <a:solidFill>
                  <a:srgbClr val="78A9FF"/>
                </a:solidFill>
                <a:latin typeface="IBM Plex Mono"/>
                <a:ea typeface="IBM Plex Mono"/>
              </a:rPr>
              <a:t>hudi_acid_superpowers_demo.py</a:t>
            </a:r>
            <a:endParaRPr lang="en-US" sz="1200" b="0" dirty="0">
              <a:solidFill>
                <a:srgbClr val="78A9FF"/>
              </a:solidFill>
              <a:latin typeface="IBM Plex Mono"/>
              <a:ea typeface="IBM Plex Mono"/>
            </a:endParaRPr>
          </a:p>
        </p:txBody>
      </p:sp>
      <p:sp>
        <p:nvSpPr>
          <p:cNvPr id="100162" name="PreReq"/>
          <p:cNvSpPr txBox="1"/>
          <p:nvPr/>
        </p:nvSpPr>
        <p:spPr>
          <a:xfrm>
            <a:off x="900000" y="5418616"/>
            <a:ext cx="10080000" cy="288000"/>
          </a:xfrm>
          <a:prstGeom prst="rect">
            <a:avLst/>
          </a:prstGeom>
          <a:noFill/>
        </p:spPr>
        <p:txBody>
          <a:bodyPr/>
          <a:lstStyle/>
          <a:p>
            <a:r>
              <a:rPr lang="en-US" sz="1200" b="0" dirty="0">
                <a:solidFill>
                  <a:srgbClr val="8D8D8D"/>
                </a:solidFill>
                <a:latin typeface="IBM Plex Sans"/>
                <a:ea typeface="IBM Plex Sans"/>
              </a:rPr>
              <a:t>Prerequisite: at least one completed Airflow DAG run must exist before running the demo.</a:t>
            </a:r>
          </a:p>
        </p:txBody>
      </p:sp>
      <p:sp>
        <p:nvSpPr>
          <p:cNvPr id="100163" name="BottomBar"/>
          <p:cNvSpPr txBox="1"/>
          <p:nvPr/>
        </p:nvSpPr>
        <p:spPr>
          <a:xfrm>
            <a:off x="0" y="6426000"/>
            <a:ext cx="12193200" cy="144000"/>
          </a:xfrm>
          <a:prstGeom prst="rect">
            <a:avLst/>
          </a:prstGeom>
          <a:solidFill>
            <a:srgbClr val="6929C4"/>
          </a:solidFill>
        </p:spPr>
        <p:txBody>
          <a:bodyPr/>
          <a:lstStyle/>
          <a:p>
            <a:endParaRPr lang="en-US" sz="800">
              <a:solidFill>
                <a:srgbClr val="6929C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164"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165"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14</a:t>
            </a:r>
          </a:p>
        </p:txBody>
      </p:sp>
      <p:sp>
        <p:nvSpPr>
          <p:cNvPr id="100166"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Analytics Layer: Apache Superset</a:t>
            </a:r>
          </a:p>
        </p:txBody>
      </p:sp>
      <p:sp>
        <p:nvSpPr>
          <p:cNvPr id="100167" name="Subtitle"/>
          <p:cNvSpPr txBox="1"/>
          <p:nvPr/>
        </p:nvSpPr>
        <p:spPr>
          <a:xfrm>
            <a:off x="900000" y="972000"/>
            <a:ext cx="10080000" cy="288000"/>
          </a:xfrm>
          <a:prstGeom prst="rect">
            <a:avLst/>
          </a:prstGeom>
          <a:noFill/>
        </p:spPr>
        <p:txBody>
          <a:bodyPr/>
          <a:lstStyle/>
          <a:p>
            <a:r>
              <a:rPr lang="en-US" sz="1600" b="0">
                <a:solidFill>
                  <a:srgbClr val="78A9FF"/>
                </a:solidFill>
                <a:latin typeface="IBM Plex Sans"/>
                <a:ea typeface="IBM Plex Sans"/>
              </a:rPr>
              <a:t>15 live charts over 1.78M GitHub events — zero ETL copies, zero data replication</a:t>
            </a:r>
          </a:p>
        </p:txBody>
      </p:sp>
      <p:sp>
        <p:nvSpPr>
          <p:cNvPr id="100168" name="LeftCol"/>
          <p:cNvSpPr txBox="1"/>
          <p:nvPr/>
        </p:nvSpPr>
        <p:spPr>
          <a:xfrm>
            <a:off x="900000" y="1368000"/>
            <a:ext cx="4860000" cy="3240000"/>
          </a:xfrm>
          <a:prstGeom prst="rect">
            <a:avLst/>
          </a:prstGeom>
          <a:solidFill>
            <a:srgbClr val="262626"/>
          </a:solidFill>
        </p:spPr>
        <p:txBody>
          <a:bodyPr/>
          <a:lstStyle/>
          <a:p>
            <a:r>
              <a:rPr lang="en-US" sz="1300" b="0">
                <a:solidFill>
                  <a:srgbClr val="C6C6C6"/>
                </a:solidFill>
                <a:latin typeface="IBM Plex Sans"/>
                <a:ea typeface="IBM Plex Sans"/>
              </a:rPr>
              <a:t>How it connects</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Superset → Presto (PyHive / SQLAlchemy)</a:t>
            </a:r>
          </a:p>
          <a:p>
            <a:r>
              <a:rPr lang="en-US" sz="1300" b="0">
                <a:solidFill>
                  <a:srgbClr val="C6C6C6"/>
                </a:solidFill>
                <a:latin typeface="IBM Plex Sans"/>
                <a:ea typeface="IBM Plex Sans"/>
              </a:rPr>
              <a:t>Connection: presto://superset@presto-server:8080/hudi/default</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Virtual Dataset: github_events_flat</a:t>
            </a:r>
          </a:p>
          <a:p>
            <a:r>
              <a:rPr lang="en-US" sz="1300" b="0">
                <a:solidFill>
                  <a:srgbClr val="C6C6C6"/>
                </a:solidFill>
                <a:latin typeface="IBM Plex Sans"/>
                <a:ea typeface="IBM Plex Sans"/>
              </a:rPr>
              <a:t>A Presto SQL view that flattens nested Avro structs at query time — no physical copy, no ETL job.</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Key transforms in the dataset:</a:t>
            </a:r>
          </a:p>
          <a:p>
            <a:r>
              <a:rPr lang="en-US" sz="1300" b="0">
                <a:solidFill>
                  <a:srgbClr val="C6C6C6"/>
                </a:solidFill>
                <a:latin typeface="IBM Plex Sans"/>
                <a:ea typeface="IBM Plex Sans"/>
              </a:rPr>
              <a:t>• from_iso8601_timestamp(created_at) → event_time</a:t>
            </a:r>
          </a:p>
          <a:p>
            <a:r>
              <a:rPr lang="en-US" sz="1300" b="0">
                <a:solidFill>
                  <a:srgbClr val="C6C6C6"/>
                </a:solidFill>
                <a:latin typeface="IBM Plex Sans"/>
                <a:ea typeface="IBM Plex Sans"/>
              </a:rPr>
              <a:t>• hour(event_time) → event_hour</a:t>
            </a:r>
          </a:p>
          <a:p>
            <a:r>
              <a:rPr lang="en-US" sz="1300" b="0">
                <a:solidFill>
                  <a:srgbClr val="C6C6C6"/>
                </a:solidFill>
                <a:latin typeface="IBM Plex Sans"/>
                <a:ea typeface="IBM Plex Sans"/>
              </a:rPr>
              <a:t>• day_of_week(event_time) → day_name</a:t>
            </a:r>
          </a:p>
          <a:p>
            <a:r>
              <a:rPr lang="en-US" sz="1300" b="0">
                <a:solidFill>
                  <a:srgbClr val="C6C6C6"/>
                </a:solidFill>
                <a:latin typeface="IBM Plex Sans"/>
                <a:ea typeface="IBM Plex Sans"/>
              </a:rPr>
              <a:t>• actor.login LIKE '%[bot]%' → actor_type</a:t>
            </a:r>
          </a:p>
          <a:p>
            <a:r>
              <a:rPr lang="en-US" sz="1300" b="0">
                <a:solidFill>
                  <a:srgbClr val="C6C6C6"/>
                </a:solidFill>
                <a:latin typeface="IBM Plex Sans"/>
                <a:ea typeface="IBM Plex Sans"/>
              </a:rPr>
              <a:t>  (Human Developers vs Automation &amp; Bots)</a:t>
            </a:r>
          </a:p>
        </p:txBody>
      </p:sp>
      <p:sp>
        <p:nvSpPr>
          <p:cNvPr id="100169" name="RightCol"/>
          <p:cNvSpPr txBox="1"/>
          <p:nvPr/>
        </p:nvSpPr>
        <p:spPr>
          <a:xfrm>
            <a:off x="6120000" y="1368000"/>
            <a:ext cx="5220000" cy="3240000"/>
          </a:xfrm>
          <a:prstGeom prst="rect">
            <a:avLst/>
          </a:prstGeom>
          <a:solidFill>
            <a:srgbClr val="262626"/>
          </a:solidFill>
        </p:spPr>
        <p:txBody>
          <a:bodyPr/>
          <a:lstStyle/>
          <a:p>
            <a:r>
              <a:rPr lang="en-US" sz="1300" b="0">
                <a:solidFill>
                  <a:srgbClr val="C6C6C6"/>
                </a:solidFill>
                <a:latin typeface="IBM Plex Sans"/>
                <a:ea typeface="IBM Plex Sans"/>
              </a:rPr>
              <a:t>Dashboard: GitHub Archive Analytics (Last 24 Hours)</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15 charts across 3 views:</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View 1 — Global Activity &amp; Contributors</a:t>
            </a:r>
          </a:p>
          <a:p>
            <a:r>
              <a:rPr lang="en-US" sz="1300" b="0">
                <a:solidFill>
                  <a:srgbClr val="C6C6C6"/>
                </a:solidFill>
                <a:latin typeface="IBM Plex Sans"/>
                <a:ea typeface="IBM Plex Sans"/>
              </a:rPr>
              <a:t>• Total events KPI: 1.78M with trendline</a:t>
            </a:r>
          </a:p>
          <a:p>
            <a:r>
              <a:rPr lang="en-US" sz="1300" b="0">
                <a:solidFill>
                  <a:srgbClr val="C6C6C6"/>
                </a:solidFill>
                <a:latin typeface="IBM Plex Sans"/>
                <a:ea typeface="IBM Plex Sans"/>
              </a:rPr>
              <a:t>• Activity heatmap (day × hour of week)</a:t>
            </a:r>
          </a:p>
          <a:p>
            <a:r>
              <a:rPr lang="en-US" sz="1300" b="0">
                <a:solidFill>
                  <a:srgbClr val="C6C6C6"/>
                </a:solidFill>
                <a:latin typeface="IBM Plex Sans"/>
                <a:ea typeface="IBM Plex Sans"/>
              </a:rPr>
              <a:t>• Events by type donut — 65% PushEvent</a:t>
            </a:r>
          </a:p>
          <a:p>
            <a:r>
              <a:rPr lang="en-US" sz="1300" b="0">
                <a:solidFill>
                  <a:srgbClr val="C6C6C6"/>
                </a:solidFill>
                <a:latin typeface="IBM Plex Sans"/>
                <a:ea typeface="IBM Plex Sans"/>
              </a:rPr>
              <a:t>• Top repos &amp; top developers (human only)</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View 2 — Organizations &amp; Momentum</a:t>
            </a:r>
          </a:p>
          <a:p>
            <a:r>
              <a:rPr lang="en-US" sz="1300" b="0">
                <a:solidFill>
                  <a:srgbClr val="C6C6C6"/>
                </a:solidFill>
                <a:latin typeface="IBM Plex Sans"/>
                <a:ea typeface="IBM Plex Sans"/>
              </a:rPr>
              <a:t>• Top orgs, PR lifecycle &amp; 92.4% merge rate</a:t>
            </a:r>
          </a:p>
          <a:p>
            <a:r>
              <a:rPr lang="en-US" sz="1300" b="0">
                <a:solidFill>
                  <a:srgbClr val="C6C6C6"/>
                </a:solidFill>
                <a:latin typeface="IBM Plex Sans"/>
                <a:ea typeface="IBM Plex Sans"/>
              </a:rPr>
              <a:t>• Trending repos (star velocity)</a:t>
            </a:r>
          </a:p>
          <a:p>
            <a:r>
              <a:rPr lang="en-US" sz="1300" b="0">
                <a:solidFill>
                  <a:srgbClr val="C6C6C6"/>
                </a:solidFill>
                <a:latin typeface="IBM Plex Sans"/>
                <a:ea typeface="IBM Plex Sans"/>
              </a:rPr>
              <a:t>• Most forked projects</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View 3 — Issues &amp; AI Automation</a:t>
            </a:r>
          </a:p>
          <a:p>
            <a:r>
              <a:rPr lang="en-US" sz="1300" b="0">
                <a:solidFill>
                  <a:srgbClr val="C6C6C6"/>
                </a:solidFill>
                <a:latin typeface="IBM Plex Sans"/>
                <a:ea typeface="IBM Plex Sans"/>
              </a:rPr>
              <a:t>• Issue resolution: 21k opened vs 14k closed</a:t>
            </a:r>
          </a:p>
          <a:p>
            <a:r>
              <a:rPr lang="en-US" sz="1300" b="0">
                <a:solidFill>
                  <a:srgbClr val="C6C6C6"/>
                </a:solidFill>
                <a:latin typeface="IBM Plex Sans"/>
                <a:ea typeface="IBM Plex Sans"/>
              </a:rPr>
              <a:t>• Humans 80.4% vs Bots 19.6%</a:t>
            </a:r>
          </a:p>
          <a:p>
            <a:r>
              <a:rPr lang="en-US" sz="1300" b="0">
                <a:solidFill>
                  <a:srgbClr val="C6C6C6"/>
                </a:solidFill>
                <a:latin typeface="IBM Plex Sans"/>
                <a:ea typeface="IBM Plex Sans"/>
              </a:rPr>
              <a:t>• Top AI agents: Copilot, Dependabot, CodeRabbitAI</a:t>
            </a:r>
          </a:p>
        </p:txBody>
      </p:sp>
      <p:sp>
        <p:nvSpPr>
          <p:cNvPr id="100170" name="LiveNote"/>
          <p:cNvSpPr txBox="1"/>
          <p:nvPr/>
        </p:nvSpPr>
        <p:spPr>
          <a:xfrm>
            <a:off x="900000" y="4788000"/>
            <a:ext cx="10080000" cy="360000"/>
          </a:xfrm>
          <a:prstGeom prst="rect">
            <a:avLst/>
          </a:prstGeom>
          <a:solidFill>
            <a:srgbClr val="1C3A5E"/>
          </a:solidFill>
        </p:spPr>
        <p:txBody>
          <a:bodyPr/>
          <a:lstStyle/>
          <a:p>
            <a:r>
              <a:rPr lang="en-US" sz="1200" b="0">
                <a:solidFill>
                  <a:srgbClr val="78A9FF"/>
                </a:solidFill>
                <a:latin typeface="IBM Plex Mono"/>
                <a:ea typeface="IBM Plex Mono"/>
              </a:rPr>
              <a:t>Access at localhost:8088  →  admin / admin  →  Dashboards  →  GitHub Archive Analytics (Last 24 Hours)</a:t>
            </a:r>
          </a:p>
        </p:txBody>
      </p:sp>
      <p:sp>
        <p:nvSpPr>
          <p:cNvPr id="100171"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61616"/>
        </a:solidFill>
        <a:effectLst/>
      </p:bgPr>
    </p:bg>
    <p:spTree>
      <p:nvGrpSpPr>
        <p:cNvPr id="1" name=""/>
        <p:cNvGrpSpPr/>
        <p:nvPr/>
      </p:nvGrpSpPr>
      <p:grpSpPr>
        <a:xfrm>
          <a:off x="0" y="0"/>
          <a:ext cx="0" cy="0"/>
          <a:chOff x="0" y="0"/>
          <a:chExt cx="0" cy="0"/>
        </a:xfrm>
      </p:grpSpPr>
      <p:sp>
        <p:nvSpPr>
          <p:cNvPr id="100172"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173"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15</a:t>
            </a:r>
          </a:p>
        </p:txBody>
      </p:sp>
      <p:sp>
        <p:nvSpPr>
          <p:cNvPr id="100174" name="Title"/>
          <p:cNvSpPr txBox="1"/>
          <p:nvPr/>
        </p:nvSpPr>
        <p:spPr>
          <a:xfrm>
            <a:off x="900000" y="504000"/>
            <a:ext cx="10080000" cy="432000"/>
          </a:xfrm>
          <a:prstGeom prst="rect">
            <a:avLst/>
          </a:prstGeom>
          <a:noFill/>
        </p:spPr>
        <p:txBody>
          <a:bodyPr/>
          <a:lstStyle/>
          <a:p>
            <a:r>
              <a:rPr lang="en-US" sz="2800" b="1">
                <a:solidFill>
                  <a:srgbClr val="FFFFFF"/>
                </a:solidFill>
                <a:latin typeface="IBM Plex Sans"/>
                <a:ea typeface="IBM Plex Sans"/>
              </a:rPr>
              <a:t>Why This Stack? Benefits Summary</a:t>
            </a:r>
          </a:p>
        </p:txBody>
      </p:sp>
      <p:sp>
        <p:nvSpPr>
          <p:cNvPr id="100175" name="B1"/>
          <p:cNvSpPr txBox="1"/>
          <p:nvPr/>
        </p:nvSpPr>
        <p:spPr>
          <a:xfrm>
            <a:off x="900000" y="1152000"/>
            <a:ext cx="3312000" cy="1620000"/>
          </a:xfrm>
          <a:prstGeom prst="rect">
            <a:avLst/>
          </a:prstGeom>
          <a:solidFill>
            <a:srgbClr val="262626"/>
          </a:solidFill>
        </p:spPr>
        <p:txBody>
          <a:bodyPr/>
          <a:lstStyle/>
          <a:p>
            <a:r>
              <a:rPr lang="en-US" sz="1300" b="0">
                <a:solidFill>
                  <a:srgbClr val="C6C6C6"/>
                </a:solidFill>
                <a:latin typeface="IBM Plex Sans"/>
                <a:ea typeface="IBM Plex Sans"/>
              </a:rPr>
              <a:t>Open formats</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Parquet + Avro throughout. No proprietary formats, no binary blobs, no vendor lock-in. The same files are readable by Spark, Presto, Flink, DuckDB, or any tool that understands Parquet.</a:t>
            </a:r>
          </a:p>
        </p:txBody>
      </p:sp>
      <p:sp>
        <p:nvSpPr>
          <p:cNvPr id="100176" name="B2"/>
          <p:cNvSpPr txBox="1"/>
          <p:nvPr/>
        </p:nvSpPr>
        <p:spPr>
          <a:xfrm>
            <a:off x="4464000" y="1152000"/>
            <a:ext cx="3312000" cy="1620000"/>
          </a:xfrm>
          <a:prstGeom prst="rect">
            <a:avLst/>
          </a:prstGeom>
          <a:solidFill>
            <a:srgbClr val="262626"/>
          </a:solidFill>
        </p:spPr>
        <p:txBody>
          <a:bodyPr/>
          <a:lstStyle/>
          <a:p>
            <a:r>
              <a:rPr lang="en-US" sz="1300" b="0">
                <a:solidFill>
                  <a:srgbClr val="C6C6C6"/>
                </a:solidFill>
                <a:latin typeface="IBM Plex Sans"/>
                <a:ea typeface="IBM Plex Sans"/>
              </a:rPr>
              <a:t>Engine-agnostic catalog</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Hive Metastore is the universal language. Swap Presto for Trino, Spark SQL, or Athena without touching a single data file.</a:t>
            </a:r>
          </a:p>
        </p:txBody>
      </p:sp>
      <p:sp>
        <p:nvSpPr>
          <p:cNvPr id="100177" name="B3"/>
          <p:cNvSpPr txBox="1"/>
          <p:nvPr/>
        </p:nvSpPr>
        <p:spPr>
          <a:xfrm>
            <a:off x="7992000" y="1152000"/>
            <a:ext cx="3312000" cy="1620000"/>
          </a:xfrm>
          <a:prstGeom prst="rect">
            <a:avLst/>
          </a:prstGeom>
          <a:solidFill>
            <a:srgbClr val="262626"/>
          </a:solidFill>
        </p:spPr>
        <p:txBody>
          <a:bodyPr/>
          <a:lstStyle/>
          <a:p>
            <a:r>
              <a:rPr lang="en-US" sz="1300" b="0">
                <a:solidFill>
                  <a:srgbClr val="C6C6C6"/>
                </a:solidFill>
                <a:latin typeface="IBM Plex Sans"/>
                <a:ea typeface="IBM Plex Sans"/>
              </a:rPr>
              <a:t>Cloud-portable</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MinIO → AWS S3, GCS, or Azure Blob by changing S3_ENDPOINT in .env alone. Zero code changes required.</a:t>
            </a:r>
          </a:p>
        </p:txBody>
      </p:sp>
      <p:sp>
        <p:nvSpPr>
          <p:cNvPr id="100178" name="B4"/>
          <p:cNvSpPr txBox="1"/>
          <p:nvPr/>
        </p:nvSpPr>
        <p:spPr>
          <a:xfrm>
            <a:off x="900000" y="3060000"/>
            <a:ext cx="3312000" cy="1620000"/>
          </a:xfrm>
          <a:prstGeom prst="rect">
            <a:avLst/>
          </a:prstGeom>
          <a:solidFill>
            <a:srgbClr val="262626"/>
          </a:solidFill>
        </p:spPr>
        <p:txBody>
          <a:bodyPr/>
          <a:lstStyle/>
          <a:p>
            <a:r>
              <a:rPr lang="en-US" sz="1300" b="0">
                <a:solidFill>
                  <a:srgbClr val="C6C6C6"/>
                </a:solidFill>
                <a:latin typeface="IBM Plex Sans"/>
                <a:ea typeface="IBM Plex Sans"/>
              </a:rPr>
              <a:t>ACID at lake scale</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Hudi delivers database-grade transaction guarantees on object storage — without a database. Upserts, deletes, time travel, and rollback on plain Parquet.</a:t>
            </a:r>
          </a:p>
        </p:txBody>
      </p:sp>
      <p:sp>
        <p:nvSpPr>
          <p:cNvPr id="100179" name="B5"/>
          <p:cNvSpPr txBox="1"/>
          <p:nvPr/>
        </p:nvSpPr>
        <p:spPr>
          <a:xfrm>
            <a:off x="4464000" y="3060000"/>
            <a:ext cx="3312000" cy="1620000"/>
          </a:xfrm>
          <a:prstGeom prst="rect">
            <a:avLst/>
          </a:prstGeom>
          <a:solidFill>
            <a:srgbClr val="262626"/>
          </a:solidFill>
        </p:spPr>
        <p:txBody>
          <a:bodyPr/>
          <a:lstStyle/>
          <a:p>
            <a:r>
              <a:rPr lang="en-US" sz="1300" b="0">
                <a:solidFill>
                  <a:srgbClr val="C6C6C6"/>
                </a:solidFill>
                <a:latin typeface="IBM Plex Sans"/>
                <a:ea typeface="IBM Plex Sans"/>
              </a:rPr>
              <a:t>Schema evolution safety</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Avro schema contract + Hudi reconcile mode. Add columns without breaking readers. Incompatible changes are caught at write time, not query time.</a:t>
            </a:r>
          </a:p>
        </p:txBody>
      </p:sp>
      <p:sp>
        <p:nvSpPr>
          <p:cNvPr id="100180" name="B6"/>
          <p:cNvSpPr txBox="1"/>
          <p:nvPr/>
        </p:nvSpPr>
        <p:spPr>
          <a:xfrm>
            <a:off x="7992000" y="3060000"/>
            <a:ext cx="3312000" cy="1620000"/>
          </a:xfrm>
          <a:prstGeom prst="rect">
            <a:avLst/>
          </a:prstGeom>
          <a:solidFill>
            <a:srgbClr val="262626"/>
          </a:solidFill>
        </p:spPr>
        <p:txBody>
          <a:bodyPr/>
          <a:lstStyle/>
          <a:p>
            <a:r>
              <a:rPr lang="en-US" sz="1300" b="0">
                <a:solidFill>
                  <a:srgbClr val="C6C6C6"/>
                </a:solidFill>
                <a:latin typeface="IBM Plex Sans"/>
                <a:ea typeface="IBM Plex Sans"/>
              </a:rPr>
              <a:t>Observability built-in</a:t>
            </a:r>
          </a:p>
          <a:p>
            <a:endParaRPr lang="en-US" sz="1300" b="0">
              <a:solidFill>
                <a:srgbClr val="C6C6C6"/>
              </a:solidFill>
              <a:latin typeface="IBM Plex Sans"/>
              <a:ea typeface="IBM Plex Sans"/>
            </a:endParaRPr>
          </a:p>
          <a:p>
            <a:r>
              <a:rPr lang="en-US" sz="1300" b="0">
                <a:solidFill>
                  <a:srgbClr val="C6C6C6"/>
                </a:solidFill>
                <a:latin typeface="IBM Plex Sans"/>
                <a:ea typeface="IBM Plex Sans"/>
              </a:rPr>
              <a:t>Four UIs ship out of the box: Airflow DAG graph · Spark History Server · Presto coordinator · MinIO console. No extra tooling needed.</a:t>
            </a:r>
          </a:p>
        </p:txBody>
      </p:sp>
      <p:sp>
        <p:nvSpPr>
          <p:cNvPr id="100181" name="BottomMsg"/>
          <p:cNvSpPr txBox="1"/>
          <p:nvPr/>
        </p:nvSpPr>
        <p:spPr>
          <a:xfrm>
            <a:off x="900000" y="4896000"/>
            <a:ext cx="10080000" cy="396000"/>
          </a:xfrm>
          <a:prstGeom prst="rect">
            <a:avLst/>
          </a:prstGeom>
          <a:solidFill>
            <a:srgbClr val="0353E9"/>
          </a:solidFill>
        </p:spPr>
        <p:txBody>
          <a:bodyPr/>
          <a:lstStyle/>
          <a:p>
            <a:r>
              <a:rPr lang="en-US" sz="1500" b="1">
                <a:solidFill>
                  <a:srgbClr val="FFFFFF"/>
                </a:solidFill>
                <a:latin typeface="IBM Plex Sans"/>
                <a:ea typeface="IBM Plex Sans"/>
              </a:rPr>
              <a:t>Entire production-grade platform: one docker compose up — no cloud account, no subscription, no vendor dependency.</a:t>
            </a:r>
          </a:p>
        </p:txBody>
      </p:sp>
      <p:sp>
        <p:nvSpPr>
          <p:cNvPr id="100182"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100183" name="TopAccent"/>
          <p:cNvSpPr txBox="1"/>
          <p:nvPr/>
        </p:nvSpPr>
        <p:spPr>
          <a:xfrm>
            <a:off x="0" y="0"/>
            <a:ext cx="12193200" cy="144000"/>
          </a:xfrm>
          <a:prstGeom prst="rect">
            <a:avLst/>
          </a:prstGeom>
          <a:solidFill>
            <a:srgbClr val="0F62FE"/>
          </a:solidFill>
        </p:spPr>
        <p:txBody>
          <a:bodyPr/>
          <a:lstStyle/>
          <a:p>
            <a:endParaRPr lang="en-US" sz="800">
              <a:solidFill>
                <a:srgbClr val="0F62FE"/>
              </a:solidFill>
            </a:endParaRPr>
          </a:p>
        </p:txBody>
      </p:sp>
      <p:sp>
        <p:nvSpPr>
          <p:cNvPr id="100184" name="SlideNum"/>
          <p:cNvSpPr txBox="1"/>
          <p:nvPr/>
        </p:nvSpPr>
        <p:spPr>
          <a:xfrm>
            <a:off x="900000" y="216000"/>
            <a:ext cx="1080000" cy="216000"/>
          </a:xfrm>
          <a:prstGeom prst="rect">
            <a:avLst/>
          </a:prstGeom>
          <a:noFill/>
        </p:spPr>
        <p:txBody>
          <a:bodyPr/>
          <a:lstStyle/>
          <a:p>
            <a:r>
              <a:rPr lang="en-US" sz="1100" b="0">
                <a:solidFill>
                  <a:srgbClr val="0F62FE"/>
                </a:solidFill>
                <a:latin typeface="IBM Plex Mono"/>
                <a:ea typeface="IBM Plex Mono"/>
              </a:rPr>
              <a:t>16</a:t>
            </a:r>
          </a:p>
        </p:txBody>
      </p:sp>
      <p:sp>
        <p:nvSpPr>
          <p:cNvPr id="100185" name="Title"/>
          <p:cNvSpPr txBox="1"/>
          <p:nvPr/>
        </p:nvSpPr>
        <p:spPr>
          <a:xfrm>
            <a:off x="900000" y="720000"/>
            <a:ext cx="10080000" cy="900000"/>
          </a:xfrm>
          <a:prstGeom prst="rect">
            <a:avLst/>
          </a:prstGeom>
          <a:noFill/>
        </p:spPr>
        <p:txBody>
          <a:bodyPr/>
          <a:lstStyle/>
          <a:p>
            <a:r>
              <a:rPr lang="en-US" sz="3800" b="1">
                <a:solidFill>
                  <a:srgbClr val="FFFFFF"/>
                </a:solidFill>
                <a:latin typeface="IBM Plex Sans"/>
                <a:ea typeface="IBM Plex Sans"/>
              </a:rPr>
              <a:t>Now Let's Run It.</a:t>
            </a:r>
          </a:p>
        </p:txBody>
      </p:sp>
      <p:sp>
        <p:nvSpPr>
          <p:cNvPr id="100186" name="Divider"/>
          <p:cNvSpPr txBox="1"/>
          <p:nvPr/>
        </p:nvSpPr>
        <p:spPr>
          <a:xfrm>
            <a:off x="900000" y="1692000"/>
            <a:ext cx="10080000" cy="18000"/>
          </a:xfrm>
          <a:prstGeom prst="rect">
            <a:avLst/>
          </a:prstGeom>
          <a:solidFill>
            <a:srgbClr val="0F62FE"/>
          </a:solidFill>
        </p:spPr>
        <p:txBody>
          <a:bodyPr/>
          <a:lstStyle/>
          <a:p>
            <a:endParaRPr lang="en-US" sz="800">
              <a:solidFill>
                <a:srgbClr val="0F62FE"/>
              </a:solidFill>
            </a:endParaRPr>
          </a:p>
        </p:txBody>
      </p:sp>
      <p:sp>
        <p:nvSpPr>
          <p:cNvPr id="100187" name="StepsLabel"/>
          <p:cNvSpPr txBox="1"/>
          <p:nvPr/>
        </p:nvSpPr>
        <p:spPr>
          <a:xfrm>
            <a:off x="900000" y="1836000"/>
            <a:ext cx="10080000" cy="252000"/>
          </a:xfrm>
          <a:prstGeom prst="rect">
            <a:avLst/>
          </a:prstGeom>
          <a:noFill/>
        </p:spPr>
        <p:txBody>
          <a:bodyPr/>
          <a:lstStyle/>
          <a:p>
            <a:r>
              <a:rPr lang="en-US" sz="1600" b="1">
                <a:solidFill>
                  <a:srgbClr val="78A9FF"/>
                </a:solidFill>
                <a:latin typeface="IBM Plex Sans"/>
                <a:ea typeface="IBM Plex Sans"/>
              </a:rPr>
              <a:t>What you'll do in the workshop:</a:t>
            </a:r>
          </a:p>
        </p:txBody>
      </p:sp>
      <p:sp>
        <p:nvSpPr>
          <p:cNvPr id="100188" name="Steps"/>
          <p:cNvSpPr txBox="1"/>
          <p:nvPr/>
        </p:nvSpPr>
        <p:spPr>
          <a:xfrm>
            <a:off x="900000" y="2160000"/>
            <a:ext cx="10080000" cy="3060000"/>
          </a:xfrm>
          <a:prstGeom prst="rect">
            <a:avLst/>
          </a:prstGeom>
          <a:noFill/>
        </p:spPr>
        <p:txBody>
          <a:bodyPr/>
          <a:lstStyle/>
          <a:p>
            <a:r>
              <a:rPr lang="en-US" sz="1500" b="0" dirty="0">
                <a:solidFill>
                  <a:srgbClr val="C6C6C6"/>
                </a:solidFill>
                <a:latin typeface="IBM Plex Sans"/>
                <a:ea typeface="IBM Plex Sans"/>
              </a:rPr>
              <a:t>1    Start the full platform with one command</a:t>
            </a:r>
          </a:p>
          <a:p>
            <a:r>
              <a:rPr lang="en-US" sz="1500" b="0" dirty="0">
                <a:solidFill>
                  <a:srgbClr val="C6C6C6"/>
                </a:solidFill>
                <a:latin typeface="IBM Plex Sans"/>
                <a:ea typeface="IBM Plex Sans"/>
              </a:rPr>
              <a:t>       docker compose up -d</a:t>
            </a:r>
          </a:p>
          <a:p>
            <a:endParaRPr lang="en-US" sz="1500" b="0" dirty="0">
              <a:solidFill>
                <a:srgbClr val="C6C6C6"/>
              </a:solidFill>
              <a:latin typeface="IBM Plex Sans"/>
              <a:ea typeface="IBM Plex Sans"/>
            </a:endParaRPr>
          </a:p>
          <a:p>
            <a:r>
              <a:rPr lang="en-US" sz="1500" b="0" dirty="0">
                <a:solidFill>
                  <a:srgbClr val="C6C6C6"/>
                </a:solidFill>
                <a:latin typeface="IBM Plex Sans"/>
                <a:ea typeface="IBM Plex Sans"/>
              </a:rPr>
              <a:t>2    Trigger your first ingestion run via Airflow</a:t>
            </a:r>
          </a:p>
          <a:p>
            <a:r>
              <a:rPr lang="en-US" sz="1500" b="0" dirty="0">
                <a:solidFill>
                  <a:srgbClr val="C6C6C6"/>
                </a:solidFill>
                <a:latin typeface="IBM Plex Sans"/>
                <a:ea typeface="IBM Plex Sans"/>
              </a:rPr>
              <a:t>       localhost:8085  →  </a:t>
            </a:r>
            <a:r>
              <a:rPr lang="en-US" sz="1500" b="0" dirty="0" err="1">
                <a:solidFill>
                  <a:srgbClr val="C6C6C6"/>
                </a:solidFill>
                <a:latin typeface="IBM Plex Sans"/>
                <a:ea typeface="IBM Plex Sans"/>
              </a:rPr>
              <a:t>github_events_ingestion</a:t>
            </a:r>
            <a:r>
              <a:rPr lang="en-US" sz="1500" b="0" dirty="0">
                <a:solidFill>
                  <a:srgbClr val="C6C6C6"/>
                </a:solidFill>
                <a:latin typeface="IBM Plex Sans"/>
                <a:ea typeface="IBM Plex Sans"/>
              </a:rPr>
              <a:t>  →  </a:t>
            </a:r>
            <a:r>
              <a:rPr lang="en-US" sz="1500" b="0" dirty="0" err="1">
                <a:solidFill>
                  <a:srgbClr val="C6C6C6"/>
                </a:solidFill>
                <a:latin typeface="IBM Plex Sans"/>
                <a:ea typeface="IBM Plex Sans"/>
              </a:rPr>
              <a:t>unpause</a:t>
            </a:r>
            <a:endParaRPr lang="en-US" sz="1500" b="0" dirty="0">
              <a:solidFill>
                <a:srgbClr val="C6C6C6"/>
              </a:solidFill>
              <a:latin typeface="IBM Plex Sans"/>
              <a:ea typeface="IBM Plex Sans"/>
            </a:endParaRPr>
          </a:p>
          <a:p>
            <a:endParaRPr lang="en-US" sz="1500" b="0" dirty="0">
              <a:solidFill>
                <a:srgbClr val="C6C6C6"/>
              </a:solidFill>
              <a:latin typeface="IBM Plex Sans"/>
              <a:ea typeface="IBM Plex Sans"/>
            </a:endParaRPr>
          </a:p>
          <a:p>
            <a:r>
              <a:rPr lang="en-US" sz="1500" b="0" dirty="0">
                <a:solidFill>
                  <a:srgbClr val="C6C6C6"/>
                </a:solidFill>
                <a:latin typeface="IBM Plex Sans"/>
                <a:ea typeface="IBM Plex Sans"/>
              </a:rPr>
              <a:t>3    Query 1.7M+ GitHub events with interactive SQL</a:t>
            </a:r>
          </a:p>
          <a:p>
            <a:r>
              <a:rPr lang="en-US" sz="1500" b="0" dirty="0">
                <a:solidFill>
                  <a:srgbClr val="C6C6C6"/>
                </a:solidFill>
                <a:latin typeface="IBM Plex Sans"/>
                <a:ea typeface="IBM Plex Sans"/>
              </a:rPr>
              <a:t>       Superset SQL Lab at localhost:8088  or  Presto CLI</a:t>
            </a:r>
          </a:p>
          <a:p>
            <a:endParaRPr lang="en-US" sz="1500" b="0" dirty="0">
              <a:solidFill>
                <a:srgbClr val="C6C6C6"/>
              </a:solidFill>
              <a:latin typeface="IBM Plex Sans"/>
              <a:ea typeface="IBM Plex Sans"/>
            </a:endParaRPr>
          </a:p>
          <a:p>
            <a:r>
              <a:rPr lang="en-US" sz="1500" b="0" dirty="0">
                <a:solidFill>
                  <a:srgbClr val="C6C6C6"/>
                </a:solidFill>
                <a:latin typeface="IBM Plex Sans"/>
                <a:ea typeface="IBM Plex Sans"/>
              </a:rPr>
              <a:t>4    Run the Hudi ACID superpowers demo</a:t>
            </a:r>
          </a:p>
          <a:p>
            <a:r>
              <a:rPr lang="en-US" sz="1500" b="0" dirty="0">
                <a:solidFill>
                  <a:srgbClr val="C6C6C6"/>
                </a:solidFill>
                <a:latin typeface="IBM Plex Sans"/>
                <a:ea typeface="IBM Plex Sans"/>
              </a:rPr>
              <a:t>       docker exec -it spark-client spark-submit ... </a:t>
            </a:r>
            <a:r>
              <a:rPr lang="en-US" sz="1500" b="0" dirty="0" err="1">
                <a:solidFill>
                  <a:srgbClr val="C6C6C6"/>
                </a:solidFill>
                <a:latin typeface="IBM Plex Sans"/>
                <a:ea typeface="IBM Plex Sans"/>
              </a:rPr>
              <a:t>hudi_acid_superpowers_demo.py</a:t>
            </a:r>
            <a:endParaRPr lang="en-US" sz="1500" b="0" dirty="0">
              <a:solidFill>
                <a:srgbClr val="C6C6C6"/>
              </a:solidFill>
              <a:latin typeface="IBM Plex Sans"/>
              <a:ea typeface="IBM Plex Sans"/>
            </a:endParaRPr>
          </a:p>
          <a:p>
            <a:endParaRPr lang="en-US" sz="1500" b="0" dirty="0">
              <a:solidFill>
                <a:srgbClr val="C6C6C6"/>
              </a:solidFill>
              <a:latin typeface="IBM Plex Sans"/>
              <a:ea typeface="IBM Plex Sans"/>
            </a:endParaRPr>
          </a:p>
          <a:p>
            <a:r>
              <a:rPr lang="en-US" sz="1500" b="0" dirty="0">
                <a:solidFill>
                  <a:srgbClr val="C6C6C6"/>
                </a:solidFill>
                <a:latin typeface="IBM Plex Sans"/>
                <a:ea typeface="IBM Plex Sans"/>
              </a:rPr>
              <a:t>5    Explore the live Superset dashboard</a:t>
            </a:r>
          </a:p>
          <a:p>
            <a:r>
              <a:rPr lang="en-US" sz="1500" b="0" dirty="0">
                <a:solidFill>
                  <a:srgbClr val="C6C6C6"/>
                </a:solidFill>
                <a:latin typeface="IBM Plex Sans"/>
                <a:ea typeface="IBM Plex Sans"/>
              </a:rPr>
              <a:t>       localhost:8088/superset/dashboard/1/</a:t>
            </a:r>
          </a:p>
        </p:txBody>
      </p:sp>
      <p:sp>
        <p:nvSpPr>
          <p:cNvPr id="100189" name="Prereq"/>
          <p:cNvSpPr txBox="1"/>
          <p:nvPr/>
        </p:nvSpPr>
        <p:spPr>
          <a:xfrm>
            <a:off x="900000" y="5616000"/>
            <a:ext cx="10080000" cy="522000"/>
          </a:xfrm>
          <a:prstGeom prst="rect">
            <a:avLst/>
          </a:prstGeom>
          <a:solidFill>
            <a:srgbClr val="393939"/>
          </a:solidFill>
        </p:spPr>
        <p:txBody>
          <a:bodyPr/>
          <a:lstStyle/>
          <a:p>
            <a:r>
              <a:rPr lang="en-US" sz="1200" b="0" dirty="0">
                <a:solidFill>
                  <a:srgbClr val="8D8D8D"/>
                </a:solidFill>
                <a:latin typeface="IBM Plex Mono"/>
                <a:ea typeface="IBM Plex Mono"/>
              </a:rPr>
              <a:t>Prerequisites:  Docker Desktop ≥ 24  ·  16 GB RAM allocated  ·  ~10 GB free disk  ·  repo cloned  ·  cp .</a:t>
            </a:r>
            <a:r>
              <a:rPr lang="en-US" sz="1200" b="0" dirty="0" err="1">
                <a:solidFill>
                  <a:srgbClr val="8D8D8D"/>
                </a:solidFill>
                <a:latin typeface="IBM Plex Mono"/>
                <a:ea typeface="IBM Plex Mono"/>
              </a:rPr>
              <a:t>env.example</a:t>
            </a:r>
            <a:r>
              <a:rPr lang="en-US" sz="1200" b="0" dirty="0">
                <a:solidFill>
                  <a:srgbClr val="8D8D8D"/>
                </a:solidFill>
                <a:latin typeface="IBM Plex Mono"/>
                <a:ea typeface="IBM Plex Mono"/>
              </a:rPr>
              <a:t> .env</a:t>
            </a:r>
          </a:p>
        </p:txBody>
      </p:sp>
      <p:sp>
        <p:nvSpPr>
          <p:cNvPr id="100190" name="BottomBar"/>
          <p:cNvSpPr txBox="1"/>
          <p:nvPr/>
        </p:nvSpPr>
        <p:spPr>
          <a:xfrm>
            <a:off x="0" y="6426000"/>
            <a:ext cx="12193200" cy="144000"/>
          </a:xfrm>
          <a:prstGeom prst="rect">
            <a:avLst/>
          </a:prstGeom>
          <a:solidFill>
            <a:srgbClr val="0F62FE"/>
          </a:solidFill>
        </p:spPr>
        <p:txBody>
          <a:bodyPr/>
          <a:lstStyle/>
          <a:p>
            <a:endParaRPr lang="en-US" sz="800">
              <a:solidFill>
                <a:srgbClr val="0F62FE"/>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4197</Words>
  <Application>Microsoft Macintosh PowerPoint</Application>
  <PresentationFormat>Widescreen</PresentationFormat>
  <Paragraphs>463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IBM Plex Mono</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Yi-Hong Wang</cp:lastModifiedBy>
  <cp:revision>2</cp:revision>
  <dcterms:created xsi:type="dcterms:W3CDTF">2026-10-07T21:25:13Z</dcterms:created>
  <dcterms:modified xsi:type="dcterms:W3CDTF">2026-10-07T22:31:22Z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1.0.155</vt:lpwstr>
  </property>
  <property fmtid="{D5CDD505-2E9C-101B-9397-08002B2CF9AE}" pid="3" name="OfficeCLI.LastModified">
    <vt:lpwstr>2026-10-07T21:43:02Z</vt:lpwstr>
  </property>
</Properties>
</file>