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29"/>
  </p:notesMasterIdLst>
  <p:sldIdLst>
    <p:sldId id="256" r:id="rId3"/>
    <p:sldId id="257" r:id="rId4"/>
    <p:sldId id="280" r:id="rId5"/>
    <p:sldId id="276" r:id="rId6"/>
    <p:sldId id="258" r:id="rId7"/>
    <p:sldId id="278" r:id="rId8"/>
    <p:sldId id="285" r:id="rId9"/>
    <p:sldId id="261" r:id="rId10"/>
    <p:sldId id="262" r:id="rId11"/>
    <p:sldId id="279" r:id="rId12"/>
    <p:sldId id="281" r:id="rId13"/>
    <p:sldId id="263" r:id="rId14"/>
    <p:sldId id="277" r:id="rId15"/>
    <p:sldId id="264" r:id="rId16"/>
    <p:sldId id="265" r:id="rId17"/>
    <p:sldId id="266" r:id="rId18"/>
    <p:sldId id="267" r:id="rId19"/>
    <p:sldId id="268" r:id="rId20"/>
    <p:sldId id="269" r:id="rId21"/>
    <p:sldId id="270" r:id="rId22"/>
    <p:sldId id="271" r:id="rId23"/>
    <p:sldId id="272" r:id="rId24"/>
    <p:sldId id="273" r:id="rId25"/>
    <p:sldId id="274" r:id="rId26"/>
    <p:sldId id="284" r:id="rId27"/>
    <p:sldId id="27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270"/>
    <p:restoredTop sz="78082"/>
  </p:normalViewPr>
  <p:slideViewPr>
    <p:cSldViewPr snapToGrid="0">
      <p:cViewPr varScale="1">
        <p:scale>
          <a:sx n="93" d="100"/>
          <a:sy n="93" d="100"/>
        </p:scale>
        <p:origin x="236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10/14/26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Welcome everyone! Today we build a fully working data </a:t>
            </a:r>
            <a:r>
              <a:rPr lang="en-US" dirty="0" err="1"/>
              <a:t>lakehouse</a:t>
            </a:r>
            <a:r>
              <a:rPr lang="en-US" dirty="0"/>
              <a:t> on your laptop — no cloud accounts needed. We'll ingest 1.7M+ real GitHub events, query them with a distributed SQL engine, and demonstrate ACID transactions, GDPR deletes, and BI dashboards. Ask attendees to confirm Docker is running and the repo is cloned before we start.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Walk through the agenda. Part 1 is instructor-led lecture (~45 min). Part 2 is hands-on where everyone follows along on their own machine. Suggest a 10-min break between parts. Mention that all commands are in the README so nobody needs to type from slides.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Ask everyone to open their terminal, clone the repo, and run docker compose pull immediately. Emphasize that ~6 GB of Docker images will download in the background while you present Part 1, avoiding network congestion when the hands-on lab starts.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GitHub Archive is a completely free, public dataset — no API key, no authentication. The URL pattern is: https://</a:t>
            </a:r>
            <a:r>
              <a:rPr lang="en-US" dirty="0" err="1"/>
              <a:t>data.gharchive.org</a:t>
            </a:r>
            <a:r>
              <a:rPr lang="en-US" dirty="0"/>
              <a:t>/YYYY-MM-DD-</a:t>
            </a:r>
            <a:r>
              <a:rPr lang="en-US" dirty="0" err="1"/>
              <a:t>H.json.gz</a:t>
            </a:r>
            <a:r>
              <a:rPr lang="en-US" dirty="0"/>
              <a:t> (note: hour is unpadded — 0 not 00). Each hourly file is typically 30-200 MB compressed and inflates 8-10x. </a:t>
            </a:r>
            <a:r>
              <a:rPr lang="en-US" dirty="0" err="1"/>
              <a:t>PushEvent</a:t>
            </a:r>
            <a:r>
              <a:rPr lang="en-US" dirty="0"/>
              <a:t> dominates at ~65% of all events. The payload structure is polymorphic — a </a:t>
            </a:r>
            <a:r>
              <a:rPr lang="en-US" dirty="0" err="1"/>
              <a:t>PushEvent</a:t>
            </a:r>
            <a:r>
              <a:rPr lang="en-US" dirty="0"/>
              <a:t> has </a:t>
            </a:r>
            <a:r>
              <a:rPr lang="en-US" dirty="0" err="1"/>
              <a:t>push_id</a:t>
            </a:r>
            <a:r>
              <a:rPr lang="en-US" dirty="0"/>
              <a:t> and commits, an </a:t>
            </a:r>
            <a:r>
              <a:rPr lang="en-US" dirty="0" err="1"/>
              <a:t>IssuesEvent</a:t>
            </a:r>
            <a:r>
              <a:rPr lang="en-US" dirty="0"/>
              <a:t> has action and issue details. This is why we model every payload field as nullable in </a:t>
            </a:r>
            <a:r>
              <a:rPr lang="en-US" dirty="0" err="1"/>
              <a:t>github-schema.avsc</a:t>
            </a:r>
            <a:r>
              <a:rPr lang="en-US" dirty="0"/>
              <a:t> — not all fields exist for every event type.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Section break slide. Pause here and ask: 'Who has heard of a data lake? A data warehouse? Good — a </a:t>
            </a:r>
            <a:r>
              <a:rPr lang="en-US" dirty="0" err="1"/>
              <a:t>lakehouse</a:t>
            </a:r>
            <a:r>
              <a:rPr lang="en-US" dirty="0"/>
              <a:t> is the best of both worlds.' This sets the stage for why Hudi exists.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Each pain point is real and costly at scale. </a:t>
            </a:r>
          </a:p>
          <a:p>
            <a:r>
              <a:rPr lang="en-US" dirty="0"/>
              <a:t>ACID – Atomicity, Consistency, Isolation, Durability.</a:t>
            </a:r>
          </a:p>
          <a:p>
            <a:r>
              <a:rPr lang="en-US" dirty="0"/>
              <a:t>GDPR deletes at Netflix, Uber, and LinkedIn each required full-table rewrites before Hudi existed.</a:t>
            </a:r>
          </a:p>
          <a:p>
            <a:r>
              <a:rPr lang="en-US" dirty="0"/>
              <a:t>Small files at scale can mean millions of Parquet files — each requiring a separate S3 LIST call, crushing performance.</a:t>
            </a:r>
          </a:p>
          <a:p>
            <a:endParaRPr lang="en-US" dirty="0"/>
          </a:p>
          <a:p>
            <a:r>
              <a:rPr lang="en-US" dirty="0"/>
              <a:t>Hudi was originally built at Uber specifically to solve these problems.</a:t>
            </a:r>
          </a:p>
          <a:p>
            <a:endParaRPr lang="en-US" dirty="0"/>
          </a:p>
          <a:p>
            <a:endParaRPr lang="en-US" dirty="0"/>
          </a:p>
          <a:p>
            <a:r>
              <a:rPr lang="en-US" dirty="0"/>
              <a:t>The key message: a Lakehouse is not a new type of storage — it is a transaction layer (table format) sitting on top of ordinary object storage. Hudi, Delta Lake, and Iceberg all implement this pattern. The differentiator for this workshop is </a:t>
            </a:r>
            <a:r>
              <a:rPr lang="en-US" dirty="0" err="1"/>
              <a:t>HoodieStreamer</a:t>
            </a:r>
            <a:r>
              <a:rPr lang="en-US" dirty="0"/>
              <a:t>, which is Hudi's purpose-built bulk-ingestion utility with Avro schema enforcement. No equivalent exists for Delta or Iceberg on vanilla open-source infrastructure.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3D4F5-B289-B17F-E6AB-16FBC4BD28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7529E-0406-722A-6FD0-BEECA8056ED4}"/>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62F7C0ED-5FFA-A351-FC4E-3ACF1C891D0D}"/>
              </a:ext>
            </a:extLst>
          </p:cNvPr>
          <p:cNvSpPr>
            <a:spLocks noGrp="1"/>
          </p:cNvSpPr>
          <p:nvPr>
            <p:ph type="body" idx="1"/>
          </p:nvPr>
        </p:nvSpPr>
        <p:spPr/>
        <p:txBody>
          <a:bodyPr/>
          <a:lstStyle/>
          <a:p>
            <a:r>
              <a:rPr lang="en-US" dirty="0"/>
              <a:t>BI tools: Apache zeppelin, MS Excel, Apache superset, Jupyter Notebook, tableau (</a:t>
            </a:r>
            <a:r>
              <a:rPr lang="en-US" dirty="0" err="1"/>
              <a:t>tablow</a:t>
            </a:r>
            <a:r>
              <a:rPr lang="en-US" dirty="0"/>
              <a:t>)</a:t>
            </a:r>
          </a:p>
          <a:p>
            <a:r>
              <a:rPr lang="en-US" dirty="0"/>
              <a:t>Data processing engine: Presto, Apache Spark.</a:t>
            </a:r>
          </a:p>
        </p:txBody>
      </p:sp>
    </p:spTree>
    <p:extLst>
      <p:ext uri="{BB962C8B-B14F-4D97-AF65-F5344CB8AC3E}">
        <p14:creationId xmlns:p14="http://schemas.microsoft.com/office/powerpoint/2010/main" val="2702910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Hadoop </a:t>
            </a:r>
            <a:r>
              <a:rPr lang="en-US" dirty="0" err="1"/>
              <a:t>Upserts</a:t>
            </a:r>
            <a:r>
              <a:rPr lang="en-US" dirty="0"/>
              <a:t> Deletes and </a:t>
            </a:r>
            <a:r>
              <a:rPr lang="en-US" dirty="0" err="1"/>
              <a:t>Incrementals</a:t>
            </a:r>
            <a:endParaRPr lang="en-US" dirty="0"/>
          </a:p>
          <a:p>
            <a:r>
              <a:rPr lang="en-US" dirty="0"/>
              <a:t>Take time here — these 6 concepts map directly to properties in spark/</a:t>
            </a:r>
            <a:r>
              <a:rPr lang="en-US" dirty="0" err="1"/>
              <a:t>github-ingest.properties</a:t>
            </a:r>
            <a:r>
              <a:rPr lang="en-US" dirty="0"/>
              <a:t>. Point out that Record Key = </a:t>
            </a:r>
            <a:r>
              <a:rPr lang="en-US" dirty="0" err="1"/>
              <a:t>hoodie.datasource.write.recordkey.field</a:t>
            </a:r>
            <a:r>
              <a:rPr lang="en-US" dirty="0"/>
              <a:t>=id. </a:t>
            </a:r>
            <a:r>
              <a:rPr lang="en-US" dirty="0" err="1"/>
              <a:t>Precombine</a:t>
            </a:r>
            <a:r>
              <a:rPr lang="en-US" dirty="0"/>
              <a:t> Key = </a:t>
            </a:r>
            <a:r>
              <a:rPr lang="en-US" dirty="0" err="1"/>
              <a:t>hoodie.datasource.write.precombine.field</a:t>
            </a:r>
            <a:r>
              <a:rPr lang="en-US" dirty="0"/>
              <a:t>=</a:t>
            </a:r>
            <a:r>
              <a:rPr lang="en-US" dirty="0" err="1"/>
              <a:t>created_at</a:t>
            </a:r>
            <a:r>
              <a:rPr lang="en-US" dirty="0"/>
              <a:t>. Partition = </a:t>
            </a:r>
            <a:r>
              <a:rPr lang="en-US" dirty="0" err="1"/>
              <a:t>hoodie.datasource.write.partitionpath.field</a:t>
            </a:r>
            <a:r>
              <a:rPr lang="en-US" dirty="0"/>
              <a:t>=type. We'll see these in the config files during the lab.</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This is the complete stack. Emphasize that EVERYTHING runs in Docker — no cloud accounts, no installed JVMs, no Python package conflicts. One docker compose up and it all starts. The .env file is the only thing each attendee needs to configure. Walk the flow: GitHub Archive → Airflow downloads → </a:t>
            </a:r>
            <a:r>
              <a:rPr lang="en-US" dirty="0" err="1"/>
              <a:t>MinIO</a:t>
            </a:r>
            <a:r>
              <a:rPr lang="en-US" dirty="0"/>
              <a:t> staging → Spark/</a:t>
            </a:r>
            <a:r>
              <a:rPr lang="en-US" dirty="0" err="1"/>
              <a:t>HoodieStreamer</a:t>
            </a:r>
            <a:r>
              <a:rPr lang="en-US" dirty="0"/>
              <a:t> → Hudi tables on </a:t>
            </a:r>
            <a:r>
              <a:rPr lang="en-US" dirty="0" err="1"/>
              <a:t>MinIO</a:t>
            </a:r>
            <a:r>
              <a:rPr lang="en-US" dirty="0"/>
              <a:t> → Hive </a:t>
            </a:r>
            <a:r>
              <a:rPr lang="en-US" dirty="0" err="1"/>
              <a:t>Metastore</a:t>
            </a:r>
            <a:r>
              <a:rPr lang="en-US" dirty="0"/>
              <a:t> catalog → Presto queries → Superset dashboards.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For each row, emphasize the single-responsibility principle: MinIO is just storage, Spark is just ingestion, Hive is just the catalog, Presto is just queries. No one component does two jobs. This is what makes the system swappable — you could replace Presto with Trino (API-compatible) or MinIO with AWS S3 (same S3A API) without touching any other layer. The 'Why We Use It' column is the key column here — each choice was deliberate, not default.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Walk the diagram top to bottom. GitHub Archive API feeds Airflow, which stages raw data in </a:t>
            </a:r>
            <a:r>
              <a:rPr lang="en-US" dirty="0" err="1"/>
              <a:t>MinIO</a:t>
            </a:r>
            <a:r>
              <a:rPr lang="en-US" dirty="0"/>
              <a:t> and triggers the Spark </a:t>
            </a:r>
            <a:r>
              <a:rPr lang="en-US" dirty="0" err="1"/>
              <a:t>HoodieStreamer</a:t>
            </a:r>
            <a:r>
              <a:rPr lang="en-US" dirty="0"/>
              <a:t> job. Spark commits Hudi Parquet files to </a:t>
            </a:r>
            <a:r>
              <a:rPr lang="en-US" dirty="0" err="1"/>
              <a:t>MinIO</a:t>
            </a:r>
            <a:r>
              <a:rPr lang="en-US" dirty="0"/>
              <a:t> and syncs partitions to the Hive </a:t>
            </a:r>
            <a:r>
              <a:rPr lang="en-US" dirty="0" err="1"/>
              <a:t>Metastore</a:t>
            </a:r>
            <a:r>
              <a:rPr lang="en-US" dirty="0"/>
              <a:t> (MySQL-backed). </a:t>
            </a:r>
            <a:r>
              <a:rPr lang="en-US" dirty="0" err="1"/>
              <a:t>PrestoDB</a:t>
            </a:r>
            <a:r>
              <a:rPr lang="en-US" dirty="0"/>
              <a:t> reads Parquet from </a:t>
            </a:r>
            <a:r>
              <a:rPr lang="en-US" dirty="0" err="1"/>
              <a:t>MinIO</a:t>
            </a:r>
            <a:r>
              <a:rPr lang="en-US" dirty="0"/>
              <a:t> and catalog metadata from the </a:t>
            </a:r>
            <a:r>
              <a:rPr lang="en-US" dirty="0" err="1"/>
              <a:t>Metastore</a:t>
            </a:r>
            <a:r>
              <a:rPr lang="en-US" dirty="0"/>
              <a:t>, and serves interactive SQL to Superset dashboards.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Walk this flow step by step. Emphasize: Task 2 runs spark-submit INSIDE the spark-client container via docker exec — Airflow doesn't bundle Java. This is why the Docker socket is mounted. Task 3 connects to Presto via </a:t>
            </a:r>
            <a:r>
              <a:rPr lang="en-US" dirty="0" err="1"/>
              <a:t>PyHive</a:t>
            </a:r>
            <a:r>
              <a:rPr lang="en-US" dirty="0"/>
              <a:t> and runs 5 SQL assertions — it acts as an automated data contract enforcement layer.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This is the heart of the ingestion pipeline. </a:t>
            </a:r>
            <a:r>
              <a:rPr lang="en-US" dirty="0" err="1"/>
              <a:t>HoodieStreamer</a:t>
            </a:r>
            <a:r>
              <a:rPr lang="en-US" dirty="0"/>
              <a:t> is Hudi's built-in ETL utility — you don't write any Spark code; you configure it via CLI flags and a .properties file. The 5-step flow is exactly what happens when Airflow triggers Task 2. Key things to emphasize: Step 3 (deduplication) is automatic — no custom code needed; Hudi handles it via the </a:t>
            </a:r>
            <a:r>
              <a:rPr lang="en-US" dirty="0" err="1"/>
              <a:t>precombine</a:t>
            </a:r>
            <a:r>
              <a:rPr lang="en-US" dirty="0"/>
              <a:t> key. Step 5 (Hive sync) is what makes the table appear in Presto without any manual DDL. The </a:t>
            </a:r>
            <a:r>
              <a:rPr lang="en-US" dirty="0" err="1"/>
              <a:t>github-ingest.properties</a:t>
            </a:r>
            <a:r>
              <a:rPr lang="en-US" dirty="0"/>
              <a:t> file contains the remaining 18 runtime properties that aren't passed as CLI flags.</a:t>
            </a:r>
          </a:p>
          <a:p>
            <a:endParaRPr lang="en-US" dirty="0"/>
          </a:p>
          <a:p>
            <a:r>
              <a:rPr lang="en-US" dirty="0" err="1"/>
              <a:t>github-schema.avsc</a:t>
            </a:r>
            <a:r>
              <a:rPr lang="en-US" dirty="0"/>
              <a:t>:</a:t>
            </a:r>
          </a:p>
          <a:p>
            <a:r>
              <a:rPr lang="en-US" sz="1200" b="0" i="0" kern="1200" dirty="0">
                <a:solidFill>
                  <a:schemeClr val="tx1"/>
                </a:solidFill>
                <a:effectLst/>
                <a:latin typeface="+mn-lt"/>
                <a:ea typeface="+mn-ea"/>
                <a:cs typeface="+mn-cs"/>
              </a:rPr>
              <a:t>It is written in </a:t>
            </a:r>
            <a:r>
              <a:rPr lang="en-US" sz="1200" b="1" i="0" kern="1200" dirty="0">
                <a:solidFill>
                  <a:schemeClr val="tx1"/>
                </a:solidFill>
                <a:effectLst/>
                <a:latin typeface="+mn-lt"/>
                <a:ea typeface="+mn-ea"/>
                <a:cs typeface="+mn-cs"/>
              </a:rPr>
              <a:t>Apache Avro Schema format</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a:t>
            </a:r>
            <a:r>
              <a:rPr lang="en-US" sz="1100" b="0" i="0" kern="1200" dirty="0" err="1">
                <a:solidFill>
                  <a:schemeClr val="tx1"/>
                </a:solidFill>
                <a:effectLst/>
                <a:latin typeface="+mn-lt"/>
                <a:ea typeface="+mn-ea"/>
                <a:cs typeface="+mn-cs"/>
              </a:rPr>
              <a:t>avsc</a:t>
            </a:r>
            <a:r>
              <a:rPr lang="en-US" sz="1200" b="0" i="0" kern="1200" dirty="0">
                <a:solidFill>
                  <a:schemeClr val="tx1"/>
                </a:solidFill>
                <a:effectLst/>
                <a:latin typeface="+mn-lt"/>
                <a:ea typeface="+mn-ea"/>
                <a:cs typeface="+mn-cs"/>
              </a:rPr>
              <a:t> is JSON-encoded Avro):</a:t>
            </a:r>
          </a:p>
          <a:p>
            <a:pPr lvl="0"/>
            <a:r>
              <a:rPr lang="en-US" sz="1200" b="1" i="0" kern="1200" dirty="0">
                <a:solidFill>
                  <a:schemeClr val="tx1"/>
                </a:solidFill>
                <a:effectLst/>
                <a:latin typeface="+mn-lt"/>
                <a:ea typeface="+mn-ea"/>
                <a:cs typeface="+mn-cs"/>
              </a:rPr>
              <a:t>Root Record:</a:t>
            </a:r>
            <a:r>
              <a:rPr lang="en-US" sz="1200" b="0" i="0" kern="1200" dirty="0">
                <a:solidFill>
                  <a:schemeClr val="tx1"/>
                </a:solidFill>
                <a:effectLst/>
                <a:latin typeface="+mn-lt"/>
                <a:ea typeface="+mn-ea"/>
                <a:cs typeface="+mn-cs"/>
              </a:rPr>
              <a:t> An Avro record named </a:t>
            </a:r>
            <a:r>
              <a:rPr lang="en-US" sz="1100" b="0" i="0" kern="1200" dirty="0" err="1">
                <a:solidFill>
                  <a:schemeClr val="tx1"/>
                </a:solidFill>
                <a:effectLst/>
                <a:latin typeface="+mn-lt"/>
                <a:ea typeface="+mn-ea"/>
                <a:cs typeface="+mn-cs"/>
              </a:rPr>
              <a:t>github_events</a:t>
            </a:r>
            <a:r>
              <a:rPr lang="en-US" sz="1200" b="0" i="0" kern="1200" dirty="0">
                <a:solidFill>
                  <a:schemeClr val="tx1"/>
                </a:solidFill>
                <a:effectLst/>
                <a:latin typeface="+mn-lt"/>
                <a:ea typeface="+mn-ea"/>
                <a:cs typeface="+mn-cs"/>
              </a:rPr>
              <a:t> in the </a:t>
            </a:r>
            <a:r>
              <a:rPr lang="en-US" sz="1100" b="0" i="0" kern="1200" dirty="0" err="1">
                <a:solidFill>
                  <a:schemeClr val="tx1"/>
                </a:solidFill>
                <a:effectLst/>
                <a:latin typeface="+mn-lt"/>
                <a:ea typeface="+mn-ea"/>
                <a:cs typeface="+mn-cs"/>
              </a:rPr>
              <a:t>hudi</a:t>
            </a:r>
            <a:r>
              <a:rPr lang="en-US" sz="1200" b="0" i="0" kern="1200" dirty="0">
                <a:solidFill>
                  <a:schemeClr val="tx1"/>
                </a:solidFill>
                <a:effectLst/>
                <a:latin typeface="+mn-lt"/>
                <a:ea typeface="+mn-ea"/>
                <a:cs typeface="+mn-cs"/>
              </a:rPr>
              <a:t> namespace.</a:t>
            </a:r>
          </a:p>
          <a:p>
            <a:pPr lvl="0"/>
            <a:r>
              <a:rPr lang="en-US" sz="1200" b="1" i="0" kern="1200" dirty="0">
                <a:solidFill>
                  <a:schemeClr val="tx1"/>
                </a:solidFill>
                <a:effectLst/>
                <a:latin typeface="+mn-lt"/>
                <a:ea typeface="+mn-ea"/>
                <a:cs typeface="+mn-cs"/>
              </a:rPr>
              <a:t>8 Top-Level Fields:</a:t>
            </a:r>
            <a:endParaRPr lang="en-US" sz="1200" b="0" i="0" kern="1200" dirty="0">
              <a:solidFill>
                <a:schemeClr val="tx1"/>
              </a:solidFill>
              <a:effectLst/>
              <a:latin typeface="+mn-lt"/>
              <a:ea typeface="+mn-ea"/>
              <a:cs typeface="+mn-cs"/>
            </a:endParaRPr>
          </a:p>
          <a:p>
            <a:pPr lvl="1"/>
            <a:r>
              <a:rPr lang="en-US" sz="1100" b="0" i="0" kern="1200" dirty="0">
                <a:solidFill>
                  <a:schemeClr val="tx1"/>
                </a:solidFill>
                <a:effectLst/>
                <a:latin typeface="+mn-lt"/>
                <a:ea typeface="+mn-ea"/>
                <a:cs typeface="+mn-cs"/>
              </a:rPr>
              <a:t>id</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string</a:t>
            </a:r>
            <a:r>
              <a:rPr lang="en-US" sz="1200" b="0" i="0" kern="1200" dirty="0">
                <a:solidFill>
                  <a:schemeClr val="tx1"/>
                </a:solidFill>
                <a:effectLst/>
                <a:latin typeface="+mn-lt"/>
                <a:ea typeface="+mn-ea"/>
                <a:cs typeface="+mn-cs"/>
              </a:rPr>
              <a:t>, nullable): Unique GitHub event ID (used as Hudi record key).</a:t>
            </a:r>
          </a:p>
          <a:p>
            <a:pPr lvl="1"/>
            <a:r>
              <a:rPr lang="en-US" sz="1100" b="0" i="0" kern="1200" dirty="0">
                <a:solidFill>
                  <a:schemeClr val="tx1"/>
                </a:solidFill>
                <a:effectLst/>
                <a:latin typeface="+mn-lt"/>
                <a:ea typeface="+mn-ea"/>
                <a:cs typeface="+mn-cs"/>
              </a:rPr>
              <a:t>type</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string</a:t>
            </a:r>
            <a:r>
              <a:rPr lang="en-US" sz="1200" b="0" i="0" kern="1200" dirty="0">
                <a:solidFill>
                  <a:schemeClr val="tx1"/>
                </a:solidFill>
                <a:effectLst/>
                <a:latin typeface="+mn-lt"/>
                <a:ea typeface="+mn-ea"/>
                <a:cs typeface="+mn-cs"/>
              </a:rPr>
              <a:t>, nullable): Event type (e.g. </a:t>
            </a:r>
            <a:r>
              <a:rPr lang="en-US" sz="1100" b="0" i="0" kern="1200" dirty="0" err="1">
                <a:solidFill>
                  <a:schemeClr val="tx1"/>
                </a:solidFill>
                <a:effectLst/>
                <a:latin typeface="+mn-lt"/>
                <a:ea typeface="+mn-ea"/>
                <a:cs typeface="+mn-cs"/>
              </a:rPr>
              <a:t>PushEvent</a:t>
            </a:r>
            <a:r>
              <a:rPr lang="en-US" sz="1200" b="0" i="0" kern="1200" dirty="0">
                <a:solidFill>
                  <a:schemeClr val="tx1"/>
                </a:solidFill>
                <a:effectLst/>
                <a:latin typeface="+mn-lt"/>
                <a:ea typeface="+mn-ea"/>
                <a:cs typeface="+mn-cs"/>
              </a:rPr>
              <a:t>, </a:t>
            </a:r>
            <a:r>
              <a:rPr lang="en-US" sz="1100" b="0" i="0" kern="1200" dirty="0" err="1">
                <a:solidFill>
                  <a:schemeClr val="tx1"/>
                </a:solidFill>
                <a:effectLst/>
                <a:latin typeface="+mn-lt"/>
                <a:ea typeface="+mn-ea"/>
                <a:cs typeface="+mn-cs"/>
              </a:rPr>
              <a:t>PullRequestEvent</a:t>
            </a:r>
            <a:r>
              <a:rPr lang="en-US" sz="1200" b="0" i="0" kern="1200" dirty="0">
                <a:solidFill>
                  <a:schemeClr val="tx1"/>
                </a:solidFill>
                <a:effectLst/>
                <a:latin typeface="+mn-lt"/>
                <a:ea typeface="+mn-ea"/>
                <a:cs typeface="+mn-cs"/>
              </a:rPr>
              <a:t>).</a:t>
            </a:r>
          </a:p>
          <a:p>
            <a:pPr lvl="1"/>
            <a:r>
              <a:rPr lang="en-US" sz="1100" b="0" i="0" kern="1200" dirty="0">
                <a:solidFill>
                  <a:schemeClr val="tx1"/>
                </a:solidFill>
                <a:effectLst/>
                <a:latin typeface="+mn-lt"/>
                <a:ea typeface="+mn-ea"/>
                <a:cs typeface="+mn-cs"/>
              </a:rPr>
              <a:t>public</a:t>
            </a:r>
            <a:r>
              <a:rPr lang="en-US" sz="1200" b="0" i="0" kern="1200" dirty="0">
                <a:solidFill>
                  <a:schemeClr val="tx1"/>
                </a:solidFill>
                <a:effectLst/>
                <a:latin typeface="+mn-lt"/>
                <a:ea typeface="+mn-ea"/>
                <a:cs typeface="+mn-cs"/>
              </a:rPr>
              <a:t> (</a:t>
            </a:r>
            <a:r>
              <a:rPr lang="en-US" sz="1100" b="0" i="0" kern="1200" dirty="0" err="1">
                <a:solidFill>
                  <a:schemeClr val="tx1"/>
                </a:solidFill>
                <a:effectLst/>
                <a:latin typeface="+mn-lt"/>
                <a:ea typeface="+mn-ea"/>
                <a:cs typeface="+mn-cs"/>
              </a:rPr>
              <a:t>boolean</a:t>
            </a:r>
            <a:r>
              <a:rPr lang="en-US" sz="1200" b="0" i="0" kern="1200" dirty="0">
                <a:solidFill>
                  <a:schemeClr val="tx1"/>
                </a:solidFill>
                <a:effectLst/>
                <a:latin typeface="+mn-lt"/>
                <a:ea typeface="+mn-ea"/>
                <a:cs typeface="+mn-cs"/>
              </a:rPr>
              <a:t>, nullable).</a:t>
            </a:r>
          </a:p>
          <a:p>
            <a:pPr lvl="1"/>
            <a:r>
              <a:rPr lang="en-US" sz="1100" b="0" i="0" kern="1200" dirty="0" err="1">
                <a:solidFill>
                  <a:schemeClr val="tx1"/>
                </a:solidFill>
                <a:effectLst/>
                <a:latin typeface="+mn-lt"/>
                <a:ea typeface="+mn-ea"/>
                <a:cs typeface="+mn-cs"/>
              </a:rPr>
              <a:t>created_at</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string</a:t>
            </a:r>
            <a:r>
              <a:rPr lang="en-US" sz="1200" b="0" i="0" kern="1200" dirty="0">
                <a:solidFill>
                  <a:schemeClr val="tx1"/>
                </a:solidFill>
                <a:effectLst/>
                <a:latin typeface="+mn-lt"/>
                <a:ea typeface="+mn-ea"/>
                <a:cs typeface="+mn-cs"/>
              </a:rPr>
              <a:t>, nullable): ISO-8601 event timestamp (used as </a:t>
            </a:r>
            <a:r>
              <a:rPr lang="en-US" sz="1200" b="0" i="0" kern="1200" dirty="0" err="1">
                <a:solidFill>
                  <a:schemeClr val="tx1"/>
                </a:solidFill>
                <a:effectLst/>
                <a:latin typeface="+mn-lt"/>
                <a:ea typeface="+mn-ea"/>
                <a:cs typeface="+mn-cs"/>
              </a:rPr>
              <a:t>precombine</a:t>
            </a:r>
            <a:r>
              <a:rPr lang="en-US" sz="1200" b="0" i="0" kern="1200" dirty="0">
                <a:solidFill>
                  <a:schemeClr val="tx1"/>
                </a:solidFill>
                <a:effectLst/>
                <a:latin typeface="+mn-lt"/>
                <a:ea typeface="+mn-ea"/>
                <a:cs typeface="+mn-cs"/>
              </a:rPr>
              <a:t> key).</a:t>
            </a:r>
          </a:p>
          <a:p>
            <a:pPr lvl="1"/>
            <a:r>
              <a:rPr lang="en-US" sz="1200" b="0" i="0" kern="1200" dirty="0">
                <a:solidFill>
                  <a:schemeClr val="tx1"/>
                </a:solidFill>
                <a:effectLst/>
                <a:latin typeface="+mn-lt"/>
                <a:ea typeface="+mn-ea"/>
                <a:cs typeface="+mn-cs"/>
              </a:rPr>
              <a:t>actor</a:t>
            </a:r>
            <a:r>
              <a:rPr lang="en-US" sz="1400" b="0" i="0" kern="1200" dirty="0">
                <a:solidFill>
                  <a:schemeClr val="tx1"/>
                </a:solidFill>
                <a:effectLst/>
                <a:latin typeface="+mn-lt"/>
                <a:ea typeface="+mn-ea"/>
                <a:cs typeface="+mn-cs"/>
              </a:rPr>
              <a:t> (nested record </a:t>
            </a:r>
            <a:r>
              <a:rPr lang="en-US" sz="1200" b="0" i="0" kern="1200" dirty="0" err="1">
                <a:solidFill>
                  <a:schemeClr val="tx1"/>
                </a:solidFill>
                <a:effectLst/>
                <a:latin typeface="+mn-lt"/>
                <a:ea typeface="+mn-ea"/>
                <a:cs typeface="+mn-cs"/>
              </a:rPr>
              <a:t>actor_record</a:t>
            </a:r>
            <a:r>
              <a:rPr lang="en-US" sz="14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id</a:t>
            </a:r>
            <a:r>
              <a:rPr lang="en-US" sz="14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login</a:t>
            </a:r>
            <a:r>
              <a:rPr lang="en-US" sz="14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display_login</a:t>
            </a:r>
            <a:r>
              <a:rPr lang="en-US" sz="14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url</a:t>
            </a:r>
            <a:r>
              <a:rPr lang="en-US" sz="14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avatar_url</a:t>
            </a:r>
            <a:r>
              <a:rPr lang="en-US" sz="1400" b="0" i="0" kern="1200" dirty="0">
                <a:solidFill>
                  <a:schemeClr val="tx1"/>
                </a:solidFill>
                <a:effectLst/>
                <a:latin typeface="+mn-lt"/>
                <a:ea typeface="+mn-ea"/>
                <a:cs typeface="+mn-cs"/>
              </a:rPr>
              <a:t>, etc.</a:t>
            </a:r>
          </a:p>
          <a:p>
            <a:pPr lvl="1"/>
            <a:r>
              <a:rPr lang="en-US" sz="1100" b="0" i="0" kern="1200" dirty="0">
                <a:solidFill>
                  <a:schemeClr val="tx1"/>
                </a:solidFill>
                <a:effectLst/>
                <a:latin typeface="+mn-lt"/>
                <a:ea typeface="+mn-ea"/>
                <a:cs typeface="+mn-cs"/>
              </a:rPr>
              <a:t>repo</a:t>
            </a:r>
            <a:r>
              <a:rPr lang="en-US" sz="1200" b="0" i="0" kern="1200" dirty="0">
                <a:solidFill>
                  <a:schemeClr val="tx1"/>
                </a:solidFill>
                <a:effectLst/>
                <a:latin typeface="+mn-lt"/>
                <a:ea typeface="+mn-ea"/>
                <a:cs typeface="+mn-cs"/>
              </a:rPr>
              <a:t> (nested record </a:t>
            </a:r>
            <a:r>
              <a:rPr lang="en-US" sz="1100" b="0" i="0" kern="1200" dirty="0" err="1">
                <a:solidFill>
                  <a:schemeClr val="tx1"/>
                </a:solidFill>
                <a:effectLst/>
                <a:latin typeface="+mn-lt"/>
                <a:ea typeface="+mn-ea"/>
                <a:cs typeface="+mn-cs"/>
              </a:rPr>
              <a:t>repo_record</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id</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name</a:t>
            </a:r>
            <a:r>
              <a:rPr lang="en-US" sz="1200" b="0" i="0" kern="1200" dirty="0">
                <a:solidFill>
                  <a:schemeClr val="tx1"/>
                </a:solidFill>
                <a:effectLst/>
                <a:latin typeface="+mn-lt"/>
                <a:ea typeface="+mn-ea"/>
                <a:cs typeface="+mn-cs"/>
              </a:rPr>
              <a:t>, </a:t>
            </a:r>
            <a:r>
              <a:rPr lang="en-US" sz="1100" b="0" i="0" kern="1200" dirty="0" err="1">
                <a:solidFill>
                  <a:schemeClr val="tx1"/>
                </a:solidFill>
                <a:effectLst/>
                <a:latin typeface="+mn-lt"/>
                <a:ea typeface="+mn-ea"/>
                <a:cs typeface="+mn-cs"/>
              </a:rPr>
              <a:t>url</a:t>
            </a:r>
            <a:r>
              <a:rPr lang="en-US" sz="1200" b="0" i="0" kern="1200" dirty="0">
                <a:solidFill>
                  <a:schemeClr val="tx1"/>
                </a:solidFill>
                <a:effectLst/>
                <a:latin typeface="+mn-lt"/>
                <a:ea typeface="+mn-ea"/>
                <a:cs typeface="+mn-cs"/>
              </a:rPr>
              <a:t>.</a:t>
            </a:r>
          </a:p>
          <a:p>
            <a:pPr lvl="1"/>
            <a:r>
              <a:rPr lang="en-US" sz="1100" b="0" i="0" kern="1200" dirty="0">
                <a:solidFill>
                  <a:schemeClr val="tx1"/>
                </a:solidFill>
                <a:effectLst/>
                <a:latin typeface="+mn-lt"/>
                <a:ea typeface="+mn-ea"/>
                <a:cs typeface="+mn-cs"/>
              </a:rPr>
              <a:t>org</a:t>
            </a:r>
            <a:r>
              <a:rPr lang="en-US" sz="1200" b="0" i="0" kern="1200" dirty="0">
                <a:solidFill>
                  <a:schemeClr val="tx1"/>
                </a:solidFill>
                <a:effectLst/>
                <a:latin typeface="+mn-lt"/>
                <a:ea typeface="+mn-ea"/>
                <a:cs typeface="+mn-cs"/>
              </a:rPr>
              <a:t> (nested record </a:t>
            </a:r>
            <a:r>
              <a:rPr lang="en-US" sz="1100" b="0" i="0" kern="1200" dirty="0" err="1">
                <a:solidFill>
                  <a:schemeClr val="tx1"/>
                </a:solidFill>
                <a:effectLst/>
                <a:latin typeface="+mn-lt"/>
                <a:ea typeface="+mn-ea"/>
                <a:cs typeface="+mn-cs"/>
              </a:rPr>
              <a:t>org_record</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id</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login</a:t>
            </a:r>
            <a:r>
              <a:rPr lang="en-US" sz="1200" b="0" i="0" kern="1200" dirty="0">
                <a:solidFill>
                  <a:schemeClr val="tx1"/>
                </a:solidFill>
                <a:effectLst/>
                <a:latin typeface="+mn-lt"/>
                <a:ea typeface="+mn-ea"/>
                <a:cs typeface="+mn-cs"/>
              </a:rPr>
              <a:t>, </a:t>
            </a:r>
            <a:r>
              <a:rPr lang="en-US" sz="1100" b="0" i="0" kern="1200" dirty="0" err="1">
                <a:solidFill>
                  <a:schemeClr val="tx1"/>
                </a:solidFill>
                <a:effectLst/>
                <a:latin typeface="+mn-lt"/>
                <a:ea typeface="+mn-ea"/>
                <a:cs typeface="+mn-cs"/>
              </a:rPr>
              <a:t>url</a:t>
            </a:r>
            <a:r>
              <a:rPr lang="en-US" sz="1200" b="0" i="0" kern="1200" dirty="0">
                <a:solidFill>
                  <a:schemeClr val="tx1"/>
                </a:solidFill>
                <a:effectLst/>
                <a:latin typeface="+mn-lt"/>
                <a:ea typeface="+mn-ea"/>
                <a:cs typeface="+mn-cs"/>
              </a:rPr>
              <a:t>, etc.</a:t>
            </a:r>
          </a:p>
          <a:p>
            <a:pPr lvl="1"/>
            <a:r>
              <a:rPr lang="en-US" sz="1100" b="0" i="0" kern="1200" dirty="0">
                <a:solidFill>
                  <a:schemeClr val="tx1"/>
                </a:solidFill>
                <a:effectLst/>
                <a:latin typeface="+mn-lt"/>
                <a:ea typeface="+mn-ea"/>
                <a:cs typeface="+mn-cs"/>
              </a:rPr>
              <a:t>payload</a:t>
            </a:r>
            <a:r>
              <a:rPr lang="en-US" sz="1200" b="0" i="0" kern="1200" dirty="0">
                <a:solidFill>
                  <a:schemeClr val="tx1"/>
                </a:solidFill>
                <a:effectLst/>
                <a:latin typeface="+mn-lt"/>
                <a:ea typeface="+mn-ea"/>
                <a:cs typeface="+mn-cs"/>
              </a:rPr>
              <a:t> (nested record </a:t>
            </a:r>
            <a:r>
              <a:rPr lang="en-US" sz="1100" b="0" i="0" kern="1200" dirty="0" err="1">
                <a:solidFill>
                  <a:schemeClr val="tx1"/>
                </a:solidFill>
                <a:effectLst/>
                <a:latin typeface="+mn-lt"/>
                <a:ea typeface="+mn-ea"/>
                <a:cs typeface="+mn-cs"/>
              </a:rPr>
              <a:t>payload_record</a:t>
            </a:r>
            <a:r>
              <a:rPr lang="en-US" sz="1200" b="0" i="0" kern="1200" dirty="0">
                <a:solidFill>
                  <a:schemeClr val="tx1"/>
                </a:solidFill>
                <a:effectLst/>
                <a:latin typeface="+mn-lt"/>
                <a:ea typeface="+mn-ea"/>
                <a:cs typeface="+mn-cs"/>
              </a:rPr>
              <a:t>): Polymorphic GitHub payload structure with sub-records for </a:t>
            </a:r>
            <a:r>
              <a:rPr lang="en-US" sz="1100" b="0" i="0" kern="1200" dirty="0">
                <a:solidFill>
                  <a:schemeClr val="tx1"/>
                </a:solidFill>
                <a:effectLst/>
                <a:latin typeface="+mn-lt"/>
                <a:ea typeface="+mn-ea"/>
                <a:cs typeface="+mn-cs"/>
              </a:rPr>
              <a:t>issue</a:t>
            </a:r>
            <a:r>
              <a:rPr lang="en-US" sz="1200" b="0" i="0" kern="1200" dirty="0">
                <a:solidFill>
                  <a:schemeClr val="tx1"/>
                </a:solidFill>
                <a:effectLst/>
                <a:latin typeface="+mn-lt"/>
                <a:ea typeface="+mn-ea"/>
                <a:cs typeface="+mn-cs"/>
              </a:rPr>
              <a:t>, </a:t>
            </a:r>
            <a:r>
              <a:rPr lang="en-US" sz="1100" b="0" i="0" kern="1200" dirty="0" err="1">
                <a:solidFill>
                  <a:schemeClr val="tx1"/>
                </a:solidFill>
                <a:effectLst/>
                <a:latin typeface="+mn-lt"/>
                <a:ea typeface="+mn-ea"/>
                <a:cs typeface="+mn-cs"/>
              </a:rPr>
              <a:t>pull_request</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comment</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release</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action</a:t>
            </a:r>
            <a:r>
              <a:rPr lang="en-US" sz="1200" b="0" i="0" kern="120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ref</a:t>
            </a:r>
            <a:r>
              <a:rPr lang="en-US" sz="1200" b="0" i="0" kern="1200" dirty="0">
                <a:solidFill>
                  <a:schemeClr val="tx1"/>
                </a:solidFill>
                <a:effectLst/>
                <a:latin typeface="+mn-lt"/>
                <a:ea typeface="+mn-ea"/>
                <a:cs typeface="+mn-cs"/>
              </a:rPr>
              <a:t>, etc.</a:t>
            </a:r>
          </a:p>
          <a:p>
            <a:pPr lvl="0"/>
            <a:r>
              <a:rPr lang="en-US" sz="1200" b="1" i="0" kern="1200" dirty="0">
                <a:solidFill>
                  <a:schemeClr val="tx1"/>
                </a:solidFill>
                <a:effectLst/>
                <a:latin typeface="+mn-lt"/>
                <a:ea typeface="+mn-ea"/>
                <a:cs typeface="+mn-cs"/>
              </a:rPr>
              <a:t>Union Types with Null Defaults:</a:t>
            </a:r>
            <a:r>
              <a:rPr lang="en-US" sz="1200" b="0" i="0" kern="1200" dirty="0">
                <a:solidFill>
                  <a:schemeClr val="tx1"/>
                </a:solidFill>
                <a:effectLst/>
                <a:latin typeface="+mn-lt"/>
                <a:ea typeface="+mn-ea"/>
                <a:cs typeface="+mn-cs"/>
              </a:rPr>
              <a:t> Every field is wrapped as </a:t>
            </a:r>
            <a:r>
              <a:rPr lang="en-US" sz="1100" b="0" i="0" kern="1200" dirty="0">
                <a:solidFill>
                  <a:schemeClr val="tx1"/>
                </a:solidFill>
                <a:effectLst/>
                <a:latin typeface="+mn-lt"/>
                <a:ea typeface="+mn-ea"/>
                <a:cs typeface="+mn-cs"/>
              </a:rPr>
              <a:t>["null", "&lt;type&gt;"]</a:t>
            </a:r>
            <a:r>
              <a:rPr lang="en-US" sz="1200" b="0" i="0" kern="1200" dirty="0">
                <a:solidFill>
                  <a:schemeClr val="tx1"/>
                </a:solidFill>
                <a:effectLst/>
                <a:latin typeface="+mn-lt"/>
                <a:ea typeface="+mn-ea"/>
                <a:cs typeface="+mn-cs"/>
              </a:rPr>
              <a:t> with </a:t>
            </a:r>
            <a:r>
              <a:rPr lang="en-US" sz="1100" b="0" i="0" kern="1200" dirty="0">
                <a:solidFill>
                  <a:schemeClr val="tx1"/>
                </a:solidFill>
                <a:effectLst/>
                <a:latin typeface="+mn-lt"/>
                <a:ea typeface="+mn-ea"/>
                <a:cs typeface="+mn-cs"/>
              </a:rPr>
              <a:t>"default": null</a:t>
            </a:r>
            <a:r>
              <a:rPr lang="en-US" sz="1200" b="0" i="0" kern="1200" dirty="0">
                <a:solidFill>
                  <a:schemeClr val="tx1"/>
                </a:solidFill>
                <a:effectLst/>
                <a:latin typeface="+mn-lt"/>
                <a:ea typeface="+mn-ea"/>
                <a:cs typeface="+mn-cs"/>
              </a:rPr>
              <a:t> (e.g. </a:t>
            </a:r>
            <a:r>
              <a:rPr lang="en-US" sz="1100" b="0" i="0" kern="1200" dirty="0">
                <a:solidFill>
                  <a:schemeClr val="tx1"/>
                </a:solidFill>
                <a:effectLst/>
                <a:latin typeface="+mn-lt"/>
                <a:ea typeface="+mn-ea"/>
                <a:cs typeface="+mn-cs"/>
              </a:rPr>
              <a:t>{"name": "id", "type": ["null", "string"], "default": null}</a:t>
            </a:r>
            <a:r>
              <a:rPr lang="en-US" sz="1200" b="0" i="0" kern="1200" dirty="0">
                <a:solidFill>
                  <a:schemeClr val="tx1"/>
                </a:solidFill>
                <a:effectLst/>
                <a:latin typeface="+mn-lt"/>
                <a:ea typeface="+mn-ea"/>
                <a:cs typeface="+mn-cs"/>
              </a:rPr>
              <a:t>). This handles GitHub's highly polymorphic JSON structures where fields differ per event type without throwing parsing errors.</a:t>
            </a:r>
          </a:p>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Section break. Tell attendees to open a terminal window and have the cloned repo ready. Check that everyone has run 'docker compose pull' or at least has Docker running. The next slide covers prerequisites and environment setup.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Wait at this slide until everyone sees 'healthy' for presto-server, hive-</a:t>
            </a:r>
            <a:r>
              <a:rPr lang="en-US" dirty="0" err="1"/>
              <a:t>metastore</a:t>
            </a:r>
            <a:r>
              <a:rPr lang="en-US" dirty="0"/>
              <a:t>, airflow, </a:t>
            </a:r>
            <a:r>
              <a:rPr lang="en-US" dirty="0" err="1"/>
              <a:t>minio</a:t>
            </a:r>
            <a:r>
              <a:rPr lang="en-US" dirty="0"/>
              <a:t>. The most common issue at this stage is insufficient RAM — if containers keep restarting, check Docker Desktop memory allocation. </a:t>
            </a:r>
            <a:r>
              <a:rPr lang="en-US" dirty="0" err="1"/>
              <a:t>minio-init</a:t>
            </a:r>
            <a:r>
              <a:rPr lang="en-US" dirty="0"/>
              <a:t> will always show 'Exited (0)' — this is intentional and normal, not an error.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Open each URL and show the empty state while attendees do the same. Superset needs a first-time database connection setup — we'll walk through that in Scenario B. Point out that http://localhost:4040 only works while Spark is actively running a job — that's the live DAG graph for the </a:t>
            </a:r>
            <a:r>
              <a:rPr lang="en-US" dirty="0" err="1"/>
              <a:t>HoodieStreamer</a:t>
            </a:r>
            <a:r>
              <a:rPr lang="en-US" dirty="0"/>
              <a:t> run.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Runtime warning: a full 24-hour batch takes 20-40 minutes because downloading from </a:t>
            </a:r>
            <a:r>
              <a:rPr lang="en-US" dirty="0" err="1"/>
              <a:t>gharchive.org</a:t>
            </a:r>
            <a:r>
              <a:rPr lang="en-US" dirty="0"/>
              <a:t> is slow. For workshops, start the DAG early (before the lecture) or have a pre-populated dataset. Alternatively, reduce the range in the DAG from 24 to 4 hours by modifying 'range(24)' to 'range(4)'. The 'Nothing to commit' circuit breaker will fire if no new data exists — tell attendees this is expected on repeat runs.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The Superset database connection is a one-time setup. Once done it persists in the superset-data volume forever. Walk through the </a:t>
            </a:r>
            <a:r>
              <a:rPr lang="en-US" dirty="0" err="1"/>
              <a:t>SQLAlchemy</a:t>
            </a:r>
            <a:r>
              <a:rPr lang="en-US" dirty="0"/>
              <a:t> URI carefully — the internal Docker hostname is 'presto-server', NOT 'localhost'. If attendees use localhost it will fail because Superset runs inside Docker and calls Presto container-to-container.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Walk through each query. Query 1 shows partition pruning — if you add 'WHERE type = </a:t>
            </a:r>
            <a:r>
              <a:rPr lang="en-US" dirty="0" err="1"/>
              <a:t>PushEvent</a:t>
            </a:r>
            <a:r>
              <a:rPr lang="en-US" dirty="0"/>
              <a:t>', Presto only reads type=</a:t>
            </a:r>
            <a:r>
              <a:rPr lang="en-US" dirty="0" err="1"/>
              <a:t>PushEvent</a:t>
            </a:r>
            <a:r>
              <a:rPr lang="en-US" dirty="0"/>
              <a:t>/ folder. Query 2 shows how Avro nested structs map to SQL dot notation — this is a key selling point of schema-enforced ingestion vs. raw JSON. Query 3 shows Hudi's internal metadata column — _</a:t>
            </a:r>
            <a:r>
              <a:rPr lang="en-US" dirty="0" err="1"/>
              <a:t>hoodie_commit_time</a:t>
            </a:r>
            <a:r>
              <a:rPr lang="en-US" dirty="0"/>
              <a:t> is automatically added by Hudi to every record. Query 4 demonstrates deeply nested struct traversal (3 levels deep).</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This is the most dramatic demo of the workshop. The GDPR delete is the crowd-pleaser — deleting a specific user's records from a Parquet-based columnar store without touching other data is something traditional data lakes literally cannot do. Emphasize: in a plain S3 data lake, that delete would require reading and rewriting the ENTIRE affected partition file. Hudi does it surgically. After the demo, query the commit timeline in Presto to show the new commit instants from the </a:t>
            </a:r>
            <a:r>
              <a:rPr lang="en-US" dirty="0" err="1"/>
              <a:t>upsert</a:t>
            </a:r>
            <a:r>
              <a:rPr lang="en-US" dirty="0"/>
              <a:t> and delete operations.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The Superset dashboard is the payoff slide — this is what the whole pipeline is building toward. Highlight the 'virtual dataset' concept: the </a:t>
            </a:r>
            <a:r>
              <a:rPr lang="en-US" dirty="0" err="1"/>
              <a:t>github_events_flat</a:t>
            </a:r>
            <a:r>
              <a:rPr lang="en-US" dirty="0"/>
              <a:t> dataset is a SQL query saved in Superset that points to Presto, which points to Hudi, which reads Parquet from </a:t>
            </a:r>
            <a:r>
              <a:rPr lang="en-US" dirty="0" err="1"/>
              <a:t>MinIO</a:t>
            </a:r>
            <a:r>
              <a:rPr lang="en-US" dirty="0"/>
              <a:t>. There are ZERO data copies at any layer — every chart re-queries the live </a:t>
            </a:r>
            <a:r>
              <a:rPr lang="en-US" dirty="0" err="1"/>
              <a:t>lakehouse</a:t>
            </a:r>
            <a:r>
              <a:rPr lang="en-US" dirty="0"/>
              <a:t>. The AI agents chart is always a crowd favorite — point out Copilot and </a:t>
            </a:r>
            <a:r>
              <a:rPr lang="en-US" dirty="0" err="1"/>
              <a:t>coderabbitai</a:t>
            </a:r>
            <a:r>
              <a:rPr lang="en-US" dirty="0"/>
              <a:t> as emerging automated code reviewers.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These design decisions are teaching moments — each one represents a real engineering trade-off the attendees will face in their own projects. Spend time on the COW vs MOR comparison — that's the most commonly asked question about Hudi. For the Docker socket, mention that in a real Kubernetes cluster you'd use the Spark Operator and never touch the Docker socket.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Keep this slide up during the lab. The most common issues are: 1) OOM Spark (RAM allocation), 2) the Superset </a:t>
            </a:r>
            <a:r>
              <a:rPr lang="en-US" dirty="0" err="1"/>
              <a:t>SQLAlchemy</a:t>
            </a:r>
            <a:r>
              <a:rPr lang="en-US" dirty="0"/>
              <a:t> URI using localhost instead of presto-server, 3) attendees running the ACID demo before any data exists. The factory reset command is the ultimate escape hatch but wipes everything including the Airflow run history.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These are natural extensions for advanced attendees who want to explore after the workshop. Schema evolution is the easiest — just add a field with default null to the </a:t>
            </a:r>
            <a:r>
              <a:rPr lang="en-US" dirty="0" err="1"/>
              <a:t>avsc</a:t>
            </a:r>
            <a:r>
              <a:rPr lang="en-US" dirty="0"/>
              <a:t> file. Cloud storage is literally a .env change. MOR mode is the most educational for understanding Hudi internals.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B9791-BC81-B54C-D136-4BC6D6075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BDC80-BFB2-9425-F2DC-0FBD00984458}"/>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23A9B440-296F-95A2-21CF-F10EB85E987C}"/>
              </a:ext>
            </a:extLst>
          </p:cNvPr>
          <p:cNvSpPr>
            <a:spLocks noGrp="1"/>
          </p:cNvSpPr>
          <p:nvPr>
            <p:ph type="body" idx="1"/>
          </p:nvPr>
        </p:nvSpPr>
        <p:spPr/>
        <p:txBody>
          <a:bodyPr/>
          <a:lstStyle/>
          <a:p>
            <a:r>
              <a:rPr lang="en-US" dirty="0"/>
              <a:t>Closing slide. Leave up while taking questions. Remind attendees that the full README covers every file, every config property, and every troubleshooting scenario. Suggest they try the schema evolution or cloud storage exercises as homework.</a:t>
            </a:r>
          </a:p>
        </p:txBody>
      </p:sp>
    </p:spTree>
    <p:extLst>
      <p:ext uri="{BB962C8B-B14F-4D97-AF65-F5344CB8AC3E}">
        <p14:creationId xmlns:p14="http://schemas.microsoft.com/office/powerpoint/2010/main" val="2834926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Closing slide. Leave up while taking questions. Remind attendees that the full README covers every file, every config property, and every troubleshooting scenario. Suggest they try the schema evolution or cloud storage exercises as homework.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6684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784318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ibm.biz/dev-watsonx-data"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000" name="Subtitle"/>
          <p:cNvSpPr txBox="1"/>
          <p:nvPr/>
        </p:nvSpPr>
        <p:spPr>
          <a:xfrm>
            <a:off x="540000" y="900000"/>
            <a:ext cx="10800000" cy="432000"/>
          </a:xfrm>
          <a:prstGeom prst="rect">
            <a:avLst/>
          </a:prstGeom>
        </p:spPr>
        <p:txBody>
          <a:bodyPr/>
          <a:lstStyle/>
          <a:p>
            <a:pPr algn="ctr"/>
            <a:r>
              <a:rPr lang="en-US" sz="1400" b="1">
                <a:solidFill>
                  <a:srgbClr val="5B9BD5"/>
                </a:solidFill>
              </a:rPr>
              <a:t>HANDS-ON WORKSHOP</a:t>
            </a:r>
          </a:p>
        </p:txBody>
      </p:sp>
      <p:sp>
        <p:nvSpPr>
          <p:cNvPr id="100001" name="Title"/>
          <p:cNvSpPr txBox="1"/>
          <p:nvPr/>
        </p:nvSpPr>
        <p:spPr>
          <a:xfrm>
            <a:off x="540000" y="1368000"/>
            <a:ext cx="10800000" cy="1080000"/>
          </a:xfrm>
          <a:prstGeom prst="rect">
            <a:avLst/>
          </a:prstGeom>
        </p:spPr>
        <p:txBody>
          <a:bodyPr/>
          <a:lstStyle/>
          <a:p>
            <a:pPr algn="ctr"/>
            <a:r>
              <a:rPr lang="en-US" sz="4800" b="1">
                <a:solidFill>
                  <a:srgbClr val="FFFFFF"/>
                </a:solidFill>
              </a:rPr>
              <a:t>GitHub Event Lakehouse</a:t>
            </a:r>
          </a:p>
        </p:txBody>
      </p:sp>
      <p:sp>
        <p:nvSpPr>
          <p:cNvPr id="100002" name="TechRow"/>
          <p:cNvSpPr txBox="1"/>
          <p:nvPr/>
        </p:nvSpPr>
        <p:spPr>
          <a:xfrm>
            <a:off x="540000" y="2592000"/>
            <a:ext cx="10800000" cy="360000"/>
          </a:xfrm>
          <a:prstGeom prst="rect">
            <a:avLst/>
          </a:prstGeom>
        </p:spPr>
        <p:txBody>
          <a:bodyPr/>
          <a:lstStyle/>
          <a:p>
            <a:pPr algn="ctr"/>
            <a:r>
              <a:rPr lang="en-US" sz="2000" b="0">
                <a:solidFill>
                  <a:srgbClr val="A8C6E8"/>
                </a:solidFill>
              </a:rPr>
              <a:t>PrestoDB  ·  Apache Hudi  ·  MinIO  ·  Airflow  ·  Spark</a:t>
            </a:r>
          </a:p>
        </p:txBody>
      </p:sp>
      <p:sp>
        <p:nvSpPr>
          <p:cNvPr id="100003" name="TagLine"/>
          <p:cNvSpPr txBox="1"/>
          <p:nvPr/>
        </p:nvSpPr>
        <p:spPr>
          <a:xfrm>
            <a:off x="540000" y="3096000"/>
            <a:ext cx="10800000" cy="360000"/>
          </a:xfrm>
          <a:prstGeom prst="rect">
            <a:avLst/>
          </a:prstGeom>
        </p:spPr>
        <p:txBody>
          <a:bodyPr/>
          <a:lstStyle/>
          <a:p>
            <a:pPr algn="ctr"/>
            <a:r>
              <a:rPr lang="en-US" sz="1600" b="0">
                <a:solidFill>
                  <a:srgbClr val="7A8DA0"/>
                </a:solidFill>
              </a:rPr>
              <a:t>Build a production-grade data lakehouse that runs entirely on your laptop</a:t>
            </a:r>
          </a:p>
        </p:txBody>
      </p:sp>
      <p:sp>
        <p:nvSpPr>
          <p:cNvPr id="2" name="TextBox 1">
            <a:extLst>
              <a:ext uri="{FF2B5EF4-FFF2-40B4-BE49-F238E27FC236}">
                <a16:creationId xmlns:a16="http://schemas.microsoft.com/office/drawing/2014/main" id="{AD44E0EB-99A4-AC82-16E8-B661766C526E}"/>
              </a:ext>
            </a:extLst>
          </p:cNvPr>
          <p:cNvSpPr txBox="1"/>
          <p:nvPr/>
        </p:nvSpPr>
        <p:spPr>
          <a:xfrm>
            <a:off x="7262024" y="4461831"/>
            <a:ext cx="4649118" cy="646331"/>
          </a:xfrm>
          <a:prstGeom prst="rect">
            <a:avLst/>
          </a:prstGeom>
          <a:noFill/>
        </p:spPr>
        <p:txBody>
          <a:bodyPr wrap="square" rtlCol="0">
            <a:spAutoFit/>
          </a:bodyPr>
          <a:lstStyle/>
          <a:p>
            <a:r>
              <a:rPr lang="en-US" dirty="0">
                <a:solidFill>
                  <a:schemeClr val="bg2"/>
                </a:solidFill>
              </a:rPr>
              <a:t>Yihong Wang/</a:t>
            </a:r>
            <a:r>
              <a:rPr lang="en-US" dirty="0" err="1">
                <a:solidFill>
                  <a:schemeClr val="bg2"/>
                </a:solidFill>
              </a:rPr>
              <a:t>yh.wang@ibm.com</a:t>
            </a:r>
            <a:endParaRPr lang="en-US" dirty="0">
              <a:solidFill>
                <a:schemeClr val="bg2"/>
              </a:solidFill>
            </a:endParaRPr>
          </a:p>
          <a:p>
            <a:r>
              <a:rPr lang="en-US" dirty="0">
                <a:solidFill>
                  <a:schemeClr val="bg2"/>
                </a:solidFill>
              </a:rPr>
              <a:t>Senior Software Developer/IBM Research</a:t>
            </a:r>
          </a:p>
        </p:txBody>
      </p:sp>
      <p:sp>
        <p:nvSpPr>
          <p:cNvPr id="3" name="TextBox 2">
            <a:extLst>
              <a:ext uri="{FF2B5EF4-FFF2-40B4-BE49-F238E27FC236}">
                <a16:creationId xmlns:a16="http://schemas.microsoft.com/office/drawing/2014/main" id="{AD7BC49C-2828-F241-9213-284B3F192C08}"/>
              </a:ext>
            </a:extLst>
          </p:cNvPr>
          <p:cNvSpPr txBox="1"/>
          <p:nvPr/>
        </p:nvSpPr>
        <p:spPr>
          <a:xfrm>
            <a:off x="7262024" y="5608261"/>
            <a:ext cx="5130998" cy="923330"/>
          </a:xfrm>
          <a:prstGeom prst="rect">
            <a:avLst/>
          </a:prstGeom>
          <a:noFill/>
        </p:spPr>
        <p:txBody>
          <a:bodyPr wrap="square" rtlCol="0">
            <a:spAutoFit/>
          </a:bodyPr>
          <a:lstStyle/>
          <a:p>
            <a:r>
              <a:rPr lang="en-US" dirty="0">
                <a:solidFill>
                  <a:schemeClr val="bg2"/>
                </a:solidFill>
              </a:rPr>
              <a:t>Content Creator:</a:t>
            </a:r>
          </a:p>
          <a:p>
            <a:r>
              <a:rPr lang="en-US" dirty="0">
                <a:solidFill>
                  <a:schemeClr val="bg2"/>
                </a:solidFill>
              </a:rPr>
              <a:t>Saurabh </a:t>
            </a:r>
            <a:r>
              <a:rPr lang="en-US" dirty="0" err="1">
                <a:solidFill>
                  <a:schemeClr val="bg2"/>
                </a:solidFill>
              </a:rPr>
              <a:t>Mahawar</a:t>
            </a:r>
            <a:r>
              <a:rPr lang="en-US" dirty="0">
                <a:solidFill>
                  <a:schemeClr val="bg2"/>
                </a:solidFill>
              </a:rPr>
              <a:t>/Saurabh.Mahawar@ibm.com</a:t>
            </a:r>
          </a:p>
          <a:p>
            <a:r>
              <a:rPr lang="en-US" dirty="0">
                <a:solidFill>
                  <a:schemeClr val="bg2"/>
                </a:solidFill>
              </a:rPr>
              <a:t>Developer Relations Engineer/IBM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004" name="Title"/>
          <p:cNvSpPr txBox="1"/>
          <p:nvPr/>
        </p:nvSpPr>
        <p:spPr>
          <a:xfrm>
            <a:off x="540000" y="288000"/>
            <a:ext cx="10800000" cy="540000"/>
          </a:xfrm>
          <a:prstGeom prst="rect">
            <a:avLst/>
          </a:prstGeom>
        </p:spPr>
        <p:txBody>
          <a:bodyPr/>
          <a:lstStyle/>
          <a:p>
            <a:r>
              <a:rPr lang="en-US" sz="3600" b="1">
                <a:solidFill>
                  <a:srgbClr val="FFFFFF"/>
                </a:solidFill>
              </a:rPr>
              <a:t>Workshop Agenda</a:t>
            </a:r>
          </a:p>
        </p:txBody>
      </p:sp>
      <p:sp>
        <p:nvSpPr>
          <p:cNvPr id="100005" name="Divider"/>
          <p:cNvSpPr txBox="1"/>
          <p:nvPr/>
        </p:nvSpPr>
        <p:spPr>
          <a:xfrm>
            <a:off x="540000" y="900000"/>
            <a:ext cx="10800000" cy="18000"/>
          </a:xfrm>
          <a:prstGeom prst="rect">
            <a:avLst/>
          </a:prstGeom>
          <a:solidFill>
            <a:srgbClr val="5B9BD5"/>
          </a:solidFill>
        </p:spPr>
        <p:txBody>
          <a:bodyPr/>
          <a:lstStyle/>
          <a:p>
            <a:endParaRPr lang="en-US" sz="1000">
              <a:solidFill>
                <a:srgbClr val="5B9BD5"/>
              </a:solidFill>
            </a:endParaRPr>
          </a:p>
        </p:txBody>
      </p:sp>
      <p:sp>
        <p:nvSpPr>
          <p:cNvPr id="100006" name="Col1"/>
          <p:cNvSpPr txBox="1"/>
          <p:nvPr/>
        </p:nvSpPr>
        <p:spPr>
          <a:xfrm>
            <a:off x="540000" y="1008000"/>
            <a:ext cx="5040000" cy="3600000"/>
          </a:xfrm>
          <a:prstGeom prst="rect">
            <a:avLst/>
          </a:prstGeom>
        </p:spPr>
        <p:txBody>
          <a:bodyPr/>
          <a:lstStyle/>
          <a:p>
            <a:r>
              <a:rPr lang="en-US" sz="1800" dirty="0">
                <a:solidFill>
                  <a:srgbClr val="D0E4F7"/>
                </a:solidFill>
              </a:rPr>
              <a:t>Part 1 — Foundation</a:t>
            </a:r>
          </a:p>
          <a:p>
            <a:endParaRPr lang="en-US" sz="1800" dirty="0">
              <a:solidFill>
                <a:srgbClr val="D0E4F7"/>
              </a:solidFill>
            </a:endParaRPr>
          </a:p>
          <a:p>
            <a:r>
              <a:rPr lang="en-US" sz="1800" dirty="0">
                <a:solidFill>
                  <a:srgbClr val="D0E4F7"/>
                </a:solidFill>
              </a:rPr>
              <a:t>1. The GitHub Archive Dataset</a:t>
            </a:r>
          </a:p>
          <a:p>
            <a:r>
              <a:rPr lang="en-US" sz="1800" dirty="0">
                <a:solidFill>
                  <a:srgbClr val="D0E4F7"/>
                </a:solidFill>
              </a:rPr>
              <a:t>2. What is a Data Lakehouse?</a:t>
            </a:r>
          </a:p>
          <a:p>
            <a:r>
              <a:rPr lang="en-US" sz="1800" dirty="0">
                <a:solidFill>
                  <a:srgbClr val="D0E4F7"/>
                </a:solidFill>
              </a:rPr>
              <a:t>3. Technology Stack Overview</a:t>
            </a:r>
          </a:p>
          <a:p>
            <a:r>
              <a:rPr lang="en-US" sz="1800" dirty="0">
                <a:solidFill>
                  <a:srgbClr val="D0E4F7"/>
                </a:solidFill>
              </a:rPr>
              <a:t>4. Apache Hudi</a:t>
            </a:r>
          </a:p>
          <a:p>
            <a:r>
              <a:rPr lang="en-US" sz="1800" dirty="0">
                <a:solidFill>
                  <a:srgbClr val="D0E4F7"/>
                </a:solidFill>
              </a:rPr>
              <a:t>5. Architecture Walkthrough</a:t>
            </a:r>
          </a:p>
          <a:p>
            <a:r>
              <a:rPr lang="en-US" sz="1800" dirty="0">
                <a:solidFill>
                  <a:srgbClr val="D0E4F7"/>
                </a:solidFill>
              </a:rPr>
              <a:t>6. How HoodieStreamer Works</a:t>
            </a:r>
          </a:p>
        </p:txBody>
      </p:sp>
      <p:sp>
        <p:nvSpPr>
          <p:cNvPr id="100007" name="Col2"/>
          <p:cNvSpPr txBox="1"/>
          <p:nvPr/>
        </p:nvSpPr>
        <p:spPr>
          <a:xfrm>
            <a:off x="5940000" y="1008000"/>
            <a:ext cx="5040000" cy="3600000"/>
          </a:xfrm>
          <a:prstGeom prst="rect">
            <a:avLst/>
          </a:prstGeom>
        </p:spPr>
        <p:txBody>
          <a:bodyPr/>
          <a:lstStyle/>
          <a:p>
            <a:r>
              <a:rPr lang="en-US" sz="1800" dirty="0">
                <a:solidFill>
                  <a:srgbClr val="D0E4F7"/>
                </a:solidFill>
              </a:rPr>
              <a:t>Part 2 — Hands-On Lab</a:t>
            </a:r>
          </a:p>
          <a:p>
            <a:endParaRPr lang="en-US" sz="1800" dirty="0">
              <a:solidFill>
                <a:srgbClr val="D0E4F7"/>
              </a:solidFill>
            </a:endParaRPr>
          </a:p>
          <a:p>
            <a:r>
              <a:rPr lang="en-US" sz="1800" dirty="0">
                <a:solidFill>
                  <a:srgbClr val="D0E4F7"/>
                </a:solidFill>
              </a:rPr>
              <a:t>7.  Bring up Topology</a:t>
            </a:r>
          </a:p>
          <a:p>
            <a:r>
              <a:rPr lang="en-US" sz="1800" dirty="0">
                <a:solidFill>
                  <a:srgbClr val="D0E4F7"/>
                </a:solidFill>
              </a:rPr>
              <a:t>8.  Scenario A: Ingest via Airflow</a:t>
            </a:r>
          </a:p>
          <a:p>
            <a:r>
              <a:rPr lang="en-US" sz="1800" dirty="0">
                <a:solidFill>
                  <a:srgbClr val="D0E4F7"/>
                </a:solidFill>
              </a:rPr>
              <a:t>9.  Scenario B: Query with Presto</a:t>
            </a:r>
          </a:p>
          <a:p>
            <a:r>
              <a:rPr lang="en-US" sz="1800" dirty="0">
                <a:solidFill>
                  <a:srgbClr val="D0E4F7"/>
                </a:solidFill>
              </a:rPr>
              <a:t>10.  Scenario C: Hudi ACID Demo</a:t>
            </a:r>
          </a:p>
          <a:p>
            <a:r>
              <a:rPr lang="en-US" sz="1800" dirty="0">
                <a:solidFill>
                  <a:srgbClr val="D0E4F7"/>
                </a:solidFill>
              </a:rPr>
              <a:t>11.  Analytics in Superset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283" name="Title"/>
          <p:cNvSpPr txBox="1"/>
          <p:nvPr/>
        </p:nvSpPr>
        <p:spPr>
          <a:xfrm>
            <a:off x="540000" y="288000"/>
            <a:ext cx="10800000" cy="468000"/>
          </a:xfrm>
          <a:prstGeom prst="rect">
            <a:avLst/>
          </a:prstGeom>
        </p:spPr>
        <p:txBody>
          <a:bodyPr/>
          <a:lstStyle/>
          <a:p>
            <a:r>
              <a:rPr lang="en-US" sz="3200" b="1">
                <a:solidFill>
                  <a:srgbClr val="FFFFFF"/>
                </a:solidFill>
              </a:rPr>
              <a:t>Fast-Track Setup — Pre-Pull Images</a:t>
            </a:r>
          </a:p>
        </p:txBody>
      </p:sp>
      <p:sp>
        <p:nvSpPr>
          <p:cNvPr id="100284" name="Divider"/>
          <p:cNvSpPr txBox="1"/>
          <p:nvPr/>
        </p:nvSpPr>
        <p:spPr>
          <a:xfrm>
            <a:off x="540000" y="792000"/>
            <a:ext cx="10800000" cy="18000"/>
          </a:xfrm>
          <a:prstGeom prst="rect">
            <a:avLst/>
          </a:prstGeom>
          <a:solidFill>
            <a:srgbClr val="5B9BD5"/>
          </a:solidFill>
        </p:spPr>
        <p:txBody>
          <a:bodyPr/>
          <a:lstStyle/>
          <a:p>
            <a:endParaRPr/>
          </a:p>
        </p:txBody>
      </p:sp>
      <p:sp>
        <p:nvSpPr>
          <p:cNvPr id="100285" name="Subtitle"/>
          <p:cNvSpPr txBox="1"/>
          <p:nvPr/>
        </p:nvSpPr>
        <p:spPr>
          <a:xfrm>
            <a:off x="540000" y="2312468"/>
            <a:ext cx="10800000" cy="288000"/>
          </a:xfrm>
          <a:prstGeom prst="rect">
            <a:avLst/>
          </a:prstGeom>
        </p:spPr>
        <p:txBody>
          <a:bodyPr/>
          <a:lstStyle/>
          <a:p>
            <a:r>
              <a:rPr lang="en-US" sz="1700" b="1" dirty="0">
                <a:solidFill>
                  <a:srgbClr val="F0C040"/>
                </a:solidFill>
              </a:rPr>
              <a:t>⚡ Kick this off now so images download in the background while we cover the theory!</a:t>
            </a:r>
          </a:p>
        </p:txBody>
      </p:sp>
      <p:sp>
        <p:nvSpPr>
          <p:cNvPr id="100286" name="Step1Label"/>
          <p:cNvSpPr txBox="1"/>
          <p:nvPr/>
        </p:nvSpPr>
        <p:spPr>
          <a:xfrm>
            <a:off x="540000" y="2741664"/>
            <a:ext cx="10800000" cy="418256"/>
          </a:xfrm>
          <a:prstGeom prst="rect">
            <a:avLst/>
          </a:prstGeom>
        </p:spPr>
        <p:txBody>
          <a:bodyPr/>
          <a:lstStyle/>
          <a:p>
            <a:r>
              <a:rPr lang="en-US" sz="1800" b="1" dirty="0">
                <a:solidFill>
                  <a:srgbClr val="5B9BD5"/>
                </a:solidFill>
              </a:rPr>
              <a:t>Step 1 — Clone the Repository &amp; Enter Directory</a:t>
            </a:r>
          </a:p>
        </p:txBody>
      </p:sp>
      <p:sp>
        <p:nvSpPr>
          <p:cNvPr id="100287" name="Step1Code"/>
          <p:cNvSpPr txBox="1"/>
          <p:nvPr/>
        </p:nvSpPr>
        <p:spPr>
          <a:xfrm>
            <a:off x="540000" y="3159920"/>
            <a:ext cx="10800000" cy="504000"/>
          </a:xfrm>
          <a:prstGeom prst="rect">
            <a:avLst/>
          </a:prstGeom>
          <a:solidFill>
            <a:srgbClr val="0A1A0A"/>
          </a:solidFill>
        </p:spPr>
        <p:txBody>
          <a:bodyPr anchor="ctr"/>
          <a:lstStyle/>
          <a:p>
            <a:r>
              <a:rPr lang="en-US" sz="1600" dirty="0">
                <a:solidFill>
                  <a:srgbClr val="A8D89A"/>
                </a:solidFill>
              </a:rPr>
              <a:t>git clone https://</a:t>
            </a:r>
            <a:r>
              <a:rPr lang="en-US" sz="1600" dirty="0" err="1">
                <a:solidFill>
                  <a:srgbClr val="A8D89A"/>
                </a:solidFill>
              </a:rPr>
              <a:t>github.com</a:t>
            </a:r>
            <a:r>
              <a:rPr lang="en-US" sz="1600" dirty="0">
                <a:solidFill>
                  <a:srgbClr val="A8D89A"/>
                </a:solidFill>
              </a:rPr>
              <a:t>/</a:t>
            </a:r>
            <a:r>
              <a:rPr lang="en-US" sz="1600" dirty="0" err="1">
                <a:solidFill>
                  <a:srgbClr val="A8D89A"/>
                </a:solidFill>
              </a:rPr>
              <a:t>saurabhmahawar</a:t>
            </a:r>
            <a:r>
              <a:rPr lang="en-US" sz="1600" dirty="0">
                <a:solidFill>
                  <a:srgbClr val="A8D89A"/>
                </a:solidFill>
              </a:rPr>
              <a:t>/</a:t>
            </a:r>
            <a:r>
              <a:rPr lang="en-US" sz="1600" dirty="0" err="1">
                <a:solidFill>
                  <a:srgbClr val="A8D89A"/>
                </a:solidFill>
              </a:rPr>
              <a:t>presto_hudi_github_data_pipeline.git</a:t>
            </a:r>
            <a:endParaRPr lang="en-US" sz="1600" dirty="0">
              <a:solidFill>
                <a:srgbClr val="A8D89A"/>
              </a:solidFill>
            </a:endParaRPr>
          </a:p>
          <a:p>
            <a:r>
              <a:rPr lang="en-US" sz="1600" dirty="0">
                <a:solidFill>
                  <a:srgbClr val="A8D89A"/>
                </a:solidFill>
              </a:rPr>
              <a:t>cd </a:t>
            </a:r>
            <a:r>
              <a:rPr lang="en-US" sz="1600" dirty="0" err="1">
                <a:solidFill>
                  <a:srgbClr val="A8D89A"/>
                </a:solidFill>
              </a:rPr>
              <a:t>presto_hudi_github_data_pipeline</a:t>
            </a:r>
            <a:endParaRPr lang="en-US" sz="1600" dirty="0">
              <a:solidFill>
                <a:srgbClr val="A8D89A"/>
              </a:solidFill>
            </a:endParaRPr>
          </a:p>
        </p:txBody>
      </p:sp>
      <p:sp>
        <p:nvSpPr>
          <p:cNvPr id="100288" name="Step2Label"/>
          <p:cNvSpPr txBox="1"/>
          <p:nvPr/>
        </p:nvSpPr>
        <p:spPr>
          <a:xfrm>
            <a:off x="540000" y="4014451"/>
            <a:ext cx="10800000" cy="326164"/>
          </a:xfrm>
          <a:prstGeom prst="rect">
            <a:avLst/>
          </a:prstGeom>
        </p:spPr>
        <p:txBody>
          <a:bodyPr/>
          <a:lstStyle/>
          <a:p>
            <a:r>
              <a:rPr lang="en-US" sz="1800" b="1" dirty="0">
                <a:solidFill>
                  <a:srgbClr val="5B9BD5"/>
                </a:solidFill>
              </a:rPr>
              <a:t>Step 2 — Copy Environment Config &amp; Start Image Pull (~6 GB)</a:t>
            </a:r>
          </a:p>
        </p:txBody>
      </p:sp>
      <p:sp>
        <p:nvSpPr>
          <p:cNvPr id="100289" name="Step2Code"/>
          <p:cNvSpPr txBox="1"/>
          <p:nvPr/>
        </p:nvSpPr>
        <p:spPr>
          <a:xfrm>
            <a:off x="540000" y="4484661"/>
            <a:ext cx="10800000" cy="504000"/>
          </a:xfrm>
          <a:prstGeom prst="rect">
            <a:avLst/>
          </a:prstGeom>
          <a:solidFill>
            <a:srgbClr val="0A1A0A"/>
          </a:solidFill>
        </p:spPr>
        <p:txBody>
          <a:bodyPr anchor="ctr"/>
          <a:lstStyle/>
          <a:p>
            <a:r>
              <a:rPr lang="en-US" sz="1600" dirty="0">
                <a:solidFill>
                  <a:srgbClr val="A8D89A"/>
                </a:solidFill>
              </a:rPr>
              <a:t>cp .</a:t>
            </a:r>
            <a:r>
              <a:rPr lang="en-US" sz="1600" dirty="0" err="1">
                <a:solidFill>
                  <a:srgbClr val="A8D89A"/>
                </a:solidFill>
              </a:rPr>
              <a:t>env.example</a:t>
            </a:r>
            <a:r>
              <a:rPr lang="en-US" sz="1600" dirty="0">
                <a:solidFill>
                  <a:srgbClr val="A8D89A"/>
                </a:solidFill>
              </a:rPr>
              <a:t> .env</a:t>
            </a:r>
          </a:p>
          <a:p>
            <a:r>
              <a:rPr lang="en-US" sz="1600" dirty="0">
                <a:solidFill>
                  <a:srgbClr val="A8D89A"/>
                </a:solidFill>
              </a:rPr>
              <a:t>docker compose pull</a:t>
            </a:r>
          </a:p>
        </p:txBody>
      </p:sp>
      <p:sp>
        <p:nvSpPr>
          <p:cNvPr id="100290" name="CalloutNote"/>
          <p:cNvSpPr txBox="1"/>
          <p:nvPr/>
        </p:nvSpPr>
        <p:spPr>
          <a:xfrm>
            <a:off x="540000" y="5430688"/>
            <a:ext cx="10800000" cy="565503"/>
          </a:xfrm>
          <a:prstGeom prst="rect">
            <a:avLst/>
          </a:prstGeom>
        </p:spPr>
        <p:txBody>
          <a:bodyPr/>
          <a:lstStyle/>
          <a:p>
            <a:r>
              <a:rPr lang="en-US" sz="1500" dirty="0">
                <a:solidFill>
                  <a:srgbClr val="D0E4F7"/>
                </a:solidFill>
              </a:rPr>
              <a:t>💡 Keep this terminal open &amp; downloading. When we reach Part 2 Hands-On Lab, all 10 container images will be cached locally — allowing an instant zero-wait startup!</a:t>
            </a:r>
          </a:p>
        </p:txBody>
      </p:sp>
      <p:sp>
        <p:nvSpPr>
          <p:cNvPr id="2" name="PLabel">
            <a:extLst>
              <a:ext uri="{FF2B5EF4-FFF2-40B4-BE49-F238E27FC236}">
                <a16:creationId xmlns:a16="http://schemas.microsoft.com/office/drawing/2014/main" id="{75C7592D-FC7C-35AA-89A2-B2A21E1E604E}"/>
              </a:ext>
            </a:extLst>
          </p:cNvPr>
          <p:cNvSpPr txBox="1"/>
          <p:nvPr/>
        </p:nvSpPr>
        <p:spPr>
          <a:xfrm>
            <a:off x="540000" y="900828"/>
            <a:ext cx="10800000" cy="288000"/>
          </a:xfrm>
          <a:prstGeom prst="rect">
            <a:avLst/>
          </a:prstGeom>
        </p:spPr>
        <p:txBody>
          <a:bodyPr/>
          <a:lstStyle/>
          <a:p>
            <a:r>
              <a:rPr lang="en-US" sz="2000" b="1" dirty="0">
                <a:solidFill>
                  <a:srgbClr val="5B9BD5"/>
                </a:solidFill>
              </a:rPr>
              <a:t>Prerequisites</a:t>
            </a:r>
          </a:p>
        </p:txBody>
      </p:sp>
      <p:sp>
        <p:nvSpPr>
          <p:cNvPr id="3" name="Prereqs">
            <a:extLst>
              <a:ext uri="{FF2B5EF4-FFF2-40B4-BE49-F238E27FC236}">
                <a16:creationId xmlns:a16="http://schemas.microsoft.com/office/drawing/2014/main" id="{155A3954-A298-E848-D01D-BD68BA82AA4E}"/>
              </a:ext>
            </a:extLst>
          </p:cNvPr>
          <p:cNvSpPr txBox="1"/>
          <p:nvPr/>
        </p:nvSpPr>
        <p:spPr>
          <a:xfrm>
            <a:off x="540000" y="1241840"/>
            <a:ext cx="10800000" cy="900000"/>
          </a:xfrm>
          <a:prstGeom prst="rect">
            <a:avLst/>
          </a:prstGeom>
        </p:spPr>
        <p:txBody>
          <a:bodyPr/>
          <a:lstStyle/>
          <a:p>
            <a:r>
              <a:rPr lang="en-US" sz="1700" dirty="0">
                <a:solidFill>
                  <a:srgbClr val="D0E4F7"/>
                </a:solidFill>
              </a:rPr>
              <a:t>• Docker Engine 24.0+  and  Docker Compose 2.20+</a:t>
            </a:r>
          </a:p>
          <a:p>
            <a:r>
              <a:rPr lang="en-US" sz="1700" dirty="0">
                <a:solidFill>
                  <a:srgbClr val="D0E4F7"/>
                </a:solidFill>
              </a:rPr>
              <a:t>• At least 16 GB RAM allocated to Docker  (Docker Desktop → Settings → Resources → Memory)</a:t>
            </a:r>
          </a:p>
          <a:p>
            <a:r>
              <a:rPr lang="en-US" sz="1700" dirty="0">
                <a:solidFill>
                  <a:srgbClr val="D0E4F7"/>
                </a:solidFill>
              </a:rPr>
              <a:t>• ~10 GB free disk space   •   Internet access (for GitHub Archive downloads)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210" name="Title"/>
          <p:cNvSpPr txBox="1"/>
          <p:nvPr/>
        </p:nvSpPr>
        <p:spPr>
          <a:xfrm>
            <a:off x="540000" y="288000"/>
            <a:ext cx="10800000" cy="540000"/>
          </a:xfrm>
          <a:prstGeom prst="rect">
            <a:avLst/>
          </a:prstGeom>
        </p:spPr>
        <p:txBody>
          <a:bodyPr/>
          <a:lstStyle/>
          <a:p>
            <a:r>
              <a:rPr lang="en-US" sz="3200" b="1">
                <a:solidFill>
                  <a:srgbClr val="FFFFFF"/>
                </a:solidFill>
              </a:rPr>
              <a:t>The Dataset: GitHub Archive</a:t>
            </a:r>
          </a:p>
        </p:txBody>
      </p:sp>
      <p:sp>
        <p:nvSpPr>
          <p:cNvPr id="100211" name="WhatIs"/>
          <p:cNvSpPr txBox="1"/>
          <p:nvPr/>
        </p:nvSpPr>
        <p:spPr>
          <a:xfrm>
            <a:off x="540000" y="936000"/>
            <a:ext cx="10800000" cy="540000"/>
          </a:xfrm>
          <a:prstGeom prst="rect">
            <a:avLst/>
          </a:prstGeom>
          <a:solidFill>
            <a:srgbClr val="1A3050"/>
          </a:solidFill>
        </p:spPr>
        <p:txBody>
          <a:bodyPr/>
          <a:lstStyle/>
          <a:p>
            <a:r>
              <a:rPr lang="en-US" sz="1700">
                <a:solidFill>
                  <a:srgbClr val="A8C6E8"/>
                </a:solidFill>
              </a:rPr>
              <a:t>GitHub Archive (gharchive.org) captures every public event on GitHub and publishes them as compressed JSON files — one file per hour, going back to 2011. This workshop ingests the last 24 hours of that firehose.</a:t>
            </a:r>
          </a:p>
        </p:txBody>
      </p:sp>
      <p:sp>
        <p:nvSpPr>
          <p:cNvPr id="100212" name="VolumeLabel"/>
          <p:cNvSpPr txBox="1"/>
          <p:nvPr/>
        </p:nvSpPr>
        <p:spPr>
          <a:xfrm>
            <a:off x="540000" y="1620000"/>
            <a:ext cx="10800000" cy="252000"/>
          </a:xfrm>
          <a:prstGeom prst="rect">
            <a:avLst/>
          </a:prstGeom>
        </p:spPr>
        <p:txBody>
          <a:bodyPr/>
          <a:lstStyle/>
          <a:p>
            <a:r>
              <a:rPr lang="en-US" sz="1800" b="1">
                <a:solidFill>
                  <a:srgbClr val="5B9BD5"/>
                </a:solidFill>
              </a:rPr>
              <a:t>Scale at a glance:</a:t>
            </a:r>
          </a:p>
        </p:txBody>
      </p:sp>
      <p:sp>
        <p:nvSpPr>
          <p:cNvPr id="100213" name="V1"/>
          <p:cNvSpPr txBox="1"/>
          <p:nvPr/>
        </p:nvSpPr>
        <p:spPr>
          <a:xfrm>
            <a:off x="540000" y="1944000"/>
            <a:ext cx="3240000" cy="540000"/>
          </a:xfrm>
          <a:prstGeom prst="rect">
            <a:avLst/>
          </a:prstGeom>
        </p:spPr>
        <p:txBody>
          <a:bodyPr/>
          <a:lstStyle/>
          <a:p>
            <a:pPr algn="ctr"/>
            <a:r>
              <a:rPr lang="en-US" sz="3600" b="1">
                <a:solidFill>
                  <a:srgbClr val="FFFFFF"/>
                </a:solidFill>
              </a:rPr>
              <a:t>~1.7M</a:t>
            </a:r>
          </a:p>
        </p:txBody>
      </p:sp>
      <p:sp>
        <p:nvSpPr>
          <p:cNvPr id="100214" name="V1L"/>
          <p:cNvSpPr txBox="1"/>
          <p:nvPr/>
        </p:nvSpPr>
        <p:spPr>
          <a:xfrm>
            <a:off x="540000" y="2520000"/>
            <a:ext cx="3240000" cy="216000"/>
          </a:xfrm>
          <a:prstGeom prst="rect">
            <a:avLst/>
          </a:prstGeom>
        </p:spPr>
        <p:txBody>
          <a:bodyPr/>
          <a:lstStyle/>
          <a:p>
            <a:pPr algn="ctr"/>
            <a:r>
              <a:rPr lang="en-US" sz="1500">
                <a:solidFill>
                  <a:srgbClr val="7A8DA0"/>
                </a:solidFill>
              </a:rPr>
              <a:t>events per day</a:t>
            </a:r>
          </a:p>
        </p:txBody>
      </p:sp>
      <p:sp>
        <p:nvSpPr>
          <p:cNvPr id="100215" name="V2"/>
          <p:cNvSpPr txBox="1"/>
          <p:nvPr/>
        </p:nvSpPr>
        <p:spPr>
          <a:xfrm>
            <a:off x="4140000" y="1944000"/>
            <a:ext cx="3240000" cy="540000"/>
          </a:xfrm>
          <a:prstGeom prst="rect">
            <a:avLst/>
          </a:prstGeom>
        </p:spPr>
        <p:txBody>
          <a:bodyPr/>
          <a:lstStyle/>
          <a:p>
            <a:pPr algn="ctr"/>
            <a:r>
              <a:rPr lang="en-US" sz="3600" b="1">
                <a:solidFill>
                  <a:srgbClr val="FFFFFF"/>
                </a:solidFill>
              </a:rPr>
              <a:t>24</a:t>
            </a:r>
          </a:p>
        </p:txBody>
      </p:sp>
      <p:sp>
        <p:nvSpPr>
          <p:cNvPr id="100216" name="V2L"/>
          <p:cNvSpPr txBox="1"/>
          <p:nvPr/>
        </p:nvSpPr>
        <p:spPr>
          <a:xfrm>
            <a:off x="4140000" y="2520000"/>
            <a:ext cx="3240000" cy="216000"/>
          </a:xfrm>
          <a:prstGeom prst="rect">
            <a:avLst/>
          </a:prstGeom>
        </p:spPr>
        <p:txBody>
          <a:bodyPr/>
          <a:lstStyle/>
          <a:p>
            <a:pPr algn="ctr"/>
            <a:r>
              <a:rPr lang="en-US" sz="1500">
                <a:solidFill>
                  <a:srgbClr val="7A8DA0"/>
                </a:solidFill>
              </a:rPr>
              <a:t>hourly .json.gz files fetched</a:t>
            </a:r>
          </a:p>
        </p:txBody>
      </p:sp>
      <p:sp>
        <p:nvSpPr>
          <p:cNvPr id="100217" name="V3"/>
          <p:cNvSpPr txBox="1"/>
          <p:nvPr/>
        </p:nvSpPr>
        <p:spPr>
          <a:xfrm>
            <a:off x="7740000" y="1944000"/>
            <a:ext cx="3240000" cy="540000"/>
          </a:xfrm>
          <a:prstGeom prst="rect">
            <a:avLst/>
          </a:prstGeom>
        </p:spPr>
        <p:txBody>
          <a:bodyPr/>
          <a:lstStyle/>
          <a:p>
            <a:pPr algn="ctr"/>
            <a:r>
              <a:rPr lang="en-US" sz="3600" b="1">
                <a:solidFill>
                  <a:srgbClr val="FFFFFF"/>
                </a:solidFill>
              </a:rPr>
              <a:t>16</a:t>
            </a:r>
          </a:p>
        </p:txBody>
      </p:sp>
      <p:sp>
        <p:nvSpPr>
          <p:cNvPr id="100218" name="V3L"/>
          <p:cNvSpPr txBox="1"/>
          <p:nvPr/>
        </p:nvSpPr>
        <p:spPr>
          <a:xfrm>
            <a:off x="7740000" y="2520000"/>
            <a:ext cx="3240000" cy="216000"/>
          </a:xfrm>
          <a:prstGeom prst="rect">
            <a:avLst/>
          </a:prstGeom>
        </p:spPr>
        <p:txBody>
          <a:bodyPr/>
          <a:lstStyle/>
          <a:p>
            <a:pPr algn="ctr"/>
            <a:r>
              <a:rPr lang="en-US" sz="1500">
                <a:solidFill>
                  <a:srgbClr val="7A8DA0"/>
                </a:solidFill>
              </a:rPr>
              <a:t>distinct event types</a:t>
            </a:r>
          </a:p>
        </p:txBody>
      </p:sp>
      <p:sp>
        <p:nvSpPr>
          <p:cNvPr id="100219" name="EventsLabel"/>
          <p:cNvSpPr txBox="1"/>
          <p:nvPr/>
        </p:nvSpPr>
        <p:spPr>
          <a:xfrm>
            <a:off x="540000" y="2916000"/>
            <a:ext cx="10800000" cy="252000"/>
          </a:xfrm>
          <a:prstGeom prst="rect">
            <a:avLst/>
          </a:prstGeom>
        </p:spPr>
        <p:txBody>
          <a:bodyPr/>
          <a:lstStyle/>
          <a:p>
            <a:r>
              <a:rPr lang="en-US" sz="1800" b="1">
                <a:solidFill>
                  <a:srgbClr val="5B9BD5"/>
                </a:solidFill>
              </a:rPr>
              <a:t>Key event types in this dataset:</a:t>
            </a:r>
          </a:p>
        </p:txBody>
      </p:sp>
      <p:sp>
        <p:nvSpPr>
          <p:cNvPr id="100220" name="EventsLeft"/>
          <p:cNvSpPr txBox="1"/>
          <p:nvPr/>
        </p:nvSpPr>
        <p:spPr>
          <a:xfrm>
            <a:off x="540000" y="3240000"/>
            <a:ext cx="5400000" cy="1800000"/>
          </a:xfrm>
          <a:prstGeom prst="rect">
            <a:avLst/>
          </a:prstGeom>
        </p:spPr>
        <p:txBody>
          <a:bodyPr/>
          <a:lstStyle/>
          <a:p>
            <a:r>
              <a:rPr lang="en-US" sz="1500">
                <a:solidFill>
                  <a:srgbClr val="D0E4F7"/>
                </a:solidFill>
              </a:rPr>
              <a:t>PushEvent (~65%)  —  Git commits pushed to a branch</a:t>
            </a:r>
          </a:p>
          <a:p>
            <a:r>
              <a:rPr lang="en-US" sz="1500">
                <a:solidFill>
                  <a:srgbClr val="D0E4F7"/>
                </a:solidFill>
              </a:rPr>
              <a:t>CreateEvent  —  Branch or tag created</a:t>
            </a:r>
          </a:p>
          <a:p>
            <a:r>
              <a:rPr lang="en-US" sz="1500">
                <a:solidFill>
                  <a:srgbClr val="D0E4F7"/>
                </a:solidFill>
              </a:rPr>
              <a:t>PullRequestEvent  —  PR opened, merged, or closed</a:t>
            </a:r>
          </a:p>
          <a:p>
            <a:r>
              <a:rPr lang="en-US" sz="1500">
                <a:solidFill>
                  <a:srgbClr val="D0E4F7"/>
                </a:solidFill>
              </a:rPr>
              <a:t>IssueCommentEvent  —  Comment added to an issue or PR</a:t>
            </a:r>
          </a:p>
          <a:p>
            <a:r>
              <a:rPr lang="en-US" sz="1500">
                <a:solidFill>
                  <a:srgbClr val="D0E4F7"/>
                </a:solidFill>
              </a:rPr>
              <a:t>IssuesEvent  —  Issue opened or closed</a:t>
            </a:r>
          </a:p>
          <a:p>
            <a:r>
              <a:rPr lang="en-US" sz="1500">
                <a:solidFill>
                  <a:srgbClr val="D0E4F7"/>
                </a:solidFill>
              </a:rPr>
              <a:t>WatchEvent  —  Repository starred</a:t>
            </a:r>
          </a:p>
        </p:txBody>
      </p:sp>
      <p:sp>
        <p:nvSpPr>
          <p:cNvPr id="100221" name="EventsRight"/>
          <p:cNvSpPr txBox="1"/>
          <p:nvPr/>
        </p:nvSpPr>
        <p:spPr>
          <a:xfrm>
            <a:off x="5940000" y="3240000"/>
            <a:ext cx="5400000" cy="1800000"/>
          </a:xfrm>
          <a:prstGeom prst="rect">
            <a:avLst/>
          </a:prstGeom>
        </p:spPr>
        <p:txBody>
          <a:bodyPr/>
          <a:lstStyle/>
          <a:p>
            <a:r>
              <a:rPr lang="en-US" sz="1500">
                <a:solidFill>
                  <a:srgbClr val="D0E4F7"/>
                </a:solidFill>
              </a:rPr>
              <a:t>ForkEvent  —  Repository forked</a:t>
            </a:r>
          </a:p>
          <a:p>
            <a:r>
              <a:rPr lang="en-US" sz="1500">
                <a:solidFill>
                  <a:srgbClr val="D0E4F7"/>
                </a:solidFill>
              </a:rPr>
              <a:t>DeleteEvent  —  Branch or tag deleted</a:t>
            </a:r>
          </a:p>
          <a:p>
            <a:r>
              <a:rPr lang="en-US" sz="1500">
                <a:solidFill>
                  <a:srgbClr val="D0E4F7"/>
                </a:solidFill>
              </a:rPr>
              <a:t>ReleaseEvent  —  New release published</a:t>
            </a:r>
          </a:p>
          <a:p>
            <a:r>
              <a:rPr lang="en-US" sz="1500">
                <a:solidFill>
                  <a:srgbClr val="D0E4F7"/>
                </a:solidFill>
              </a:rPr>
              <a:t>PublicEvent  —  Repository made public</a:t>
            </a:r>
          </a:p>
          <a:p>
            <a:r>
              <a:rPr lang="en-US" sz="1500">
                <a:solidFill>
                  <a:srgbClr val="D0E4F7"/>
                </a:solidFill>
              </a:rPr>
              <a:t>MemberEvent  —  Collaborator added</a:t>
            </a:r>
          </a:p>
          <a:p>
            <a:r>
              <a:rPr lang="en-US" sz="1500">
                <a:solidFill>
                  <a:srgbClr val="D0E4F7"/>
                </a:solidFill>
              </a:rPr>
              <a:t>GollumEvent  —  Wiki page edited</a:t>
            </a:r>
          </a:p>
        </p:txBody>
      </p:sp>
      <p:sp>
        <p:nvSpPr>
          <p:cNvPr id="100222" name="Schema"/>
          <p:cNvSpPr txBox="1"/>
          <p:nvPr/>
        </p:nvSpPr>
        <p:spPr>
          <a:xfrm>
            <a:off x="540000" y="5148000"/>
            <a:ext cx="10800000" cy="360000"/>
          </a:xfrm>
          <a:prstGeom prst="rect">
            <a:avLst/>
          </a:prstGeom>
          <a:solidFill>
            <a:srgbClr val="0A1A2A"/>
          </a:solidFill>
        </p:spPr>
        <p:txBody>
          <a:bodyPr/>
          <a:lstStyle/>
          <a:p>
            <a:pPr algn="ctr"/>
            <a:r>
              <a:rPr lang="en-US" sz="1400">
                <a:solidFill>
                  <a:srgbClr val="A8C6E8"/>
                </a:solidFill>
              </a:rPr>
              <a:t>Each event: id · type · actor (login, id) · repo (name, id) · org (login) · payload (action, push_id, pull_request, issue, release…) · created_at · public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100010" name="Title"/>
          <p:cNvSpPr txBox="1"/>
          <p:nvPr/>
        </p:nvSpPr>
        <p:spPr>
          <a:xfrm>
            <a:off x="540000" y="2952000"/>
            <a:ext cx="10800000" cy="900000"/>
          </a:xfrm>
          <a:prstGeom prst="rect">
            <a:avLst/>
          </a:prstGeom>
        </p:spPr>
        <p:txBody>
          <a:bodyPr/>
          <a:lstStyle/>
          <a:p>
            <a:pPr algn="ctr"/>
            <a:r>
              <a:rPr lang="en-US" sz="4400" b="1">
                <a:solidFill>
                  <a:srgbClr val="FFFFFF"/>
                </a:solidFill>
              </a:rPr>
              <a:t>What is a Data Lakehouse?</a:t>
            </a:r>
          </a:p>
        </p:txBody>
      </p:sp>
      <p:sp>
        <p:nvSpPr>
          <p:cNvPr id="2" name="SectionLabel">
            <a:extLst>
              <a:ext uri="{FF2B5EF4-FFF2-40B4-BE49-F238E27FC236}">
                <a16:creationId xmlns:a16="http://schemas.microsoft.com/office/drawing/2014/main" id="{24F5C40D-9AAD-6AF2-9B51-3671F1BF8708}"/>
              </a:ext>
            </a:extLst>
          </p:cNvPr>
          <p:cNvSpPr txBox="1"/>
          <p:nvPr/>
        </p:nvSpPr>
        <p:spPr>
          <a:xfrm>
            <a:off x="540000" y="2520000"/>
            <a:ext cx="10800000" cy="360000"/>
          </a:xfrm>
          <a:prstGeom prst="rect">
            <a:avLst/>
          </a:prstGeom>
        </p:spPr>
        <p:txBody>
          <a:bodyPr/>
          <a:lstStyle/>
          <a:p>
            <a:pPr algn="ctr"/>
            <a:r>
              <a:rPr lang="en-US" sz="1400" b="1">
                <a:solidFill>
                  <a:srgbClr val="5B9BD5"/>
                </a:solidFill>
              </a:rPr>
              <a:t>PART 1 — FOUNDATION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245" name="Title"/>
          <p:cNvSpPr txBox="1"/>
          <p:nvPr/>
        </p:nvSpPr>
        <p:spPr>
          <a:xfrm>
            <a:off x="540000" y="288000"/>
            <a:ext cx="10800000" cy="540000"/>
          </a:xfrm>
          <a:prstGeom prst="rect">
            <a:avLst/>
          </a:prstGeom>
        </p:spPr>
        <p:txBody>
          <a:bodyPr/>
          <a:lstStyle/>
          <a:p>
            <a:r>
              <a:rPr lang="en-US" sz="3200" b="1">
                <a:solidFill>
                  <a:srgbClr val="FFFFFF"/>
                </a:solidFill>
                <a:latin typeface="Calibri"/>
                <a:ea typeface="Calibri"/>
              </a:rPr>
              <a:t>The Lakehouse Pattern</a:t>
            </a:r>
          </a:p>
        </p:txBody>
      </p:sp>
      <p:sp>
        <p:nvSpPr>
          <p:cNvPr id="100246" name="Subtitle"/>
          <p:cNvSpPr txBox="1"/>
          <p:nvPr/>
        </p:nvSpPr>
        <p:spPr>
          <a:xfrm>
            <a:off x="540000" y="936000"/>
            <a:ext cx="10800000" cy="288000"/>
          </a:xfrm>
          <a:prstGeom prst="rect">
            <a:avLst/>
          </a:prstGeom>
        </p:spPr>
        <p:txBody>
          <a:bodyPr/>
          <a:lstStyle/>
          <a:p>
            <a:r>
              <a:rPr lang="en-US" sz="1800" b="0">
                <a:solidFill>
                  <a:srgbClr val="5B9BD5"/>
                </a:solidFill>
                <a:latin typeface="Calibri"/>
                <a:ea typeface="Calibri"/>
              </a:rPr>
              <a:t>Best of both worlds — warehouse guarantees on lake economics</a:t>
            </a:r>
          </a:p>
        </p:txBody>
      </p:sp>
      <p:sp>
        <p:nvSpPr>
          <p:cNvPr id="100247" name="WhBox"/>
          <p:cNvSpPr txBox="1"/>
          <p:nvPr/>
        </p:nvSpPr>
        <p:spPr>
          <a:xfrm>
            <a:off x="492001" y="1462091"/>
            <a:ext cx="3264000" cy="2331164"/>
          </a:xfrm>
          <a:prstGeom prst="rect">
            <a:avLst/>
          </a:prstGeom>
          <a:solidFill>
            <a:srgbClr val="1A3A5C"/>
          </a:solidFill>
        </p:spPr>
        <p:txBody>
          <a:bodyPr/>
          <a:lstStyle/>
          <a:p>
            <a:r>
              <a:rPr lang="en-US" sz="1600" dirty="0">
                <a:solidFill>
                  <a:schemeClr val="bg2"/>
                </a:solidFill>
                <a:latin typeface="Calibri"/>
                <a:ea typeface="Calibri"/>
              </a:rPr>
              <a:t>DATA WAREHOUSE</a:t>
            </a:r>
          </a:p>
          <a:p>
            <a:endParaRPr lang="en-US" sz="1400" dirty="0">
              <a:solidFill>
                <a:schemeClr val="bg2"/>
              </a:solidFill>
            </a:endParaRPr>
          </a:p>
          <a:p>
            <a:r>
              <a:rPr lang="en-US" sz="1600" dirty="0">
                <a:solidFill>
                  <a:schemeClr val="bg2"/>
                </a:solidFill>
                <a:latin typeface="Calibri"/>
                <a:ea typeface="Calibri"/>
              </a:rPr>
              <a:t>✅  ACID transactions &amp; fast queries</a:t>
            </a:r>
          </a:p>
          <a:p>
            <a:r>
              <a:rPr lang="en-US" sz="1600" dirty="0">
                <a:solidFill>
                  <a:schemeClr val="bg2"/>
                </a:solidFill>
                <a:latin typeface="Calibri"/>
                <a:ea typeface="Calibri"/>
              </a:rPr>
              <a:t>✅  Row-level updates &amp; deletes</a:t>
            </a:r>
          </a:p>
          <a:p>
            <a:endParaRPr lang="en-US" sz="1400" dirty="0">
              <a:solidFill>
                <a:schemeClr val="bg2"/>
              </a:solidFill>
            </a:endParaRPr>
          </a:p>
          <a:p>
            <a:r>
              <a:rPr lang="en-US" sz="1600" dirty="0">
                <a:solidFill>
                  <a:schemeClr val="bg2"/>
                </a:solidFill>
                <a:latin typeface="Calibri"/>
                <a:ea typeface="Calibri"/>
              </a:rPr>
              <a:t>❌  Expensive, vendor lock-in</a:t>
            </a:r>
          </a:p>
          <a:p>
            <a:r>
              <a:rPr lang="en-US" sz="1600" dirty="0">
                <a:solidFill>
                  <a:schemeClr val="bg2"/>
                </a:solidFill>
                <a:latin typeface="Calibri"/>
                <a:ea typeface="Calibri"/>
              </a:rPr>
              <a:t>❌  Proprietary closed formats</a:t>
            </a:r>
          </a:p>
        </p:txBody>
      </p:sp>
      <p:sp>
        <p:nvSpPr>
          <p:cNvPr id="100249" name="DlBox"/>
          <p:cNvSpPr txBox="1"/>
          <p:nvPr/>
        </p:nvSpPr>
        <p:spPr>
          <a:xfrm>
            <a:off x="4248000" y="1458491"/>
            <a:ext cx="3264000" cy="2331164"/>
          </a:xfrm>
          <a:prstGeom prst="rect">
            <a:avLst/>
          </a:prstGeom>
          <a:solidFill>
            <a:srgbClr val="1A3A5C"/>
          </a:solidFill>
        </p:spPr>
        <p:txBody>
          <a:bodyPr/>
          <a:lstStyle/>
          <a:p>
            <a:r>
              <a:rPr lang="en-US" sz="1600" dirty="0">
                <a:solidFill>
                  <a:schemeClr val="bg2"/>
                </a:solidFill>
                <a:latin typeface="Calibri"/>
                <a:ea typeface="Calibri"/>
              </a:rPr>
              <a:t>DATA LAKE</a:t>
            </a:r>
          </a:p>
          <a:p>
            <a:endParaRPr lang="en-US" sz="1400" dirty="0">
              <a:solidFill>
                <a:schemeClr val="bg2"/>
              </a:solidFill>
            </a:endParaRPr>
          </a:p>
          <a:p>
            <a:r>
              <a:rPr lang="en-US" sz="1600" dirty="0">
                <a:solidFill>
                  <a:schemeClr val="bg2"/>
                </a:solidFill>
                <a:latin typeface="Calibri"/>
                <a:ea typeface="Calibri"/>
              </a:rPr>
              <a:t>✅  Cheap object storage (S3)</a:t>
            </a:r>
          </a:p>
          <a:p>
            <a:r>
              <a:rPr lang="en-US" sz="1600" dirty="0">
                <a:solidFill>
                  <a:schemeClr val="bg2"/>
                </a:solidFill>
                <a:latin typeface="Calibri"/>
                <a:ea typeface="Calibri"/>
              </a:rPr>
              <a:t>✅  Open formats — Parquet, Avro</a:t>
            </a:r>
          </a:p>
          <a:p>
            <a:r>
              <a:rPr lang="en-US" sz="1600" dirty="0">
                <a:solidFill>
                  <a:schemeClr val="bg2"/>
                </a:solidFill>
                <a:latin typeface="Calibri"/>
                <a:ea typeface="Calibri"/>
              </a:rPr>
              <a:t>✅  Infinite scale</a:t>
            </a:r>
          </a:p>
          <a:p>
            <a:endParaRPr lang="en-US" sz="1400" dirty="0">
              <a:solidFill>
                <a:schemeClr val="bg2"/>
              </a:solidFill>
            </a:endParaRPr>
          </a:p>
          <a:p>
            <a:r>
              <a:rPr lang="en-US" sz="1600" dirty="0">
                <a:solidFill>
                  <a:schemeClr val="bg2"/>
                </a:solidFill>
                <a:latin typeface="Calibri"/>
                <a:ea typeface="Calibri"/>
              </a:rPr>
              <a:t>❌  No transactions</a:t>
            </a:r>
          </a:p>
          <a:p>
            <a:r>
              <a:rPr lang="en-US" sz="1600" dirty="0">
                <a:solidFill>
                  <a:schemeClr val="bg2"/>
                </a:solidFill>
                <a:latin typeface="Calibri"/>
                <a:ea typeface="Calibri"/>
              </a:rPr>
              <a:t>❌  No row-level mutations</a:t>
            </a:r>
          </a:p>
        </p:txBody>
      </p:sp>
      <p:sp>
        <p:nvSpPr>
          <p:cNvPr id="100250" name="ArrowRight"/>
          <p:cNvSpPr txBox="1"/>
          <p:nvPr/>
        </p:nvSpPr>
        <p:spPr>
          <a:xfrm>
            <a:off x="7512000" y="2483673"/>
            <a:ext cx="720000" cy="288000"/>
          </a:xfrm>
          <a:prstGeom prst="rect">
            <a:avLst/>
          </a:prstGeom>
        </p:spPr>
        <p:txBody>
          <a:bodyPr/>
          <a:lstStyle/>
          <a:p>
            <a:r>
              <a:rPr lang="en-US" sz="1800" b="1" dirty="0">
                <a:solidFill>
                  <a:srgbClr val="78A9FF"/>
                </a:solidFill>
              </a:rPr>
              <a:t>➜</a:t>
            </a:r>
          </a:p>
        </p:txBody>
      </p:sp>
      <p:sp>
        <p:nvSpPr>
          <p:cNvPr id="100251" name="LhBox"/>
          <p:cNvSpPr txBox="1"/>
          <p:nvPr/>
        </p:nvSpPr>
        <p:spPr>
          <a:xfrm>
            <a:off x="8003999" y="1458491"/>
            <a:ext cx="3706555" cy="2331164"/>
          </a:xfrm>
          <a:prstGeom prst="rect">
            <a:avLst/>
          </a:prstGeom>
          <a:solidFill>
            <a:srgbClr val="1A4B7A"/>
          </a:solidFill>
        </p:spPr>
        <p:txBody>
          <a:bodyPr/>
          <a:lstStyle/>
          <a:p>
            <a:r>
              <a:rPr lang="en-US" sz="1600" dirty="0">
                <a:solidFill>
                  <a:srgbClr val="FFFFFF"/>
                </a:solidFill>
                <a:latin typeface="Calibri"/>
                <a:ea typeface="Calibri"/>
              </a:rPr>
              <a:t>LAKEHOUSE  —  Apache Hudi</a:t>
            </a:r>
          </a:p>
          <a:p>
            <a:endParaRPr lang="en-US" sz="1600" dirty="0">
              <a:solidFill>
                <a:srgbClr val="FFFFFF"/>
              </a:solidFill>
              <a:latin typeface="Calibri"/>
              <a:ea typeface="Calibri"/>
            </a:endParaRPr>
          </a:p>
          <a:p>
            <a:r>
              <a:rPr lang="en-US" sz="1600" dirty="0">
                <a:solidFill>
                  <a:srgbClr val="FFFFFF"/>
                </a:solidFill>
                <a:latin typeface="Calibri"/>
                <a:ea typeface="Calibri"/>
              </a:rPr>
              <a:t>✅  ACID transactions on object storage</a:t>
            </a:r>
          </a:p>
          <a:p>
            <a:r>
              <a:rPr lang="en-US" sz="1600" dirty="0">
                <a:solidFill>
                  <a:srgbClr val="FFFFFF"/>
                </a:solidFill>
                <a:latin typeface="Calibri"/>
                <a:ea typeface="Calibri"/>
              </a:rPr>
              <a:t>✅  Open formats (Parquet on </a:t>
            </a:r>
            <a:r>
              <a:rPr lang="en-US" sz="1600" dirty="0" err="1">
                <a:solidFill>
                  <a:srgbClr val="FFFFFF"/>
                </a:solidFill>
                <a:latin typeface="Calibri"/>
                <a:ea typeface="Calibri"/>
              </a:rPr>
              <a:t>MinIO</a:t>
            </a:r>
            <a:r>
              <a:rPr lang="en-US" sz="1600" dirty="0">
                <a:solidFill>
                  <a:srgbClr val="FFFFFF"/>
                </a:solidFill>
                <a:latin typeface="Calibri"/>
                <a:ea typeface="Calibri"/>
              </a:rPr>
              <a:t> / S3)</a:t>
            </a:r>
          </a:p>
          <a:p>
            <a:r>
              <a:rPr lang="en-US" sz="1600" dirty="0">
                <a:solidFill>
                  <a:srgbClr val="FFFFFF"/>
                </a:solidFill>
                <a:latin typeface="Calibri"/>
                <a:ea typeface="Calibri"/>
              </a:rPr>
              <a:t>✅  Row-level </a:t>
            </a:r>
            <a:r>
              <a:rPr lang="en-US" sz="1600" dirty="0" err="1">
                <a:solidFill>
                  <a:srgbClr val="FFFFFF"/>
                </a:solidFill>
                <a:latin typeface="Calibri"/>
                <a:ea typeface="Calibri"/>
              </a:rPr>
              <a:t>upserts</a:t>
            </a:r>
            <a:r>
              <a:rPr lang="en-US" sz="1600" dirty="0">
                <a:solidFill>
                  <a:srgbClr val="FFFFFF"/>
                </a:solidFill>
                <a:latin typeface="Calibri"/>
                <a:ea typeface="Calibri"/>
              </a:rPr>
              <a:t> &amp; point deletes</a:t>
            </a:r>
          </a:p>
          <a:p>
            <a:r>
              <a:rPr lang="en-US" sz="1600" dirty="0">
                <a:solidFill>
                  <a:srgbClr val="FFFFFF"/>
                </a:solidFill>
                <a:latin typeface="Calibri"/>
                <a:ea typeface="Calibri"/>
              </a:rPr>
              <a:t>✅  Time travel &amp; incremental pull</a:t>
            </a:r>
          </a:p>
          <a:p>
            <a:r>
              <a:rPr lang="en-US" sz="1600" dirty="0">
                <a:solidFill>
                  <a:srgbClr val="FFFFFF"/>
                </a:solidFill>
                <a:latin typeface="Calibri"/>
                <a:ea typeface="Calibri"/>
              </a:rPr>
              <a:t>✅  Any SQL engine can query it</a:t>
            </a:r>
          </a:p>
          <a:p>
            <a:endParaRPr lang="en-US" sz="1600" dirty="0">
              <a:solidFill>
                <a:srgbClr val="FFFFFF"/>
              </a:solidFill>
              <a:latin typeface="Calibri"/>
              <a:ea typeface="Calibri"/>
            </a:endParaRPr>
          </a:p>
        </p:txBody>
      </p:sp>
      <p:sp>
        <p:nvSpPr>
          <p:cNvPr id="100252" name="Context"/>
          <p:cNvSpPr txBox="1"/>
          <p:nvPr/>
        </p:nvSpPr>
        <p:spPr>
          <a:xfrm>
            <a:off x="696000" y="4086327"/>
            <a:ext cx="10800000" cy="720000"/>
          </a:xfrm>
          <a:prstGeom prst="rect">
            <a:avLst/>
          </a:prstGeom>
        </p:spPr>
        <p:txBody>
          <a:bodyPr/>
          <a:lstStyle/>
          <a:p>
            <a:r>
              <a:rPr lang="en-US" sz="1200" b="0" dirty="0">
                <a:solidFill>
                  <a:srgbClr val="7A8DA0"/>
                </a:solidFill>
                <a:latin typeface="Calibri"/>
                <a:ea typeface="Calibri"/>
              </a:rPr>
              <a:t>Apache Delta Lake · Apache Iceberg · Apache Hudi are the three main table format implementations of this pattern. We use Hudi 0.15: </a:t>
            </a:r>
            <a:r>
              <a:rPr lang="en-US" sz="1200" b="0" dirty="0" err="1">
                <a:solidFill>
                  <a:srgbClr val="7A8DA0"/>
                </a:solidFill>
                <a:latin typeface="Calibri"/>
                <a:ea typeface="Calibri"/>
              </a:rPr>
              <a:t>HoodieStreamer</a:t>
            </a:r>
            <a:r>
              <a:rPr lang="en-US" sz="1200" b="0" dirty="0">
                <a:solidFill>
                  <a:srgbClr val="7A8DA0"/>
                </a:solidFill>
                <a:latin typeface="Calibri"/>
                <a:ea typeface="Calibri"/>
              </a:rPr>
              <a:t> gives mature bulk-ingestion with Avro schema enforcement out of the box.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a:extLst>
            <a:ext uri="{FF2B5EF4-FFF2-40B4-BE49-F238E27FC236}">
              <a16:creationId xmlns:a16="http://schemas.microsoft.com/office/drawing/2014/main" id="{DA2DF6E9-A48A-518D-E787-8EEA71FBB321}"/>
            </a:ext>
          </a:extLst>
        </p:cNvPr>
        <p:cNvGrpSpPr/>
        <p:nvPr/>
      </p:nvGrpSpPr>
      <p:grpSpPr>
        <a:xfrm>
          <a:off x="0" y="0"/>
          <a:ext cx="0" cy="0"/>
          <a:chOff x="0" y="0"/>
          <a:chExt cx="0" cy="0"/>
        </a:xfrm>
      </p:grpSpPr>
      <p:sp>
        <p:nvSpPr>
          <p:cNvPr id="27" name="Box_Airflow">
            <a:extLst>
              <a:ext uri="{FF2B5EF4-FFF2-40B4-BE49-F238E27FC236}">
                <a16:creationId xmlns:a16="http://schemas.microsoft.com/office/drawing/2014/main" id="{0F3E351E-F834-8DE1-6344-D091B7BF867F}"/>
              </a:ext>
            </a:extLst>
          </p:cNvPr>
          <p:cNvSpPr/>
          <p:nvPr/>
        </p:nvSpPr>
        <p:spPr>
          <a:xfrm>
            <a:off x="2436413" y="4556944"/>
            <a:ext cx="5354335" cy="978840"/>
          </a:xfrm>
          <a:prstGeom prst="roundRect">
            <a:avLst/>
          </a:prstGeom>
          <a:solidFill>
            <a:srgbClr val="12304F"/>
          </a:solidFill>
          <a:ln w="25400">
            <a:solidFill>
              <a:srgbClr val="4FA3E0"/>
            </a:solid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8" name="Box_Airflow">
            <a:extLst>
              <a:ext uri="{FF2B5EF4-FFF2-40B4-BE49-F238E27FC236}">
                <a16:creationId xmlns:a16="http://schemas.microsoft.com/office/drawing/2014/main" id="{F4B1BAA8-1EB5-600B-9587-A5EAE3592051}"/>
              </a:ext>
            </a:extLst>
          </p:cNvPr>
          <p:cNvSpPr/>
          <p:nvPr/>
        </p:nvSpPr>
        <p:spPr>
          <a:xfrm>
            <a:off x="2416257" y="5740407"/>
            <a:ext cx="5354335" cy="978840"/>
          </a:xfrm>
          <a:prstGeom prst="roundRect">
            <a:avLst/>
          </a:prstGeom>
          <a:solidFill>
            <a:srgbClr val="12304F"/>
          </a:solidFill>
          <a:ln w="25400">
            <a:solidFill>
              <a:srgbClr val="4FA3E0"/>
            </a:solid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6" name="Box_Airflow">
            <a:extLst>
              <a:ext uri="{FF2B5EF4-FFF2-40B4-BE49-F238E27FC236}">
                <a16:creationId xmlns:a16="http://schemas.microsoft.com/office/drawing/2014/main" id="{43ABDD4A-4272-989C-8748-445B9BE39BCB}"/>
              </a:ext>
            </a:extLst>
          </p:cNvPr>
          <p:cNvSpPr/>
          <p:nvPr/>
        </p:nvSpPr>
        <p:spPr>
          <a:xfrm>
            <a:off x="2436413" y="3368170"/>
            <a:ext cx="5354335" cy="978840"/>
          </a:xfrm>
          <a:prstGeom prst="roundRect">
            <a:avLst/>
          </a:prstGeom>
          <a:solidFill>
            <a:srgbClr val="12304F"/>
          </a:solidFill>
          <a:ln w="25400">
            <a:solidFill>
              <a:srgbClr val="4FA3E0"/>
            </a:solid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Box_Airflow">
            <a:extLst>
              <a:ext uri="{FF2B5EF4-FFF2-40B4-BE49-F238E27FC236}">
                <a16:creationId xmlns:a16="http://schemas.microsoft.com/office/drawing/2014/main" id="{B7929521-52AC-23A1-F362-C09E18D3B9A6}"/>
              </a:ext>
            </a:extLst>
          </p:cNvPr>
          <p:cNvSpPr/>
          <p:nvPr/>
        </p:nvSpPr>
        <p:spPr>
          <a:xfrm>
            <a:off x="2416257" y="1005641"/>
            <a:ext cx="5354335" cy="978840"/>
          </a:xfrm>
          <a:prstGeom prst="roundRect">
            <a:avLst/>
          </a:prstGeom>
          <a:solidFill>
            <a:srgbClr val="12304F"/>
          </a:solidFill>
          <a:ln w="25400">
            <a:solidFill>
              <a:srgbClr val="4FA3E0"/>
            </a:solid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Box_Airflow">
            <a:extLst>
              <a:ext uri="{FF2B5EF4-FFF2-40B4-BE49-F238E27FC236}">
                <a16:creationId xmlns:a16="http://schemas.microsoft.com/office/drawing/2014/main" id="{E5A3F2A6-E837-7C79-4071-58B576AA768A}"/>
              </a:ext>
            </a:extLst>
          </p:cNvPr>
          <p:cNvSpPr/>
          <p:nvPr/>
        </p:nvSpPr>
        <p:spPr>
          <a:xfrm>
            <a:off x="2436413" y="2184707"/>
            <a:ext cx="5354335" cy="978840"/>
          </a:xfrm>
          <a:prstGeom prst="roundRect">
            <a:avLst/>
          </a:prstGeom>
          <a:solidFill>
            <a:srgbClr val="12304F"/>
          </a:solidFill>
          <a:ln w="25400">
            <a:solidFill>
              <a:srgbClr val="4FA3E0"/>
            </a:solid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00293" name="Title">
            <a:extLst>
              <a:ext uri="{FF2B5EF4-FFF2-40B4-BE49-F238E27FC236}">
                <a16:creationId xmlns:a16="http://schemas.microsoft.com/office/drawing/2014/main" id="{CCA12DAD-6941-82F4-2AF8-32CACFADF43E}"/>
              </a:ext>
            </a:extLst>
          </p:cNvPr>
          <p:cNvSpPr txBox="1"/>
          <p:nvPr/>
        </p:nvSpPr>
        <p:spPr>
          <a:xfrm>
            <a:off x="540000" y="288000"/>
            <a:ext cx="10800000" cy="540000"/>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a:ea typeface="+mn-ea"/>
                <a:cs typeface="+mn-cs"/>
              </a:rPr>
              <a:t>Open Lakehouse Architecture</a:t>
            </a:r>
          </a:p>
        </p:txBody>
      </p:sp>
      <p:pic>
        <p:nvPicPr>
          <p:cNvPr id="2" name="Picture 1" descr="A blue hexagon with white text&#10;&#10;Description automatically generated">
            <a:extLst>
              <a:ext uri="{FF2B5EF4-FFF2-40B4-BE49-F238E27FC236}">
                <a16:creationId xmlns:a16="http://schemas.microsoft.com/office/drawing/2014/main" id="{35F32141-C510-30BB-74E1-F214AA71F9B1}"/>
              </a:ext>
            </a:extLst>
          </p:cNvPr>
          <p:cNvPicPr>
            <a:picLocks noChangeAspect="1"/>
          </p:cNvPicPr>
          <p:nvPr/>
        </p:nvPicPr>
        <p:blipFill rotWithShape="1">
          <a:blip r:embed="rId3"/>
          <a:srcRect r="52200" b="3473"/>
          <a:stretch/>
        </p:blipFill>
        <p:spPr>
          <a:xfrm>
            <a:off x="2681500" y="5878956"/>
            <a:ext cx="2134068" cy="749204"/>
          </a:xfrm>
          <a:prstGeom prst="rect">
            <a:avLst/>
          </a:prstGeom>
        </p:spPr>
      </p:pic>
      <p:pic>
        <p:nvPicPr>
          <p:cNvPr id="3" name="Picture 2" descr="A blue and white paper with a red square and a red square with a red square with a red square with a red square with a blue star and a blue star with a red square with a&#10;&#10;Description automatically generated">
            <a:extLst>
              <a:ext uri="{FF2B5EF4-FFF2-40B4-BE49-F238E27FC236}">
                <a16:creationId xmlns:a16="http://schemas.microsoft.com/office/drawing/2014/main" id="{7D7D6931-81E4-2331-6BA3-A19FC1E8437F}"/>
              </a:ext>
            </a:extLst>
          </p:cNvPr>
          <p:cNvPicPr>
            <a:picLocks noChangeAspect="1"/>
          </p:cNvPicPr>
          <p:nvPr/>
        </p:nvPicPr>
        <p:blipFill>
          <a:blip r:embed="rId4"/>
          <a:stretch>
            <a:fillRect/>
          </a:stretch>
        </p:blipFill>
        <p:spPr>
          <a:xfrm>
            <a:off x="3335080" y="4704076"/>
            <a:ext cx="3516691" cy="669846"/>
          </a:xfrm>
          <a:prstGeom prst="rect">
            <a:avLst/>
          </a:prstGeom>
        </p:spPr>
      </p:pic>
      <p:pic>
        <p:nvPicPr>
          <p:cNvPr id="11" name="Picture 10" descr="A logo of a company&#10;&#10;Description automatically generated">
            <a:extLst>
              <a:ext uri="{FF2B5EF4-FFF2-40B4-BE49-F238E27FC236}">
                <a16:creationId xmlns:a16="http://schemas.microsoft.com/office/drawing/2014/main" id="{F7F50982-39A5-3C58-801B-D6147F046145}"/>
              </a:ext>
            </a:extLst>
          </p:cNvPr>
          <p:cNvPicPr>
            <a:picLocks noChangeAspect="1"/>
          </p:cNvPicPr>
          <p:nvPr/>
        </p:nvPicPr>
        <p:blipFill>
          <a:blip r:embed="rId5"/>
          <a:stretch>
            <a:fillRect/>
          </a:stretch>
        </p:blipFill>
        <p:spPr>
          <a:xfrm>
            <a:off x="5473321" y="2320981"/>
            <a:ext cx="1083905" cy="609600"/>
          </a:xfrm>
          <a:prstGeom prst="rect">
            <a:avLst/>
          </a:prstGeom>
        </p:spPr>
      </p:pic>
      <p:sp>
        <p:nvSpPr>
          <p:cNvPr id="12" name="TextBox 11">
            <a:extLst>
              <a:ext uri="{FF2B5EF4-FFF2-40B4-BE49-F238E27FC236}">
                <a16:creationId xmlns:a16="http://schemas.microsoft.com/office/drawing/2014/main" id="{1A5D111F-6EAF-F7FF-77BC-34464DF185DA}"/>
              </a:ext>
            </a:extLst>
          </p:cNvPr>
          <p:cNvSpPr txBox="1"/>
          <p:nvPr/>
        </p:nvSpPr>
        <p:spPr>
          <a:xfrm>
            <a:off x="8180578" y="1315639"/>
            <a:ext cx="207090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Visualization/BI</a:t>
            </a:r>
          </a:p>
        </p:txBody>
      </p:sp>
      <p:sp>
        <p:nvSpPr>
          <p:cNvPr id="13" name="TextBox 12">
            <a:extLst>
              <a:ext uri="{FF2B5EF4-FFF2-40B4-BE49-F238E27FC236}">
                <a16:creationId xmlns:a16="http://schemas.microsoft.com/office/drawing/2014/main" id="{5487F23B-213D-6011-7763-4842E78FD85C}"/>
              </a:ext>
            </a:extLst>
          </p:cNvPr>
          <p:cNvSpPr txBox="1"/>
          <p:nvPr/>
        </p:nvSpPr>
        <p:spPr>
          <a:xfrm>
            <a:off x="8180577" y="2453227"/>
            <a:ext cx="187969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Data processing</a:t>
            </a:r>
          </a:p>
        </p:txBody>
      </p:sp>
      <p:sp>
        <p:nvSpPr>
          <p:cNvPr id="14" name="TextBox 13">
            <a:extLst>
              <a:ext uri="{FF2B5EF4-FFF2-40B4-BE49-F238E27FC236}">
                <a16:creationId xmlns:a16="http://schemas.microsoft.com/office/drawing/2014/main" id="{65ECFD3F-7D5E-87F3-F3EC-4AC1FEBF0743}"/>
              </a:ext>
            </a:extLst>
          </p:cNvPr>
          <p:cNvSpPr txBox="1"/>
          <p:nvPr/>
        </p:nvSpPr>
        <p:spPr>
          <a:xfrm>
            <a:off x="8276179" y="3672462"/>
            <a:ext cx="187969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Table formats</a:t>
            </a:r>
          </a:p>
        </p:txBody>
      </p:sp>
      <p:sp>
        <p:nvSpPr>
          <p:cNvPr id="15" name="TextBox 14">
            <a:extLst>
              <a:ext uri="{FF2B5EF4-FFF2-40B4-BE49-F238E27FC236}">
                <a16:creationId xmlns:a16="http://schemas.microsoft.com/office/drawing/2014/main" id="{406F8694-F267-A917-5174-77D42F42B67B}"/>
              </a:ext>
            </a:extLst>
          </p:cNvPr>
          <p:cNvSpPr txBox="1"/>
          <p:nvPr/>
        </p:nvSpPr>
        <p:spPr>
          <a:xfrm>
            <a:off x="8310323" y="4793635"/>
            <a:ext cx="18114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File formats</a:t>
            </a:r>
          </a:p>
        </p:txBody>
      </p:sp>
      <p:sp>
        <p:nvSpPr>
          <p:cNvPr id="16" name="TextBox 15">
            <a:extLst>
              <a:ext uri="{FF2B5EF4-FFF2-40B4-BE49-F238E27FC236}">
                <a16:creationId xmlns:a16="http://schemas.microsoft.com/office/drawing/2014/main" id="{F0AA1C51-73BB-B2B6-FAED-42FDC17084BD}"/>
              </a:ext>
            </a:extLst>
          </p:cNvPr>
          <p:cNvSpPr txBox="1"/>
          <p:nvPr/>
        </p:nvSpPr>
        <p:spPr>
          <a:xfrm>
            <a:off x="8344470" y="5997937"/>
            <a:ext cx="18114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Data storage</a:t>
            </a:r>
          </a:p>
        </p:txBody>
      </p:sp>
      <p:pic>
        <p:nvPicPr>
          <p:cNvPr id="17" name="Picture 16" descr="A blue triangle with arrows&#10;&#10;Description automatically generated">
            <a:extLst>
              <a:ext uri="{FF2B5EF4-FFF2-40B4-BE49-F238E27FC236}">
                <a16:creationId xmlns:a16="http://schemas.microsoft.com/office/drawing/2014/main" id="{C4C47D7C-AAE9-BE8F-7378-5D958FA514F3}"/>
              </a:ext>
            </a:extLst>
          </p:cNvPr>
          <p:cNvPicPr>
            <a:picLocks noChangeAspect="1"/>
          </p:cNvPicPr>
          <p:nvPr/>
        </p:nvPicPr>
        <p:blipFill rotWithShape="1">
          <a:blip r:embed="rId6"/>
          <a:srcRect b="17121"/>
          <a:stretch/>
        </p:blipFill>
        <p:spPr>
          <a:xfrm>
            <a:off x="5950785" y="3511050"/>
            <a:ext cx="923232" cy="668805"/>
          </a:xfrm>
          <a:prstGeom prst="rect">
            <a:avLst/>
          </a:prstGeom>
        </p:spPr>
      </p:pic>
      <p:pic>
        <p:nvPicPr>
          <p:cNvPr id="18" name="Picture 17" descr="A logo of a company&#10;&#10;Description automatically generated">
            <a:extLst>
              <a:ext uri="{FF2B5EF4-FFF2-40B4-BE49-F238E27FC236}">
                <a16:creationId xmlns:a16="http://schemas.microsoft.com/office/drawing/2014/main" id="{A7DD67CF-A192-CD59-58DF-D58DB19DD008}"/>
              </a:ext>
            </a:extLst>
          </p:cNvPr>
          <p:cNvPicPr>
            <a:picLocks noChangeAspect="1"/>
          </p:cNvPicPr>
          <p:nvPr/>
        </p:nvPicPr>
        <p:blipFill>
          <a:blip r:embed="rId7"/>
          <a:stretch>
            <a:fillRect/>
          </a:stretch>
        </p:blipFill>
        <p:spPr>
          <a:xfrm>
            <a:off x="2966165" y="3466065"/>
            <a:ext cx="2454868" cy="758777"/>
          </a:xfrm>
          <a:prstGeom prst="rect">
            <a:avLst/>
          </a:prstGeom>
        </p:spPr>
      </p:pic>
      <p:pic>
        <p:nvPicPr>
          <p:cNvPr id="19" name="Picture 18" descr="A blue and yellow logo&#10;&#10;Description automatically generated">
            <a:extLst>
              <a:ext uri="{FF2B5EF4-FFF2-40B4-BE49-F238E27FC236}">
                <a16:creationId xmlns:a16="http://schemas.microsoft.com/office/drawing/2014/main" id="{26E1B86B-33D1-2293-CB4E-FB7890A86FBC}"/>
              </a:ext>
            </a:extLst>
          </p:cNvPr>
          <p:cNvPicPr>
            <a:picLocks noChangeAspect="1"/>
          </p:cNvPicPr>
          <p:nvPr/>
        </p:nvPicPr>
        <p:blipFill>
          <a:blip r:embed="rId8"/>
          <a:stretch>
            <a:fillRect/>
          </a:stretch>
        </p:blipFill>
        <p:spPr>
          <a:xfrm>
            <a:off x="5603739" y="5907598"/>
            <a:ext cx="1906974" cy="690715"/>
          </a:xfrm>
          <a:prstGeom prst="rect">
            <a:avLst/>
          </a:prstGeom>
        </p:spPr>
      </p:pic>
      <p:pic>
        <p:nvPicPr>
          <p:cNvPr id="20" name="Picture 19" descr="A blue hexagon with white text&#10;&#10;Description automatically generated">
            <a:extLst>
              <a:ext uri="{FF2B5EF4-FFF2-40B4-BE49-F238E27FC236}">
                <a16:creationId xmlns:a16="http://schemas.microsoft.com/office/drawing/2014/main" id="{622AC803-FC5E-E005-5C47-A91AAF92ADAC}"/>
              </a:ext>
            </a:extLst>
          </p:cNvPr>
          <p:cNvPicPr>
            <a:picLocks noChangeAspect="1"/>
          </p:cNvPicPr>
          <p:nvPr/>
        </p:nvPicPr>
        <p:blipFill>
          <a:blip r:embed="rId9"/>
          <a:stretch>
            <a:fillRect/>
          </a:stretch>
        </p:blipFill>
        <p:spPr>
          <a:xfrm>
            <a:off x="4821976" y="5897958"/>
            <a:ext cx="812800" cy="711200"/>
          </a:xfrm>
          <a:prstGeom prst="rect">
            <a:avLst/>
          </a:prstGeom>
        </p:spPr>
      </p:pic>
      <p:pic>
        <p:nvPicPr>
          <p:cNvPr id="25" name="Picture 24" descr="A close-up of a logo&#10;&#10;Description automatically generated">
            <a:extLst>
              <a:ext uri="{FF2B5EF4-FFF2-40B4-BE49-F238E27FC236}">
                <a16:creationId xmlns:a16="http://schemas.microsoft.com/office/drawing/2014/main" id="{57D20FD2-F293-FEC5-A22A-28E15156EF30}"/>
              </a:ext>
            </a:extLst>
          </p:cNvPr>
          <p:cNvPicPr>
            <a:picLocks noChangeAspect="1"/>
          </p:cNvPicPr>
          <p:nvPr/>
        </p:nvPicPr>
        <p:blipFill>
          <a:blip r:embed="rId10"/>
          <a:stretch>
            <a:fillRect/>
          </a:stretch>
        </p:blipFill>
        <p:spPr>
          <a:xfrm>
            <a:off x="2966165" y="1194276"/>
            <a:ext cx="4191000" cy="647700"/>
          </a:xfrm>
          <a:prstGeom prst="rect">
            <a:avLst/>
          </a:prstGeom>
        </p:spPr>
      </p:pic>
      <p:pic>
        <p:nvPicPr>
          <p:cNvPr id="4" name="Icon_Presto" descr="PrestoDB logo">
            <a:extLst>
              <a:ext uri="{FF2B5EF4-FFF2-40B4-BE49-F238E27FC236}">
                <a16:creationId xmlns:a16="http://schemas.microsoft.com/office/drawing/2014/main" id="{5E7FC5E9-9E96-5B05-E287-01F32B5FF02C}"/>
              </a:ext>
            </a:extLst>
          </p:cNvPr>
          <p:cNvPicPr>
            <a:picLocks noChangeAspect="1"/>
          </p:cNvPicPr>
          <p:nvPr/>
        </p:nvPicPr>
        <p:blipFill>
          <a:blip r:embed="rId11"/>
          <a:stretch>
            <a:fillRect/>
          </a:stretch>
        </p:blipFill>
        <p:spPr>
          <a:xfrm>
            <a:off x="3878403" y="2318469"/>
            <a:ext cx="722792" cy="722792"/>
          </a:xfrm>
          <a:prstGeom prst="rect">
            <a:avLst/>
          </a:prstGeom>
        </p:spPr>
      </p:pic>
    </p:spTree>
    <p:extLst>
      <p:ext uri="{BB962C8B-B14F-4D97-AF65-F5344CB8AC3E}">
        <p14:creationId xmlns:p14="http://schemas.microsoft.com/office/powerpoint/2010/main" val="2128249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024" name="Title"/>
          <p:cNvSpPr txBox="1"/>
          <p:nvPr/>
        </p:nvSpPr>
        <p:spPr>
          <a:xfrm>
            <a:off x="540000" y="288000"/>
            <a:ext cx="10800000" cy="540000"/>
          </a:xfrm>
          <a:prstGeom prst="rect">
            <a:avLst/>
          </a:prstGeom>
        </p:spPr>
        <p:txBody>
          <a:bodyPr/>
          <a:lstStyle/>
          <a:p>
            <a:r>
              <a:rPr lang="en-US" sz="3200" b="1" dirty="0">
                <a:solidFill>
                  <a:srgbClr val="FFFFFF"/>
                </a:solidFill>
              </a:rPr>
              <a:t>Apache Hudi - Key Concepts</a:t>
            </a:r>
          </a:p>
        </p:txBody>
      </p:sp>
      <p:sp>
        <p:nvSpPr>
          <p:cNvPr id="100025" name="C1"/>
          <p:cNvSpPr txBox="1"/>
          <p:nvPr/>
        </p:nvSpPr>
        <p:spPr>
          <a:xfrm>
            <a:off x="969493" y="1326657"/>
            <a:ext cx="3240000" cy="900000"/>
          </a:xfrm>
          <a:prstGeom prst="rect">
            <a:avLst/>
          </a:prstGeom>
          <a:solidFill>
            <a:srgbClr val="1A4B7A"/>
          </a:solidFill>
        </p:spPr>
        <p:txBody>
          <a:bodyPr anchor="ctr"/>
          <a:lstStyle/>
          <a:p>
            <a:pPr algn="ctr"/>
            <a:r>
              <a:rPr lang="en-US" sz="1800" b="1" dirty="0">
                <a:solidFill>
                  <a:srgbClr val="FFFFFF"/>
                </a:solidFill>
              </a:rPr>
              <a:t>Record Key</a:t>
            </a:r>
          </a:p>
          <a:p>
            <a:pPr algn="ctr"/>
            <a:r>
              <a:rPr lang="en-US" sz="1800" b="1" dirty="0">
                <a:solidFill>
                  <a:srgbClr val="FFFFFF"/>
                </a:solidFill>
              </a:rPr>
              <a:t>(id)</a:t>
            </a:r>
          </a:p>
        </p:txBody>
      </p:sp>
      <p:sp>
        <p:nvSpPr>
          <p:cNvPr id="100026" name="C1D"/>
          <p:cNvSpPr txBox="1"/>
          <p:nvPr/>
        </p:nvSpPr>
        <p:spPr>
          <a:xfrm>
            <a:off x="969493" y="2298657"/>
            <a:ext cx="3240000" cy="720000"/>
          </a:xfrm>
          <a:prstGeom prst="rect">
            <a:avLst/>
          </a:prstGeom>
        </p:spPr>
        <p:txBody>
          <a:bodyPr/>
          <a:lstStyle/>
          <a:p>
            <a:r>
              <a:rPr lang="en-US" sz="1400">
                <a:solidFill>
                  <a:srgbClr val="A8C6E8"/>
                </a:solidFill>
              </a:rPr>
              <a:t>Unique primary key per record. In this project: GitHub event id.</a:t>
            </a:r>
          </a:p>
        </p:txBody>
      </p:sp>
      <p:sp>
        <p:nvSpPr>
          <p:cNvPr id="100027" name="C2"/>
          <p:cNvSpPr txBox="1"/>
          <p:nvPr/>
        </p:nvSpPr>
        <p:spPr>
          <a:xfrm>
            <a:off x="4569493" y="1326657"/>
            <a:ext cx="3240000" cy="900000"/>
          </a:xfrm>
          <a:prstGeom prst="rect">
            <a:avLst/>
          </a:prstGeom>
          <a:solidFill>
            <a:srgbClr val="1A4B7A"/>
          </a:solidFill>
        </p:spPr>
        <p:txBody>
          <a:bodyPr anchor="ctr"/>
          <a:lstStyle/>
          <a:p>
            <a:pPr algn="ctr"/>
            <a:r>
              <a:rPr lang="en-US" sz="1800" b="1">
                <a:solidFill>
                  <a:srgbClr val="FFFFFF"/>
                </a:solidFill>
              </a:rPr>
              <a:t>Precombine Key</a:t>
            </a:r>
          </a:p>
          <a:p>
            <a:pPr algn="ctr"/>
            <a:r>
              <a:rPr lang="en-US" sz="1800" b="1">
                <a:solidFill>
                  <a:srgbClr val="FFFFFF"/>
                </a:solidFill>
              </a:rPr>
              <a:t>(created_at)</a:t>
            </a:r>
          </a:p>
        </p:txBody>
      </p:sp>
      <p:sp>
        <p:nvSpPr>
          <p:cNvPr id="100028" name="C2D"/>
          <p:cNvSpPr txBox="1"/>
          <p:nvPr/>
        </p:nvSpPr>
        <p:spPr>
          <a:xfrm>
            <a:off x="4569493" y="2298657"/>
            <a:ext cx="3240000" cy="720000"/>
          </a:xfrm>
          <a:prstGeom prst="rect">
            <a:avLst/>
          </a:prstGeom>
        </p:spPr>
        <p:txBody>
          <a:bodyPr/>
          <a:lstStyle/>
          <a:p>
            <a:r>
              <a:rPr lang="en-US" sz="1400">
                <a:solidFill>
                  <a:srgbClr val="A8C6E8"/>
                </a:solidFill>
              </a:rPr>
              <a:t>Conflict resolver — when two records share the same id, the newer timestamp wins.</a:t>
            </a:r>
          </a:p>
        </p:txBody>
      </p:sp>
      <p:sp>
        <p:nvSpPr>
          <p:cNvPr id="100029" name="C3"/>
          <p:cNvSpPr txBox="1"/>
          <p:nvPr/>
        </p:nvSpPr>
        <p:spPr>
          <a:xfrm>
            <a:off x="8169493" y="1326657"/>
            <a:ext cx="3240000" cy="900000"/>
          </a:xfrm>
          <a:prstGeom prst="rect">
            <a:avLst/>
          </a:prstGeom>
          <a:solidFill>
            <a:srgbClr val="1A4B7A"/>
          </a:solidFill>
        </p:spPr>
        <p:txBody>
          <a:bodyPr anchor="ctr"/>
          <a:lstStyle/>
          <a:p>
            <a:pPr algn="ctr"/>
            <a:r>
              <a:rPr lang="en-US" sz="1800" b="1">
                <a:solidFill>
                  <a:srgbClr val="FFFFFF"/>
                </a:solidFill>
              </a:rPr>
              <a:t>Copy-on-Write</a:t>
            </a:r>
          </a:p>
          <a:p>
            <a:pPr algn="ctr"/>
            <a:r>
              <a:rPr lang="en-US" sz="1800" b="1">
                <a:solidFill>
                  <a:srgbClr val="FFFFFF"/>
                </a:solidFill>
              </a:rPr>
              <a:t>vs MOR</a:t>
            </a:r>
          </a:p>
        </p:txBody>
      </p:sp>
      <p:sp>
        <p:nvSpPr>
          <p:cNvPr id="100030" name="C3D"/>
          <p:cNvSpPr txBox="1"/>
          <p:nvPr/>
        </p:nvSpPr>
        <p:spPr>
          <a:xfrm>
            <a:off x="8169493" y="2298657"/>
            <a:ext cx="3240000" cy="720000"/>
          </a:xfrm>
          <a:prstGeom prst="rect">
            <a:avLst/>
          </a:prstGeom>
        </p:spPr>
        <p:txBody>
          <a:bodyPr/>
          <a:lstStyle/>
          <a:p>
            <a:r>
              <a:rPr lang="en-US" sz="1400">
                <a:solidFill>
                  <a:srgbClr val="A8C6E8"/>
                </a:solidFill>
              </a:rPr>
              <a:t>COW rewrites Parquet on update → fastest reads. MOR appends delta logs → fastest writes. We use COW.</a:t>
            </a:r>
          </a:p>
        </p:txBody>
      </p:sp>
      <p:sp>
        <p:nvSpPr>
          <p:cNvPr id="100031" name="C4"/>
          <p:cNvSpPr txBox="1"/>
          <p:nvPr/>
        </p:nvSpPr>
        <p:spPr>
          <a:xfrm>
            <a:off x="969493" y="3558657"/>
            <a:ext cx="3240000" cy="900000"/>
          </a:xfrm>
          <a:prstGeom prst="rect">
            <a:avLst/>
          </a:prstGeom>
          <a:solidFill>
            <a:srgbClr val="0F3A5C"/>
          </a:solidFill>
        </p:spPr>
        <p:txBody>
          <a:bodyPr anchor="ctr"/>
          <a:lstStyle/>
          <a:p>
            <a:pPr algn="ctr"/>
            <a:r>
              <a:rPr lang="en-US" sz="1800" b="1">
                <a:solidFill>
                  <a:srgbClr val="FFFFFF"/>
                </a:solidFill>
              </a:rPr>
              <a:t>Partition Path</a:t>
            </a:r>
          </a:p>
          <a:p>
            <a:pPr algn="ctr"/>
            <a:r>
              <a:rPr lang="en-US" sz="1800" b="1">
                <a:solidFill>
                  <a:srgbClr val="FFFFFF"/>
                </a:solidFill>
              </a:rPr>
              <a:t>(type=PushEvent/)</a:t>
            </a:r>
          </a:p>
        </p:txBody>
      </p:sp>
      <p:sp>
        <p:nvSpPr>
          <p:cNvPr id="100032" name="C4D"/>
          <p:cNvSpPr txBox="1"/>
          <p:nvPr/>
        </p:nvSpPr>
        <p:spPr>
          <a:xfrm>
            <a:off x="969493" y="4530657"/>
            <a:ext cx="3240000" cy="720000"/>
          </a:xfrm>
          <a:prstGeom prst="rect">
            <a:avLst/>
          </a:prstGeom>
        </p:spPr>
        <p:txBody>
          <a:bodyPr/>
          <a:lstStyle/>
          <a:p>
            <a:r>
              <a:rPr lang="en-US" sz="1400">
                <a:solidFill>
                  <a:srgbClr val="A8C6E8"/>
                </a:solidFill>
              </a:rPr>
              <a:t>Hive-style key=value/ directories. Presto prunes partitions at query time — only reads relevant files.</a:t>
            </a:r>
          </a:p>
        </p:txBody>
      </p:sp>
      <p:sp>
        <p:nvSpPr>
          <p:cNvPr id="100033" name="C5"/>
          <p:cNvSpPr txBox="1"/>
          <p:nvPr/>
        </p:nvSpPr>
        <p:spPr>
          <a:xfrm>
            <a:off x="4569493" y="3558657"/>
            <a:ext cx="3240000" cy="900000"/>
          </a:xfrm>
          <a:prstGeom prst="rect">
            <a:avLst/>
          </a:prstGeom>
          <a:solidFill>
            <a:srgbClr val="0F3A5C"/>
          </a:solidFill>
        </p:spPr>
        <p:txBody>
          <a:bodyPr anchor="ctr"/>
          <a:lstStyle/>
          <a:p>
            <a:pPr algn="ctr"/>
            <a:r>
              <a:rPr lang="en-US" sz="1800" b="1">
                <a:solidFill>
                  <a:srgbClr val="FFFFFF"/>
                </a:solidFill>
              </a:rPr>
              <a:t>Commit Timeline</a:t>
            </a:r>
          </a:p>
          <a:p>
            <a:pPr algn="ctr"/>
            <a:r>
              <a:rPr lang="en-US" sz="1800" b="1">
                <a:solidFill>
                  <a:srgbClr val="FFFFFF"/>
                </a:solidFill>
              </a:rPr>
              <a:t>(.hoodie/)</a:t>
            </a:r>
          </a:p>
        </p:txBody>
      </p:sp>
      <p:sp>
        <p:nvSpPr>
          <p:cNvPr id="100034" name="C5D"/>
          <p:cNvSpPr txBox="1"/>
          <p:nvPr/>
        </p:nvSpPr>
        <p:spPr>
          <a:xfrm>
            <a:off x="4569493" y="4530657"/>
            <a:ext cx="3240000" cy="720000"/>
          </a:xfrm>
          <a:prstGeom prst="rect">
            <a:avLst/>
          </a:prstGeom>
        </p:spPr>
        <p:txBody>
          <a:bodyPr/>
          <a:lstStyle/>
          <a:p>
            <a:r>
              <a:rPr lang="en-US" sz="1400">
                <a:solidFill>
                  <a:srgbClr val="A8C6E8"/>
                </a:solidFill>
              </a:rPr>
              <a:t>Immutable transaction log. Powers snapshot isolation and time-travel queries.</a:t>
            </a:r>
          </a:p>
        </p:txBody>
      </p:sp>
      <p:sp>
        <p:nvSpPr>
          <p:cNvPr id="100035" name="C6"/>
          <p:cNvSpPr txBox="1"/>
          <p:nvPr/>
        </p:nvSpPr>
        <p:spPr>
          <a:xfrm>
            <a:off x="8169493" y="3558657"/>
            <a:ext cx="3240000" cy="900000"/>
          </a:xfrm>
          <a:prstGeom prst="rect">
            <a:avLst/>
          </a:prstGeom>
          <a:solidFill>
            <a:srgbClr val="0F3A5C"/>
          </a:solidFill>
        </p:spPr>
        <p:txBody>
          <a:bodyPr anchor="ctr"/>
          <a:lstStyle/>
          <a:p>
            <a:pPr algn="ctr"/>
            <a:r>
              <a:rPr lang="en-US" sz="1800" b="1">
                <a:solidFill>
                  <a:srgbClr val="FFFFFF"/>
                </a:solidFill>
              </a:rPr>
              <a:t>Inline Clustering</a:t>
            </a:r>
          </a:p>
          <a:p>
            <a:pPr algn="ctr"/>
            <a:r>
              <a:rPr lang="en-US" sz="1800" b="1">
                <a:solidFill>
                  <a:srgbClr val="FFFFFF"/>
                </a:solidFill>
              </a:rPr>
              <a:t>&amp; Cleaning</a:t>
            </a:r>
          </a:p>
        </p:txBody>
      </p:sp>
      <p:sp>
        <p:nvSpPr>
          <p:cNvPr id="100036" name="C6D"/>
          <p:cNvSpPr txBox="1"/>
          <p:nvPr/>
        </p:nvSpPr>
        <p:spPr>
          <a:xfrm>
            <a:off x="8169493" y="4530657"/>
            <a:ext cx="3240000" cy="720000"/>
          </a:xfrm>
          <a:prstGeom prst="rect">
            <a:avLst/>
          </a:prstGeom>
        </p:spPr>
        <p:txBody>
          <a:bodyPr/>
          <a:lstStyle/>
          <a:p>
            <a:r>
              <a:rPr lang="en-US" sz="1400">
                <a:solidFill>
                  <a:srgbClr val="A8C6E8"/>
                </a:solidFill>
              </a:rPr>
              <a:t>Runs every 4 commits. Merges small files → optimal 120 MB chunks. Retains 5 commits for time travel.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037" name="Title"/>
          <p:cNvSpPr txBox="1"/>
          <p:nvPr/>
        </p:nvSpPr>
        <p:spPr>
          <a:xfrm>
            <a:off x="540000" y="288000"/>
            <a:ext cx="10800000" cy="540000"/>
          </a:xfrm>
          <a:prstGeom prst="rect">
            <a:avLst/>
          </a:prstGeom>
        </p:spPr>
        <p:txBody>
          <a:bodyPr/>
          <a:lstStyle/>
          <a:p>
            <a:r>
              <a:rPr lang="en-US" sz="3200" b="1">
                <a:solidFill>
                  <a:srgbClr val="FFFFFF"/>
                </a:solidFill>
              </a:rPr>
              <a:t>Full Technology Stack</a:t>
            </a:r>
          </a:p>
        </p:txBody>
      </p:sp>
      <p:sp>
        <p:nvSpPr>
          <p:cNvPr id="100038" name="L1"/>
          <p:cNvSpPr txBox="1"/>
          <p:nvPr/>
        </p:nvSpPr>
        <p:spPr>
          <a:xfrm>
            <a:off x="678766" y="1368222"/>
            <a:ext cx="1800000" cy="252000"/>
          </a:xfrm>
          <a:prstGeom prst="rect">
            <a:avLst/>
          </a:prstGeom>
        </p:spPr>
        <p:txBody>
          <a:bodyPr/>
          <a:lstStyle/>
          <a:p>
            <a:r>
              <a:rPr lang="en-US" sz="1300" b="1">
                <a:solidFill>
                  <a:srgbClr val="7A8DA0"/>
                </a:solidFill>
              </a:rPr>
              <a:t>Object Storage</a:t>
            </a:r>
          </a:p>
        </p:txBody>
      </p:sp>
      <p:sp>
        <p:nvSpPr>
          <p:cNvPr id="100039" name="V1"/>
          <p:cNvSpPr txBox="1"/>
          <p:nvPr/>
        </p:nvSpPr>
        <p:spPr>
          <a:xfrm>
            <a:off x="678766" y="1656222"/>
            <a:ext cx="1800000" cy="609918"/>
          </a:xfrm>
          <a:prstGeom prst="rect">
            <a:avLst/>
          </a:prstGeom>
          <a:solidFill>
            <a:srgbClr val="1A3A5C"/>
          </a:solidFill>
        </p:spPr>
        <p:txBody>
          <a:bodyPr anchor="ctr"/>
          <a:lstStyle/>
          <a:p>
            <a:pPr algn="ctr"/>
            <a:r>
              <a:rPr lang="en-US" sz="2000" b="1" dirty="0" err="1">
                <a:solidFill>
                  <a:srgbClr val="FFFFFF"/>
                </a:solidFill>
              </a:rPr>
              <a:t>MinIO</a:t>
            </a:r>
            <a:endParaRPr lang="en-US" sz="2000" b="1" dirty="0">
              <a:solidFill>
                <a:srgbClr val="FFFFFF"/>
              </a:solidFill>
            </a:endParaRPr>
          </a:p>
        </p:txBody>
      </p:sp>
      <p:sp>
        <p:nvSpPr>
          <p:cNvPr id="100040" name="V1d"/>
          <p:cNvSpPr txBox="1"/>
          <p:nvPr/>
        </p:nvSpPr>
        <p:spPr>
          <a:xfrm>
            <a:off x="678766" y="2388630"/>
            <a:ext cx="1800000" cy="720000"/>
          </a:xfrm>
          <a:prstGeom prst="rect">
            <a:avLst/>
          </a:prstGeom>
        </p:spPr>
        <p:txBody>
          <a:bodyPr/>
          <a:lstStyle/>
          <a:p>
            <a:r>
              <a:rPr lang="en-US" sz="1300" dirty="0">
                <a:solidFill>
                  <a:srgbClr val="A8C6E8"/>
                </a:solidFill>
              </a:rPr>
              <a:t>S3-compatible local storage. Stores raw .</a:t>
            </a:r>
            <a:r>
              <a:rPr lang="en-US" sz="1300" dirty="0" err="1">
                <a:solidFill>
                  <a:srgbClr val="A8C6E8"/>
                </a:solidFill>
              </a:rPr>
              <a:t>json.gz</a:t>
            </a:r>
            <a:r>
              <a:rPr lang="en-US" sz="1300" dirty="0">
                <a:solidFill>
                  <a:srgbClr val="A8C6E8"/>
                </a:solidFill>
              </a:rPr>
              <a:t> files + Hudi Parquet files.</a:t>
            </a:r>
          </a:p>
        </p:txBody>
      </p:sp>
      <p:sp>
        <p:nvSpPr>
          <p:cNvPr id="100041" name="L2"/>
          <p:cNvSpPr txBox="1"/>
          <p:nvPr/>
        </p:nvSpPr>
        <p:spPr>
          <a:xfrm>
            <a:off x="2766766" y="1368222"/>
            <a:ext cx="1800000" cy="252000"/>
          </a:xfrm>
          <a:prstGeom prst="rect">
            <a:avLst/>
          </a:prstGeom>
        </p:spPr>
        <p:txBody>
          <a:bodyPr/>
          <a:lstStyle/>
          <a:p>
            <a:r>
              <a:rPr lang="en-US" sz="1300" b="1">
                <a:solidFill>
                  <a:srgbClr val="7A8DA0"/>
                </a:solidFill>
              </a:rPr>
              <a:t>Table Format</a:t>
            </a:r>
          </a:p>
        </p:txBody>
      </p:sp>
      <p:sp>
        <p:nvSpPr>
          <p:cNvPr id="100042" name="V2"/>
          <p:cNvSpPr txBox="1"/>
          <p:nvPr/>
        </p:nvSpPr>
        <p:spPr>
          <a:xfrm>
            <a:off x="2766766" y="1656222"/>
            <a:ext cx="1800000" cy="609918"/>
          </a:xfrm>
          <a:prstGeom prst="rect">
            <a:avLst/>
          </a:prstGeom>
          <a:solidFill>
            <a:srgbClr val="1A3A5C"/>
          </a:solidFill>
        </p:spPr>
        <p:txBody>
          <a:bodyPr anchor="ctr"/>
          <a:lstStyle/>
          <a:p>
            <a:pPr algn="ctr"/>
            <a:r>
              <a:rPr lang="en-US" sz="1800" b="1" dirty="0">
                <a:solidFill>
                  <a:srgbClr val="FFFFFF"/>
                </a:solidFill>
              </a:rPr>
              <a:t>Apache Hudi 0.15</a:t>
            </a:r>
          </a:p>
        </p:txBody>
      </p:sp>
      <p:sp>
        <p:nvSpPr>
          <p:cNvPr id="100043" name="V2d"/>
          <p:cNvSpPr txBox="1"/>
          <p:nvPr/>
        </p:nvSpPr>
        <p:spPr>
          <a:xfrm>
            <a:off x="2766766" y="2388630"/>
            <a:ext cx="1800000" cy="720000"/>
          </a:xfrm>
          <a:prstGeom prst="rect">
            <a:avLst/>
          </a:prstGeom>
        </p:spPr>
        <p:txBody>
          <a:bodyPr/>
          <a:lstStyle/>
          <a:p>
            <a:r>
              <a:rPr lang="en-US" sz="1300" dirty="0">
                <a:solidFill>
                  <a:srgbClr val="A8C6E8"/>
                </a:solidFill>
              </a:rPr>
              <a:t>ACID transactions, </a:t>
            </a:r>
            <a:r>
              <a:rPr lang="en-US" sz="1300" dirty="0" err="1">
                <a:solidFill>
                  <a:srgbClr val="A8C6E8"/>
                </a:solidFill>
              </a:rPr>
              <a:t>upserts</a:t>
            </a:r>
            <a:r>
              <a:rPr lang="en-US" sz="1300" dirty="0">
                <a:solidFill>
                  <a:srgbClr val="A8C6E8"/>
                </a:solidFill>
              </a:rPr>
              <a:t>, deletes, commit timeline, COW table type.</a:t>
            </a:r>
          </a:p>
        </p:txBody>
      </p:sp>
      <p:sp>
        <p:nvSpPr>
          <p:cNvPr id="100044" name="L3"/>
          <p:cNvSpPr txBox="1"/>
          <p:nvPr/>
        </p:nvSpPr>
        <p:spPr>
          <a:xfrm>
            <a:off x="4854766" y="1368222"/>
            <a:ext cx="1980000" cy="252000"/>
          </a:xfrm>
          <a:prstGeom prst="rect">
            <a:avLst/>
          </a:prstGeom>
        </p:spPr>
        <p:txBody>
          <a:bodyPr/>
          <a:lstStyle/>
          <a:p>
            <a:r>
              <a:rPr lang="en-US" sz="1300" b="1">
                <a:solidFill>
                  <a:srgbClr val="7A8DA0"/>
                </a:solidFill>
              </a:rPr>
              <a:t>Ingestion Engine</a:t>
            </a:r>
          </a:p>
        </p:txBody>
      </p:sp>
      <p:sp>
        <p:nvSpPr>
          <p:cNvPr id="100045" name="V3"/>
          <p:cNvSpPr txBox="1"/>
          <p:nvPr/>
        </p:nvSpPr>
        <p:spPr>
          <a:xfrm>
            <a:off x="4854766" y="1656222"/>
            <a:ext cx="1980000" cy="609918"/>
          </a:xfrm>
          <a:prstGeom prst="rect">
            <a:avLst/>
          </a:prstGeom>
          <a:solidFill>
            <a:srgbClr val="1A3A5C"/>
          </a:solidFill>
        </p:spPr>
        <p:txBody>
          <a:bodyPr anchor="ctr"/>
          <a:lstStyle/>
          <a:p>
            <a:pPr algn="ctr"/>
            <a:r>
              <a:rPr lang="en-US" sz="1800" b="1">
                <a:solidFill>
                  <a:srgbClr val="FFFFFF"/>
                </a:solidFill>
              </a:rPr>
              <a:t>Apache Spark 3.5</a:t>
            </a:r>
          </a:p>
        </p:txBody>
      </p:sp>
      <p:sp>
        <p:nvSpPr>
          <p:cNvPr id="100046" name="V3d"/>
          <p:cNvSpPr txBox="1"/>
          <p:nvPr/>
        </p:nvSpPr>
        <p:spPr>
          <a:xfrm>
            <a:off x="4854766" y="2388630"/>
            <a:ext cx="1980000" cy="720000"/>
          </a:xfrm>
          <a:prstGeom prst="rect">
            <a:avLst/>
          </a:prstGeom>
        </p:spPr>
        <p:txBody>
          <a:bodyPr/>
          <a:lstStyle/>
          <a:p>
            <a:r>
              <a:rPr lang="en-US" sz="1300">
                <a:solidFill>
                  <a:srgbClr val="A8C6E8"/>
                </a:solidFill>
              </a:rPr>
              <a:t>Runs HoodieStreamer to read JSON from MinIO, write Hudi tables. Local[4] mode.</a:t>
            </a:r>
          </a:p>
        </p:txBody>
      </p:sp>
      <p:sp>
        <p:nvSpPr>
          <p:cNvPr id="100047" name="L4"/>
          <p:cNvSpPr txBox="1"/>
          <p:nvPr/>
        </p:nvSpPr>
        <p:spPr>
          <a:xfrm>
            <a:off x="7158766" y="1368222"/>
            <a:ext cx="1980000" cy="252000"/>
          </a:xfrm>
          <a:prstGeom prst="rect">
            <a:avLst/>
          </a:prstGeom>
        </p:spPr>
        <p:txBody>
          <a:bodyPr/>
          <a:lstStyle/>
          <a:p>
            <a:r>
              <a:rPr lang="en-US" sz="1300" b="1">
                <a:solidFill>
                  <a:srgbClr val="7A8DA0"/>
                </a:solidFill>
              </a:rPr>
              <a:t>Metadata Catalog</a:t>
            </a:r>
          </a:p>
        </p:txBody>
      </p:sp>
      <p:sp>
        <p:nvSpPr>
          <p:cNvPr id="100048" name="V4"/>
          <p:cNvSpPr txBox="1"/>
          <p:nvPr/>
        </p:nvSpPr>
        <p:spPr>
          <a:xfrm>
            <a:off x="7158766" y="1656222"/>
            <a:ext cx="1980000" cy="609918"/>
          </a:xfrm>
          <a:prstGeom prst="rect">
            <a:avLst/>
          </a:prstGeom>
          <a:solidFill>
            <a:srgbClr val="1A3A5C"/>
          </a:solidFill>
        </p:spPr>
        <p:txBody>
          <a:bodyPr anchor="ctr"/>
          <a:lstStyle/>
          <a:p>
            <a:pPr algn="ctr"/>
            <a:r>
              <a:rPr lang="en-US" sz="1700" b="1">
                <a:solidFill>
                  <a:srgbClr val="FFFFFF"/>
                </a:solidFill>
              </a:rPr>
              <a:t>Hive Metastore 3.1</a:t>
            </a:r>
          </a:p>
        </p:txBody>
      </p:sp>
      <p:sp>
        <p:nvSpPr>
          <p:cNvPr id="100049" name="V4d"/>
          <p:cNvSpPr txBox="1"/>
          <p:nvPr/>
        </p:nvSpPr>
        <p:spPr>
          <a:xfrm>
            <a:off x="7158766" y="2388630"/>
            <a:ext cx="1980000" cy="720000"/>
          </a:xfrm>
          <a:prstGeom prst="rect">
            <a:avLst/>
          </a:prstGeom>
        </p:spPr>
        <p:txBody>
          <a:bodyPr/>
          <a:lstStyle/>
          <a:p>
            <a:r>
              <a:rPr lang="en-US" sz="1300">
                <a:solidFill>
                  <a:srgbClr val="A8C6E8"/>
                </a:solidFill>
              </a:rPr>
              <a:t>Thrift service backed by MySQL. Stores table/partition metadata so Presto can discover tables.</a:t>
            </a:r>
          </a:p>
        </p:txBody>
      </p:sp>
      <p:sp>
        <p:nvSpPr>
          <p:cNvPr id="100050" name="L5"/>
          <p:cNvSpPr txBox="1"/>
          <p:nvPr/>
        </p:nvSpPr>
        <p:spPr>
          <a:xfrm>
            <a:off x="9426766" y="1368222"/>
            <a:ext cx="1980000" cy="252000"/>
          </a:xfrm>
          <a:prstGeom prst="rect">
            <a:avLst/>
          </a:prstGeom>
        </p:spPr>
        <p:txBody>
          <a:bodyPr/>
          <a:lstStyle/>
          <a:p>
            <a:r>
              <a:rPr lang="en-US" sz="1300" b="1">
                <a:solidFill>
                  <a:srgbClr val="7A8DA0"/>
                </a:solidFill>
              </a:rPr>
              <a:t>Query Engine</a:t>
            </a:r>
          </a:p>
        </p:txBody>
      </p:sp>
      <p:sp>
        <p:nvSpPr>
          <p:cNvPr id="100051" name="V5"/>
          <p:cNvSpPr txBox="1"/>
          <p:nvPr/>
        </p:nvSpPr>
        <p:spPr>
          <a:xfrm>
            <a:off x="9426766" y="1656222"/>
            <a:ext cx="1980000" cy="609918"/>
          </a:xfrm>
          <a:prstGeom prst="rect">
            <a:avLst/>
          </a:prstGeom>
          <a:solidFill>
            <a:srgbClr val="1A3A5C"/>
          </a:solidFill>
        </p:spPr>
        <p:txBody>
          <a:bodyPr anchor="ctr"/>
          <a:lstStyle/>
          <a:p>
            <a:pPr algn="ctr"/>
            <a:r>
              <a:rPr lang="en-US" sz="1800" b="1" dirty="0" err="1">
                <a:solidFill>
                  <a:srgbClr val="FFFFFF"/>
                </a:solidFill>
              </a:rPr>
              <a:t>PrestoDB</a:t>
            </a:r>
            <a:r>
              <a:rPr lang="en-US" sz="1800" b="1" dirty="0">
                <a:solidFill>
                  <a:srgbClr val="FFFFFF"/>
                </a:solidFill>
              </a:rPr>
              <a:t> 0.299</a:t>
            </a:r>
          </a:p>
        </p:txBody>
      </p:sp>
      <p:sp>
        <p:nvSpPr>
          <p:cNvPr id="100052" name="V5d"/>
          <p:cNvSpPr txBox="1"/>
          <p:nvPr/>
        </p:nvSpPr>
        <p:spPr>
          <a:xfrm>
            <a:off x="9426766" y="2388630"/>
            <a:ext cx="1980000" cy="720000"/>
          </a:xfrm>
          <a:prstGeom prst="rect">
            <a:avLst/>
          </a:prstGeom>
        </p:spPr>
        <p:txBody>
          <a:bodyPr/>
          <a:lstStyle/>
          <a:p>
            <a:r>
              <a:rPr lang="en-US" sz="1300">
                <a:solidFill>
                  <a:srgbClr val="A8C6E8"/>
                </a:solidFill>
              </a:rPr>
              <a:t>Distributed MPP SQL: 1 coordinator + 2 workers. Read-only connector for Hudi tables.</a:t>
            </a:r>
          </a:p>
        </p:txBody>
      </p:sp>
      <p:sp>
        <p:nvSpPr>
          <p:cNvPr id="100053" name="L6"/>
          <p:cNvSpPr txBox="1"/>
          <p:nvPr/>
        </p:nvSpPr>
        <p:spPr>
          <a:xfrm>
            <a:off x="678766" y="4051914"/>
            <a:ext cx="2880000" cy="252000"/>
          </a:xfrm>
          <a:prstGeom prst="rect">
            <a:avLst/>
          </a:prstGeom>
        </p:spPr>
        <p:txBody>
          <a:bodyPr/>
          <a:lstStyle/>
          <a:p>
            <a:r>
              <a:rPr lang="en-US" sz="1300" b="1">
                <a:solidFill>
                  <a:srgbClr val="7A8DA0"/>
                </a:solidFill>
              </a:rPr>
              <a:t>Orchestrator</a:t>
            </a:r>
          </a:p>
        </p:txBody>
      </p:sp>
      <p:sp>
        <p:nvSpPr>
          <p:cNvPr id="100054" name="V6"/>
          <p:cNvSpPr txBox="1"/>
          <p:nvPr/>
        </p:nvSpPr>
        <p:spPr>
          <a:xfrm>
            <a:off x="678766" y="4339914"/>
            <a:ext cx="2880000" cy="554490"/>
          </a:xfrm>
          <a:prstGeom prst="rect">
            <a:avLst/>
          </a:prstGeom>
          <a:solidFill>
            <a:srgbClr val="0F3A5C"/>
          </a:solidFill>
        </p:spPr>
        <p:txBody>
          <a:bodyPr anchor="ctr"/>
          <a:lstStyle/>
          <a:p>
            <a:pPr algn="ctr"/>
            <a:r>
              <a:rPr lang="en-US" sz="1800" b="1" dirty="0">
                <a:solidFill>
                  <a:srgbClr val="FFFFFF"/>
                </a:solidFill>
              </a:rPr>
              <a:t>Apache Airflow 2.7</a:t>
            </a:r>
          </a:p>
        </p:txBody>
      </p:sp>
      <p:sp>
        <p:nvSpPr>
          <p:cNvPr id="100055" name="V6d"/>
          <p:cNvSpPr txBox="1"/>
          <p:nvPr/>
        </p:nvSpPr>
        <p:spPr>
          <a:xfrm>
            <a:off x="678766" y="5083339"/>
            <a:ext cx="2880000" cy="720000"/>
          </a:xfrm>
          <a:prstGeom prst="rect">
            <a:avLst/>
          </a:prstGeom>
        </p:spPr>
        <p:txBody>
          <a:bodyPr/>
          <a:lstStyle/>
          <a:p>
            <a:r>
              <a:rPr lang="en-US" sz="1300">
                <a:solidFill>
                  <a:srgbClr val="A8C6E8"/>
                </a:solidFill>
              </a:rPr>
              <a:t>DAG with 3 tasks: download raw data → HoodieStreamer → data quality gate. Daily schedule.</a:t>
            </a:r>
          </a:p>
        </p:txBody>
      </p:sp>
      <p:sp>
        <p:nvSpPr>
          <p:cNvPr id="100056" name="L7"/>
          <p:cNvSpPr txBox="1"/>
          <p:nvPr/>
        </p:nvSpPr>
        <p:spPr>
          <a:xfrm>
            <a:off x="4098766" y="4051914"/>
            <a:ext cx="2880000" cy="252000"/>
          </a:xfrm>
          <a:prstGeom prst="rect">
            <a:avLst/>
          </a:prstGeom>
        </p:spPr>
        <p:txBody>
          <a:bodyPr/>
          <a:lstStyle/>
          <a:p>
            <a:r>
              <a:rPr lang="en-US" sz="1300" b="1">
                <a:solidFill>
                  <a:srgbClr val="7A8DA0"/>
                </a:solidFill>
              </a:rPr>
              <a:t>BI / Visualization</a:t>
            </a:r>
          </a:p>
        </p:txBody>
      </p:sp>
      <p:sp>
        <p:nvSpPr>
          <p:cNvPr id="100057" name="V7"/>
          <p:cNvSpPr txBox="1"/>
          <p:nvPr/>
        </p:nvSpPr>
        <p:spPr>
          <a:xfrm>
            <a:off x="4098766" y="4339914"/>
            <a:ext cx="2880000" cy="554490"/>
          </a:xfrm>
          <a:prstGeom prst="rect">
            <a:avLst/>
          </a:prstGeom>
          <a:solidFill>
            <a:srgbClr val="0F3A5C"/>
          </a:solidFill>
        </p:spPr>
        <p:txBody>
          <a:bodyPr anchor="ctr"/>
          <a:lstStyle/>
          <a:p>
            <a:pPr algn="ctr"/>
            <a:r>
              <a:rPr lang="en-US" sz="1700" b="1">
                <a:solidFill>
                  <a:srgbClr val="FFFFFF"/>
                </a:solidFill>
              </a:rPr>
              <a:t>Apache Superset 6.1</a:t>
            </a:r>
          </a:p>
        </p:txBody>
      </p:sp>
      <p:sp>
        <p:nvSpPr>
          <p:cNvPr id="100058" name="V7d"/>
          <p:cNvSpPr txBox="1"/>
          <p:nvPr/>
        </p:nvSpPr>
        <p:spPr>
          <a:xfrm>
            <a:off x="4098766" y="5083339"/>
            <a:ext cx="2880000" cy="720000"/>
          </a:xfrm>
          <a:prstGeom prst="rect">
            <a:avLst/>
          </a:prstGeom>
        </p:spPr>
        <p:txBody>
          <a:bodyPr/>
          <a:lstStyle/>
          <a:p>
            <a:r>
              <a:rPr lang="en-US" sz="1300">
                <a:solidFill>
                  <a:srgbClr val="A8C6E8"/>
                </a:solidFill>
              </a:rPr>
              <a:t>15-chart executive dashboard. Virtual dataset over Presto. No data copies.</a:t>
            </a:r>
          </a:p>
        </p:txBody>
      </p:sp>
      <p:sp>
        <p:nvSpPr>
          <p:cNvPr id="100059" name="L8"/>
          <p:cNvSpPr txBox="1"/>
          <p:nvPr/>
        </p:nvSpPr>
        <p:spPr>
          <a:xfrm>
            <a:off x="7518766" y="4051914"/>
            <a:ext cx="3960000" cy="252000"/>
          </a:xfrm>
          <a:prstGeom prst="rect">
            <a:avLst/>
          </a:prstGeom>
        </p:spPr>
        <p:txBody>
          <a:bodyPr/>
          <a:lstStyle/>
          <a:p>
            <a:r>
              <a:rPr lang="en-US" sz="1300" b="1">
                <a:solidFill>
                  <a:srgbClr val="7A8DA0"/>
                </a:solidFill>
              </a:rPr>
              <a:t>Infrastructure</a:t>
            </a:r>
          </a:p>
        </p:txBody>
      </p:sp>
      <p:sp>
        <p:nvSpPr>
          <p:cNvPr id="100060" name="V8"/>
          <p:cNvSpPr txBox="1"/>
          <p:nvPr/>
        </p:nvSpPr>
        <p:spPr>
          <a:xfrm>
            <a:off x="7518766" y="4339914"/>
            <a:ext cx="3960000" cy="554490"/>
          </a:xfrm>
          <a:prstGeom prst="rect">
            <a:avLst/>
          </a:prstGeom>
          <a:solidFill>
            <a:srgbClr val="0F3A5C"/>
          </a:solidFill>
        </p:spPr>
        <p:txBody>
          <a:bodyPr anchor="ctr"/>
          <a:lstStyle/>
          <a:p>
            <a:pPr algn="ctr"/>
            <a:r>
              <a:rPr lang="en-US" sz="1600" b="1" dirty="0">
                <a:solidFill>
                  <a:srgbClr val="FFFFFF"/>
                </a:solidFill>
              </a:rPr>
              <a:t>Docker Compose (10 containers, 6 volumes, 1 network)</a:t>
            </a:r>
          </a:p>
        </p:txBody>
      </p:sp>
      <p:sp>
        <p:nvSpPr>
          <p:cNvPr id="100061" name="V8d"/>
          <p:cNvSpPr txBox="1"/>
          <p:nvPr/>
        </p:nvSpPr>
        <p:spPr>
          <a:xfrm>
            <a:off x="7518766" y="5083339"/>
            <a:ext cx="3960000" cy="720000"/>
          </a:xfrm>
          <a:prstGeom prst="rect">
            <a:avLst/>
          </a:prstGeom>
        </p:spPr>
        <p:txBody>
          <a:bodyPr/>
          <a:lstStyle/>
          <a:p>
            <a:r>
              <a:rPr lang="en-US" sz="1300" dirty="0">
                <a:solidFill>
                  <a:srgbClr val="A8C6E8"/>
                </a:solidFill>
              </a:rPr>
              <a:t>Health-gated startup sequences. Decoupled config from .env. State persists across restarts.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0F1B2D"/>
        </a:solidFill>
        <a:effectLst/>
      </p:bgPr>
    </p:bg>
    <p:spTree>
      <p:nvGrpSpPr>
        <p:cNvPr id="1" name=""/>
        <p:cNvGrpSpPr/>
        <p:nvPr/>
      </p:nvGrpSpPr>
      <p:grpSpPr>
        <a:xfrm>
          <a:off x="0" y="0"/>
          <a:ext cx="0" cy="0"/>
          <a:chOff x="0" y="0"/>
          <a:chExt cx="0" cy="0"/>
        </a:xfrm>
      </p:grpSpPr>
      <p:sp>
        <p:nvSpPr>
          <p:cNvPr id="100255" name="Title"/>
          <p:cNvSpPr txBox="1"/>
          <p:nvPr/>
        </p:nvSpPr>
        <p:spPr>
          <a:xfrm>
            <a:off x="540000" y="288000"/>
            <a:ext cx="10800000" cy="540000"/>
          </a:xfrm>
          <a:prstGeom prst="rect">
            <a:avLst/>
          </a:prstGeom>
        </p:spPr>
        <p:txBody>
          <a:bodyPr/>
          <a:lstStyle/>
          <a:p>
            <a:r>
              <a:rPr lang="en-US" sz="3200" b="1">
                <a:solidFill>
                  <a:srgbClr val="FFFFFF"/>
                </a:solidFill>
                <a:latin typeface="Calibri"/>
                <a:ea typeface="Calibri"/>
              </a:rPr>
              <a:t>Technology Stack — Why We Use Each Tool</a:t>
            </a:r>
          </a:p>
        </p:txBody>
      </p:sp>
      <p:sp>
        <p:nvSpPr>
          <p:cNvPr id="100256" name="ColH1"/>
          <p:cNvSpPr txBox="1"/>
          <p:nvPr/>
        </p:nvSpPr>
        <p:spPr>
          <a:xfrm>
            <a:off x="540000" y="1008000"/>
            <a:ext cx="1800000" cy="234000"/>
          </a:xfrm>
          <a:prstGeom prst="rect">
            <a:avLst/>
          </a:prstGeom>
          <a:solidFill>
            <a:srgbClr val="1A2A3A"/>
          </a:solidFill>
        </p:spPr>
        <p:txBody>
          <a:bodyPr/>
          <a:lstStyle/>
          <a:p>
            <a:r>
              <a:rPr lang="en-US" sz="1200" b="1">
                <a:solidFill>
                  <a:srgbClr val="5B9BD5"/>
                </a:solidFill>
              </a:rPr>
              <a:t>Layer</a:t>
            </a:r>
          </a:p>
        </p:txBody>
      </p:sp>
      <p:sp>
        <p:nvSpPr>
          <p:cNvPr id="100257" name="ColH2"/>
          <p:cNvSpPr txBox="1"/>
          <p:nvPr/>
        </p:nvSpPr>
        <p:spPr>
          <a:xfrm>
            <a:off x="2592000" y="1008000"/>
            <a:ext cx="3060000" cy="234000"/>
          </a:xfrm>
          <a:prstGeom prst="rect">
            <a:avLst/>
          </a:prstGeom>
          <a:solidFill>
            <a:srgbClr val="1A2A3A"/>
          </a:solidFill>
        </p:spPr>
        <p:txBody>
          <a:bodyPr/>
          <a:lstStyle/>
          <a:p>
            <a:r>
              <a:rPr lang="en-US" sz="1200" b="1">
                <a:solidFill>
                  <a:srgbClr val="5B9BD5"/>
                </a:solidFill>
              </a:rPr>
              <a:t>Technology &amp; Version</a:t>
            </a:r>
          </a:p>
        </p:txBody>
      </p:sp>
      <p:sp>
        <p:nvSpPr>
          <p:cNvPr id="100258" name="ColH3"/>
          <p:cNvSpPr txBox="1"/>
          <p:nvPr/>
        </p:nvSpPr>
        <p:spPr>
          <a:xfrm>
            <a:off x="5832000" y="1008000"/>
            <a:ext cx="5580000" cy="234000"/>
          </a:xfrm>
          <a:prstGeom prst="rect">
            <a:avLst/>
          </a:prstGeom>
          <a:solidFill>
            <a:srgbClr val="1A2A3A"/>
          </a:solidFill>
        </p:spPr>
        <p:txBody>
          <a:bodyPr/>
          <a:lstStyle/>
          <a:p>
            <a:r>
              <a:rPr lang="en-US" sz="1200" b="1">
                <a:solidFill>
                  <a:srgbClr val="5B9BD5"/>
                </a:solidFill>
              </a:rPr>
              <a:t>Why We Use It</a:t>
            </a:r>
          </a:p>
        </p:txBody>
      </p:sp>
      <p:sp>
        <p:nvSpPr>
          <p:cNvPr id="100259" name="R1C1"/>
          <p:cNvSpPr txBox="1"/>
          <p:nvPr/>
        </p:nvSpPr>
        <p:spPr>
          <a:xfrm>
            <a:off x="540000" y="1368000"/>
            <a:ext cx="1800000" cy="468000"/>
          </a:xfrm>
          <a:prstGeom prst="rect">
            <a:avLst/>
          </a:prstGeom>
        </p:spPr>
        <p:txBody>
          <a:bodyPr/>
          <a:lstStyle/>
          <a:p>
            <a:r>
              <a:rPr lang="en-US" sz="1300">
                <a:solidFill>
                  <a:srgbClr val="D0E4F7"/>
                </a:solidFill>
              </a:rPr>
              <a:t>Object Storage</a:t>
            </a:r>
          </a:p>
        </p:txBody>
      </p:sp>
      <p:sp>
        <p:nvSpPr>
          <p:cNvPr id="100260" name="R1C2"/>
          <p:cNvSpPr txBox="1"/>
          <p:nvPr/>
        </p:nvSpPr>
        <p:spPr>
          <a:xfrm>
            <a:off x="2592000" y="1368000"/>
            <a:ext cx="3060000" cy="468000"/>
          </a:xfrm>
          <a:prstGeom prst="rect">
            <a:avLst/>
          </a:prstGeom>
        </p:spPr>
        <p:txBody>
          <a:bodyPr/>
          <a:lstStyle/>
          <a:p>
            <a:r>
              <a:rPr lang="en-US" sz="1300">
                <a:solidFill>
                  <a:srgbClr val="A8C6E8"/>
                </a:solidFill>
              </a:rPr>
              <a:t>MinIO  (latest)</a:t>
            </a:r>
          </a:p>
        </p:txBody>
      </p:sp>
      <p:sp>
        <p:nvSpPr>
          <p:cNvPr id="100261" name="R1C3"/>
          <p:cNvSpPr txBox="1"/>
          <p:nvPr/>
        </p:nvSpPr>
        <p:spPr>
          <a:xfrm>
            <a:off x="5832000" y="1368000"/>
            <a:ext cx="5580000" cy="468000"/>
          </a:xfrm>
          <a:prstGeom prst="rect">
            <a:avLst/>
          </a:prstGeom>
        </p:spPr>
        <p:txBody>
          <a:bodyPr/>
          <a:lstStyle/>
          <a:p>
            <a:r>
              <a:rPr lang="en-US" sz="1300">
                <a:solidFill>
                  <a:srgbClr val="7A8DA0"/>
                </a:solidFill>
              </a:rPr>
              <a:t>Free, local, identical API to AWS S3 — swap via one .env variable</a:t>
            </a:r>
          </a:p>
        </p:txBody>
      </p:sp>
      <p:sp>
        <p:nvSpPr>
          <p:cNvPr id="100262" name="R2C1"/>
          <p:cNvSpPr txBox="1"/>
          <p:nvPr/>
        </p:nvSpPr>
        <p:spPr>
          <a:xfrm>
            <a:off x="540000" y="1872000"/>
            <a:ext cx="1800000" cy="468000"/>
          </a:xfrm>
          <a:prstGeom prst="rect">
            <a:avLst/>
          </a:prstGeom>
        </p:spPr>
        <p:txBody>
          <a:bodyPr/>
          <a:lstStyle/>
          <a:p>
            <a:r>
              <a:rPr lang="en-US" sz="1300">
                <a:solidFill>
                  <a:srgbClr val="D0E4F7"/>
                </a:solidFill>
              </a:rPr>
              <a:t>Table Format</a:t>
            </a:r>
          </a:p>
        </p:txBody>
      </p:sp>
      <p:sp>
        <p:nvSpPr>
          <p:cNvPr id="100263" name="R2C2"/>
          <p:cNvSpPr txBox="1"/>
          <p:nvPr/>
        </p:nvSpPr>
        <p:spPr>
          <a:xfrm>
            <a:off x="2592000" y="1872000"/>
            <a:ext cx="3060000" cy="468000"/>
          </a:xfrm>
          <a:prstGeom prst="rect">
            <a:avLst/>
          </a:prstGeom>
        </p:spPr>
        <p:txBody>
          <a:bodyPr/>
          <a:lstStyle/>
          <a:p>
            <a:r>
              <a:rPr lang="en-US" sz="1300">
                <a:solidFill>
                  <a:srgbClr val="A8C6E8"/>
                </a:solidFill>
              </a:rPr>
              <a:t>Apache Hudi 0.15</a:t>
            </a:r>
          </a:p>
        </p:txBody>
      </p:sp>
      <p:sp>
        <p:nvSpPr>
          <p:cNvPr id="100264" name="R2C3"/>
          <p:cNvSpPr txBox="1"/>
          <p:nvPr/>
        </p:nvSpPr>
        <p:spPr>
          <a:xfrm>
            <a:off x="5832000" y="1872000"/>
            <a:ext cx="5580000" cy="468000"/>
          </a:xfrm>
          <a:prstGeom prst="rect">
            <a:avLst/>
          </a:prstGeom>
        </p:spPr>
        <p:txBody>
          <a:bodyPr/>
          <a:lstStyle/>
          <a:p>
            <a:r>
              <a:rPr lang="en-US" sz="1300">
                <a:solidFill>
                  <a:srgbClr val="7A8DA0"/>
                </a:solidFill>
              </a:rPr>
              <a:t>ACID commits, record-level upserts/deletes, time travel, inline clustering — on Parquet</a:t>
            </a:r>
          </a:p>
        </p:txBody>
      </p:sp>
      <p:sp>
        <p:nvSpPr>
          <p:cNvPr id="100265" name="R3C1"/>
          <p:cNvSpPr txBox="1"/>
          <p:nvPr/>
        </p:nvSpPr>
        <p:spPr>
          <a:xfrm>
            <a:off x="540000" y="2376000"/>
            <a:ext cx="1800000" cy="468000"/>
          </a:xfrm>
          <a:prstGeom prst="rect">
            <a:avLst/>
          </a:prstGeom>
        </p:spPr>
        <p:txBody>
          <a:bodyPr/>
          <a:lstStyle/>
          <a:p>
            <a:r>
              <a:rPr lang="en-US" sz="1300">
                <a:solidFill>
                  <a:srgbClr val="D0E4F7"/>
                </a:solidFill>
              </a:rPr>
              <a:t>Ingestion</a:t>
            </a:r>
          </a:p>
        </p:txBody>
      </p:sp>
      <p:sp>
        <p:nvSpPr>
          <p:cNvPr id="100266" name="R3C2"/>
          <p:cNvSpPr txBox="1"/>
          <p:nvPr/>
        </p:nvSpPr>
        <p:spPr>
          <a:xfrm>
            <a:off x="2592000" y="2376000"/>
            <a:ext cx="3060000" cy="468000"/>
          </a:xfrm>
          <a:prstGeom prst="rect">
            <a:avLst/>
          </a:prstGeom>
        </p:spPr>
        <p:txBody>
          <a:bodyPr/>
          <a:lstStyle/>
          <a:p>
            <a:r>
              <a:rPr lang="en-US" sz="1300">
                <a:solidFill>
                  <a:srgbClr val="A8C6E8"/>
                </a:solidFill>
              </a:rPr>
              <a:t>Spark 3.5 + HoodieStreamer</a:t>
            </a:r>
          </a:p>
        </p:txBody>
      </p:sp>
      <p:sp>
        <p:nvSpPr>
          <p:cNvPr id="100267" name="R3C3"/>
          <p:cNvSpPr txBox="1"/>
          <p:nvPr/>
        </p:nvSpPr>
        <p:spPr>
          <a:xfrm>
            <a:off x="5832000" y="2376000"/>
            <a:ext cx="5580000" cy="468000"/>
          </a:xfrm>
          <a:prstGeom prst="rect">
            <a:avLst/>
          </a:prstGeom>
        </p:spPr>
        <p:txBody>
          <a:bodyPr/>
          <a:lstStyle/>
          <a:p>
            <a:r>
              <a:rPr lang="en-US" sz="1300">
                <a:solidFill>
                  <a:srgbClr val="7A8DA0"/>
                </a:solidFill>
              </a:rPr>
              <a:t>Battle-tested bulk ingestion — handles Avro schema, dedup, partitioning, Hive sync</a:t>
            </a:r>
          </a:p>
        </p:txBody>
      </p:sp>
      <p:sp>
        <p:nvSpPr>
          <p:cNvPr id="100268" name="R4C1"/>
          <p:cNvSpPr txBox="1"/>
          <p:nvPr/>
        </p:nvSpPr>
        <p:spPr>
          <a:xfrm>
            <a:off x="540000" y="2880000"/>
            <a:ext cx="1800000" cy="468000"/>
          </a:xfrm>
          <a:prstGeom prst="rect">
            <a:avLst/>
          </a:prstGeom>
        </p:spPr>
        <p:txBody>
          <a:bodyPr/>
          <a:lstStyle/>
          <a:p>
            <a:r>
              <a:rPr lang="en-US" sz="1300">
                <a:solidFill>
                  <a:srgbClr val="D0E4F7"/>
                </a:solidFill>
              </a:rPr>
              <a:t>Metadata Catalog</a:t>
            </a:r>
          </a:p>
        </p:txBody>
      </p:sp>
      <p:sp>
        <p:nvSpPr>
          <p:cNvPr id="100269" name="R4C2"/>
          <p:cNvSpPr txBox="1"/>
          <p:nvPr/>
        </p:nvSpPr>
        <p:spPr>
          <a:xfrm>
            <a:off x="2592000" y="2880000"/>
            <a:ext cx="3060000" cy="468000"/>
          </a:xfrm>
          <a:prstGeom prst="rect">
            <a:avLst/>
          </a:prstGeom>
        </p:spPr>
        <p:txBody>
          <a:bodyPr/>
          <a:lstStyle/>
          <a:p>
            <a:r>
              <a:rPr lang="en-US" sz="1300">
                <a:solidFill>
                  <a:srgbClr val="A8C6E8"/>
                </a:solidFill>
              </a:rPr>
              <a:t>Hive Metastore 3.1</a:t>
            </a:r>
          </a:p>
        </p:txBody>
      </p:sp>
      <p:sp>
        <p:nvSpPr>
          <p:cNvPr id="100270" name="R4C3"/>
          <p:cNvSpPr txBox="1"/>
          <p:nvPr/>
        </p:nvSpPr>
        <p:spPr>
          <a:xfrm>
            <a:off x="5832000" y="2880000"/>
            <a:ext cx="5580000" cy="468000"/>
          </a:xfrm>
          <a:prstGeom prst="rect">
            <a:avLst/>
          </a:prstGeom>
        </p:spPr>
        <p:txBody>
          <a:bodyPr/>
          <a:lstStyle/>
          <a:p>
            <a:r>
              <a:rPr lang="en-US" sz="1300">
                <a:solidFill>
                  <a:srgbClr val="7A8DA0"/>
                </a:solidFill>
              </a:rPr>
              <a:t>Industry-standard Thrift catalog — both Spark and Presto speak to it natively</a:t>
            </a:r>
          </a:p>
        </p:txBody>
      </p:sp>
      <p:sp>
        <p:nvSpPr>
          <p:cNvPr id="100271" name="R5C1"/>
          <p:cNvSpPr txBox="1"/>
          <p:nvPr/>
        </p:nvSpPr>
        <p:spPr>
          <a:xfrm>
            <a:off x="540000" y="3384000"/>
            <a:ext cx="1800000" cy="468000"/>
          </a:xfrm>
          <a:prstGeom prst="rect">
            <a:avLst/>
          </a:prstGeom>
        </p:spPr>
        <p:txBody>
          <a:bodyPr/>
          <a:lstStyle/>
          <a:p>
            <a:r>
              <a:rPr lang="en-US" sz="1300">
                <a:solidFill>
                  <a:srgbClr val="D0E4F7"/>
                </a:solidFill>
              </a:rPr>
              <a:t>Query Engine</a:t>
            </a:r>
          </a:p>
        </p:txBody>
      </p:sp>
      <p:sp>
        <p:nvSpPr>
          <p:cNvPr id="100272" name="R5C2"/>
          <p:cNvSpPr txBox="1"/>
          <p:nvPr/>
        </p:nvSpPr>
        <p:spPr>
          <a:xfrm>
            <a:off x="2592000" y="3384000"/>
            <a:ext cx="3060000" cy="468000"/>
          </a:xfrm>
          <a:prstGeom prst="rect">
            <a:avLst/>
          </a:prstGeom>
        </p:spPr>
        <p:txBody>
          <a:bodyPr/>
          <a:lstStyle/>
          <a:p>
            <a:r>
              <a:rPr lang="en-US" sz="1300">
                <a:solidFill>
                  <a:srgbClr val="A8C6E8"/>
                </a:solidFill>
              </a:rPr>
              <a:t>PrestoDB 0.299</a:t>
            </a:r>
          </a:p>
        </p:txBody>
      </p:sp>
      <p:sp>
        <p:nvSpPr>
          <p:cNvPr id="100273" name="R5C3"/>
          <p:cNvSpPr txBox="1"/>
          <p:nvPr/>
        </p:nvSpPr>
        <p:spPr>
          <a:xfrm>
            <a:off x="5832000" y="3384000"/>
            <a:ext cx="5580000" cy="468000"/>
          </a:xfrm>
          <a:prstGeom prst="rect">
            <a:avLst/>
          </a:prstGeom>
        </p:spPr>
        <p:txBody>
          <a:bodyPr/>
          <a:lstStyle/>
          <a:p>
            <a:r>
              <a:rPr lang="en-US" sz="1300">
                <a:solidFill>
                  <a:srgbClr val="7A8DA0"/>
                </a:solidFill>
              </a:rPr>
              <a:t>MPP SQL — 1 coordinator + 2 workers. Reads Hudi/Parquet with zero data copy</a:t>
            </a:r>
          </a:p>
        </p:txBody>
      </p:sp>
      <p:sp>
        <p:nvSpPr>
          <p:cNvPr id="100274" name="R6C1"/>
          <p:cNvSpPr txBox="1"/>
          <p:nvPr/>
        </p:nvSpPr>
        <p:spPr>
          <a:xfrm>
            <a:off x="540000" y="3888000"/>
            <a:ext cx="1800000" cy="468000"/>
          </a:xfrm>
          <a:prstGeom prst="rect">
            <a:avLst/>
          </a:prstGeom>
        </p:spPr>
        <p:txBody>
          <a:bodyPr/>
          <a:lstStyle/>
          <a:p>
            <a:r>
              <a:rPr lang="en-US" sz="1300">
                <a:solidFill>
                  <a:srgbClr val="D0E4F7"/>
                </a:solidFill>
              </a:rPr>
              <a:t>Orchestration</a:t>
            </a:r>
          </a:p>
        </p:txBody>
      </p:sp>
      <p:sp>
        <p:nvSpPr>
          <p:cNvPr id="100275" name="R6C2"/>
          <p:cNvSpPr txBox="1"/>
          <p:nvPr/>
        </p:nvSpPr>
        <p:spPr>
          <a:xfrm>
            <a:off x="2592000" y="3888000"/>
            <a:ext cx="3060000" cy="468000"/>
          </a:xfrm>
          <a:prstGeom prst="rect">
            <a:avLst/>
          </a:prstGeom>
        </p:spPr>
        <p:txBody>
          <a:bodyPr/>
          <a:lstStyle/>
          <a:p>
            <a:r>
              <a:rPr lang="en-US" sz="1300">
                <a:solidFill>
                  <a:srgbClr val="A8C6E8"/>
                </a:solidFill>
              </a:rPr>
              <a:t>Airflow 2.7 / Python 3.9</a:t>
            </a:r>
          </a:p>
        </p:txBody>
      </p:sp>
      <p:sp>
        <p:nvSpPr>
          <p:cNvPr id="100276" name="R6C3"/>
          <p:cNvSpPr txBox="1"/>
          <p:nvPr/>
        </p:nvSpPr>
        <p:spPr>
          <a:xfrm>
            <a:off x="5832000" y="3888000"/>
            <a:ext cx="5580000" cy="468000"/>
          </a:xfrm>
          <a:prstGeom prst="rect">
            <a:avLst/>
          </a:prstGeom>
        </p:spPr>
        <p:txBody>
          <a:bodyPr/>
          <a:lstStyle/>
          <a:p>
            <a:r>
              <a:rPr lang="en-US" sz="1300">
                <a:solidFill>
                  <a:srgbClr val="7A8DA0"/>
                </a:solidFill>
              </a:rPr>
              <a:t>DAG-based scheduling, retry logic, data quality gates, Slack failure alerts</a:t>
            </a:r>
          </a:p>
        </p:txBody>
      </p:sp>
      <p:sp>
        <p:nvSpPr>
          <p:cNvPr id="100277" name="R7C1"/>
          <p:cNvSpPr txBox="1"/>
          <p:nvPr/>
        </p:nvSpPr>
        <p:spPr>
          <a:xfrm>
            <a:off x="540000" y="4392000"/>
            <a:ext cx="1800000" cy="468000"/>
          </a:xfrm>
          <a:prstGeom prst="rect">
            <a:avLst/>
          </a:prstGeom>
        </p:spPr>
        <p:txBody>
          <a:bodyPr/>
          <a:lstStyle/>
          <a:p>
            <a:r>
              <a:rPr lang="en-US" sz="1300">
                <a:solidFill>
                  <a:srgbClr val="D0E4F7"/>
                </a:solidFill>
              </a:rPr>
              <a:t>BI / Dashboards</a:t>
            </a:r>
          </a:p>
        </p:txBody>
      </p:sp>
      <p:sp>
        <p:nvSpPr>
          <p:cNvPr id="100278" name="R7C2"/>
          <p:cNvSpPr txBox="1"/>
          <p:nvPr/>
        </p:nvSpPr>
        <p:spPr>
          <a:xfrm>
            <a:off x="2592000" y="4392000"/>
            <a:ext cx="3060000" cy="468000"/>
          </a:xfrm>
          <a:prstGeom prst="rect">
            <a:avLst/>
          </a:prstGeom>
        </p:spPr>
        <p:txBody>
          <a:bodyPr/>
          <a:lstStyle/>
          <a:p>
            <a:r>
              <a:rPr lang="en-US" sz="1300">
                <a:solidFill>
                  <a:srgbClr val="A8C6E8"/>
                </a:solidFill>
              </a:rPr>
              <a:t>Apache Superset 6.1</a:t>
            </a:r>
          </a:p>
        </p:txBody>
      </p:sp>
      <p:sp>
        <p:nvSpPr>
          <p:cNvPr id="100279" name="R7C3"/>
          <p:cNvSpPr txBox="1"/>
          <p:nvPr/>
        </p:nvSpPr>
        <p:spPr>
          <a:xfrm>
            <a:off x="5832000" y="4392000"/>
            <a:ext cx="5580000" cy="468000"/>
          </a:xfrm>
          <a:prstGeom prst="rect">
            <a:avLst/>
          </a:prstGeom>
        </p:spPr>
        <p:txBody>
          <a:bodyPr/>
          <a:lstStyle/>
          <a:p>
            <a:r>
              <a:rPr lang="en-US" sz="1300">
                <a:solidFill>
                  <a:srgbClr val="7A8DA0"/>
                </a:solidFill>
              </a:rPr>
              <a:t>SQL Lab + 15-chart production dashboard over Presto — no ETL copies</a:t>
            </a:r>
          </a:p>
        </p:txBody>
      </p:sp>
      <p:sp>
        <p:nvSpPr>
          <p:cNvPr id="100280" name="R8C1"/>
          <p:cNvSpPr txBox="1"/>
          <p:nvPr/>
        </p:nvSpPr>
        <p:spPr>
          <a:xfrm>
            <a:off x="540000" y="4896000"/>
            <a:ext cx="1800000" cy="468000"/>
          </a:xfrm>
          <a:prstGeom prst="rect">
            <a:avLst/>
          </a:prstGeom>
        </p:spPr>
        <p:txBody>
          <a:bodyPr/>
          <a:lstStyle/>
          <a:p>
            <a:r>
              <a:rPr lang="en-US" sz="1300">
                <a:solidFill>
                  <a:srgbClr val="D0E4F7"/>
                </a:solidFill>
              </a:rPr>
              <a:t>Infrastructure</a:t>
            </a:r>
          </a:p>
        </p:txBody>
      </p:sp>
      <p:sp>
        <p:nvSpPr>
          <p:cNvPr id="100281" name="R8C2"/>
          <p:cNvSpPr txBox="1"/>
          <p:nvPr/>
        </p:nvSpPr>
        <p:spPr>
          <a:xfrm>
            <a:off x="2592000" y="4896000"/>
            <a:ext cx="3060000" cy="468000"/>
          </a:xfrm>
          <a:prstGeom prst="rect">
            <a:avLst/>
          </a:prstGeom>
        </p:spPr>
        <p:txBody>
          <a:bodyPr/>
          <a:lstStyle/>
          <a:p>
            <a:r>
              <a:rPr lang="en-US" sz="1300">
                <a:solidFill>
                  <a:srgbClr val="A8C6E8"/>
                </a:solidFill>
              </a:rPr>
              <a:t>Docker Compose</a:t>
            </a:r>
          </a:p>
        </p:txBody>
      </p:sp>
      <p:sp>
        <p:nvSpPr>
          <p:cNvPr id="100282" name="R8C3"/>
          <p:cNvSpPr txBox="1"/>
          <p:nvPr/>
        </p:nvSpPr>
        <p:spPr>
          <a:xfrm>
            <a:off x="5832000" y="4896000"/>
            <a:ext cx="5580000" cy="468000"/>
          </a:xfrm>
          <a:prstGeom prst="rect">
            <a:avLst/>
          </a:prstGeom>
        </p:spPr>
        <p:txBody>
          <a:bodyPr/>
          <a:lstStyle/>
          <a:p>
            <a:r>
              <a:rPr lang="en-US" sz="1300">
                <a:solidFill>
                  <a:srgbClr val="7A8DA0"/>
                </a:solidFill>
              </a:rPr>
              <a:t>10 services, 6 volumes, 1 network — health-gated startup, credentials via .env only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293" name="Title"/>
          <p:cNvSpPr txBox="1"/>
          <p:nvPr/>
        </p:nvSpPr>
        <p:spPr>
          <a:xfrm>
            <a:off x="540000" y="288000"/>
            <a:ext cx="10800000" cy="540000"/>
          </a:xfrm>
          <a:prstGeom prst="rect">
            <a:avLst/>
          </a:prstGeom>
          <a:noFill/>
        </p:spPr>
        <p:txBody>
          <a:bodyPr/>
          <a:lstStyle/>
          <a:p>
            <a:r>
              <a:rPr lang="en-US" sz="3200" b="1">
                <a:solidFill>
                  <a:srgbClr val="FFFFFF"/>
                </a:solidFill>
              </a:rPr>
              <a:t>Architecture: Lakehouse Components</a:t>
            </a:r>
          </a:p>
        </p:txBody>
      </p:sp>
      <p:cxnSp>
        <p:nvCxnSpPr>
          <p:cNvPr id="100294" name="C_GitHub_Airflow"/>
          <p:cNvCxnSpPr/>
          <p:nvPr/>
        </p:nvCxnSpPr>
        <p:spPr>
          <a:xfrm>
            <a:off x="6094800" y="1692000"/>
            <a:ext cx="0" cy="432000"/>
          </a:xfrm>
          <a:prstGeom prst="straightConnector1">
            <a:avLst/>
          </a:prstGeom>
          <a:ln w="19050">
            <a:solidFill>
              <a:srgbClr val="8FB8E0"/>
            </a:solidFill>
            <a:tailEnd type="triangle"/>
          </a:ln>
        </p:spPr>
      </p:cxnSp>
      <p:cxnSp>
        <p:nvCxnSpPr>
          <p:cNvPr id="100295" name="C_Airflow_Spark"/>
          <p:cNvCxnSpPr/>
          <p:nvPr/>
        </p:nvCxnSpPr>
        <p:spPr>
          <a:xfrm>
            <a:off x="6094800" y="2844000"/>
            <a:ext cx="0" cy="432000"/>
          </a:xfrm>
          <a:prstGeom prst="straightConnector1">
            <a:avLst/>
          </a:prstGeom>
          <a:ln w="19050">
            <a:solidFill>
              <a:srgbClr val="8FB8E0"/>
            </a:solidFill>
            <a:tailEnd type="triangle"/>
          </a:ln>
        </p:spPr>
      </p:cxnSp>
      <p:cxnSp>
        <p:nvCxnSpPr>
          <p:cNvPr id="100296" name="C_Airflow_MinIO"/>
          <p:cNvCxnSpPr/>
          <p:nvPr/>
        </p:nvCxnSpPr>
        <p:spPr>
          <a:xfrm flipH="1">
            <a:off x="1872000" y="2484000"/>
            <a:ext cx="2062800" cy="792000"/>
          </a:xfrm>
          <a:prstGeom prst="straightConnector1">
            <a:avLst/>
          </a:prstGeom>
          <a:ln w="19050">
            <a:solidFill>
              <a:srgbClr val="8FB8E0"/>
            </a:solidFill>
            <a:tailEnd type="triangle"/>
          </a:ln>
        </p:spPr>
      </p:cxnSp>
      <p:cxnSp>
        <p:nvCxnSpPr>
          <p:cNvPr id="100297" name="C_Spark_MinIO"/>
          <p:cNvCxnSpPr/>
          <p:nvPr/>
        </p:nvCxnSpPr>
        <p:spPr>
          <a:xfrm flipH="1">
            <a:off x="3312000" y="3636000"/>
            <a:ext cx="1162800" cy="0"/>
          </a:xfrm>
          <a:prstGeom prst="straightConnector1">
            <a:avLst/>
          </a:prstGeom>
          <a:ln w="19050">
            <a:solidFill>
              <a:srgbClr val="8FB8E0"/>
            </a:solidFill>
            <a:tailEnd type="triangle"/>
          </a:ln>
        </p:spPr>
      </p:cxnSp>
      <p:cxnSp>
        <p:nvCxnSpPr>
          <p:cNvPr id="100298" name="C_Spark_Hive"/>
          <p:cNvCxnSpPr/>
          <p:nvPr/>
        </p:nvCxnSpPr>
        <p:spPr>
          <a:xfrm>
            <a:off x="7714800" y="3636000"/>
            <a:ext cx="1162800" cy="0"/>
          </a:xfrm>
          <a:prstGeom prst="straightConnector1">
            <a:avLst/>
          </a:prstGeom>
          <a:ln w="19050">
            <a:solidFill>
              <a:srgbClr val="8FB8E0"/>
            </a:solidFill>
            <a:tailEnd type="triangle"/>
          </a:ln>
        </p:spPr>
      </p:cxnSp>
      <p:cxnSp>
        <p:nvCxnSpPr>
          <p:cNvPr id="100299" name="C_MinIO_Presto"/>
          <p:cNvCxnSpPr/>
          <p:nvPr/>
        </p:nvCxnSpPr>
        <p:spPr>
          <a:xfrm>
            <a:off x="1872000" y="3996000"/>
            <a:ext cx="2062800" cy="792000"/>
          </a:xfrm>
          <a:prstGeom prst="straightConnector1">
            <a:avLst/>
          </a:prstGeom>
          <a:ln w="19050">
            <a:solidFill>
              <a:srgbClr val="8FB8E0"/>
            </a:solidFill>
            <a:tailEnd type="triangle"/>
          </a:ln>
        </p:spPr>
      </p:cxnSp>
      <p:cxnSp>
        <p:nvCxnSpPr>
          <p:cNvPr id="100300" name="C_Hive_Presto"/>
          <p:cNvCxnSpPr/>
          <p:nvPr/>
        </p:nvCxnSpPr>
        <p:spPr>
          <a:xfrm flipH="1">
            <a:off x="8254800" y="3996000"/>
            <a:ext cx="2066400" cy="792000"/>
          </a:xfrm>
          <a:prstGeom prst="straightConnector1">
            <a:avLst/>
          </a:prstGeom>
          <a:ln w="19050">
            <a:solidFill>
              <a:srgbClr val="8FB8E0"/>
            </a:solidFill>
            <a:tailEnd type="triangle"/>
          </a:ln>
        </p:spPr>
      </p:cxnSp>
      <p:cxnSp>
        <p:nvCxnSpPr>
          <p:cNvPr id="100301" name="C_Presto_Superset"/>
          <p:cNvCxnSpPr/>
          <p:nvPr/>
        </p:nvCxnSpPr>
        <p:spPr>
          <a:xfrm>
            <a:off x="6094800" y="5148000"/>
            <a:ext cx="0" cy="432000"/>
          </a:xfrm>
          <a:prstGeom prst="straightConnector1">
            <a:avLst/>
          </a:prstGeom>
          <a:ln w="19050">
            <a:solidFill>
              <a:srgbClr val="8FB8E0"/>
            </a:solidFill>
            <a:tailEnd type="triangle"/>
          </a:ln>
        </p:spPr>
      </p:cxnSp>
      <p:sp>
        <p:nvSpPr>
          <p:cNvPr id="100309" name="L_StagesRawData"/>
          <p:cNvSpPr txBox="1"/>
          <p:nvPr/>
        </p:nvSpPr>
        <p:spPr>
          <a:xfrm>
            <a:off x="1908000" y="2493000"/>
            <a:ext cx="1620000" cy="504000"/>
          </a:xfrm>
          <a:prstGeom prst="rect">
            <a:avLst/>
          </a:prstGeom>
          <a:noFill/>
        </p:spPr>
        <p:txBody>
          <a:bodyPr/>
          <a:lstStyle/>
          <a:p>
            <a:pPr algn="ctr"/>
            <a:r>
              <a:rPr lang="en-US" sz="1200">
                <a:solidFill>
                  <a:srgbClr val="D0E4F7"/>
                </a:solidFill>
              </a:rPr>
              <a:t>Stages Raw Data</a:t>
            </a:r>
          </a:p>
        </p:txBody>
      </p:sp>
      <p:sp>
        <p:nvSpPr>
          <p:cNvPr id="100310" name="L_TriggersJob"/>
          <p:cNvSpPr txBox="1"/>
          <p:nvPr/>
        </p:nvSpPr>
        <p:spPr>
          <a:xfrm>
            <a:off x="6098401" y="2915999"/>
            <a:ext cx="1440000" cy="432000"/>
          </a:xfrm>
          <a:prstGeom prst="rect">
            <a:avLst/>
          </a:prstGeom>
          <a:noFill/>
        </p:spPr>
        <p:txBody>
          <a:bodyPr/>
          <a:lstStyle/>
          <a:p>
            <a:pPr algn="l"/>
            <a:r>
              <a:rPr lang="en-US" sz="1200" dirty="0">
                <a:solidFill>
                  <a:srgbClr val="D0E4F7"/>
                </a:solidFill>
              </a:rPr>
              <a:t>Triggers Job</a:t>
            </a:r>
          </a:p>
        </p:txBody>
      </p:sp>
      <p:sp>
        <p:nvSpPr>
          <p:cNvPr id="100311" name="L_HudiCommits"/>
          <p:cNvSpPr txBox="1"/>
          <p:nvPr/>
        </p:nvSpPr>
        <p:spPr>
          <a:xfrm>
            <a:off x="3312000" y="3222000"/>
            <a:ext cx="1162800" cy="396000"/>
          </a:xfrm>
          <a:prstGeom prst="rect">
            <a:avLst/>
          </a:prstGeom>
          <a:noFill/>
        </p:spPr>
        <p:txBody>
          <a:bodyPr/>
          <a:lstStyle/>
          <a:p>
            <a:pPr algn="ctr"/>
            <a:r>
              <a:rPr lang="en-US" sz="1100">
                <a:solidFill>
                  <a:srgbClr val="D0E4F7"/>
                </a:solidFill>
              </a:rPr>
              <a:t>Hudi Parquet Commits</a:t>
            </a:r>
          </a:p>
        </p:txBody>
      </p:sp>
      <p:sp>
        <p:nvSpPr>
          <p:cNvPr id="100312" name="L_SyncsPartitions"/>
          <p:cNvSpPr txBox="1"/>
          <p:nvPr/>
        </p:nvSpPr>
        <p:spPr>
          <a:xfrm>
            <a:off x="7714800" y="3375000"/>
            <a:ext cx="1162800" cy="396000"/>
          </a:xfrm>
          <a:prstGeom prst="rect">
            <a:avLst/>
          </a:prstGeom>
          <a:noFill/>
        </p:spPr>
        <p:txBody>
          <a:bodyPr/>
          <a:lstStyle/>
          <a:p>
            <a:pPr algn="ctr"/>
            <a:r>
              <a:rPr lang="en-US" sz="1100" dirty="0">
                <a:solidFill>
                  <a:srgbClr val="D0E4F7"/>
                </a:solidFill>
              </a:rPr>
              <a:t>Syncs Partitions</a:t>
            </a:r>
          </a:p>
        </p:txBody>
      </p:sp>
      <p:sp>
        <p:nvSpPr>
          <p:cNvPr id="100313" name="L_ReadsParquet"/>
          <p:cNvSpPr txBox="1"/>
          <p:nvPr/>
        </p:nvSpPr>
        <p:spPr>
          <a:xfrm>
            <a:off x="1908000" y="4428000"/>
            <a:ext cx="1368000" cy="432000"/>
          </a:xfrm>
          <a:prstGeom prst="rect">
            <a:avLst/>
          </a:prstGeom>
          <a:noFill/>
        </p:spPr>
        <p:txBody>
          <a:bodyPr/>
          <a:lstStyle/>
          <a:p>
            <a:pPr algn="ctr"/>
            <a:r>
              <a:rPr lang="en-US" sz="1200">
                <a:solidFill>
                  <a:srgbClr val="D0E4F7"/>
                </a:solidFill>
              </a:rPr>
              <a:t>Reads Parquet</a:t>
            </a:r>
          </a:p>
        </p:txBody>
      </p:sp>
      <p:sp>
        <p:nvSpPr>
          <p:cNvPr id="100314" name="L_CatalogMetadata"/>
          <p:cNvSpPr txBox="1"/>
          <p:nvPr/>
        </p:nvSpPr>
        <p:spPr>
          <a:xfrm>
            <a:off x="8913600" y="4428000"/>
            <a:ext cx="1440000" cy="432000"/>
          </a:xfrm>
          <a:prstGeom prst="rect">
            <a:avLst/>
          </a:prstGeom>
          <a:noFill/>
        </p:spPr>
        <p:txBody>
          <a:bodyPr/>
          <a:lstStyle/>
          <a:p>
            <a:pPr algn="ctr"/>
            <a:r>
              <a:rPr lang="en-US" sz="1200">
                <a:solidFill>
                  <a:srgbClr val="D0E4F7"/>
                </a:solidFill>
              </a:rPr>
              <a:t>Catalog Metadata</a:t>
            </a:r>
          </a:p>
        </p:txBody>
      </p:sp>
      <p:sp>
        <p:nvSpPr>
          <p:cNvPr id="100315" name="L_InteractiveSQL"/>
          <p:cNvSpPr txBox="1"/>
          <p:nvPr/>
        </p:nvSpPr>
        <p:spPr>
          <a:xfrm>
            <a:off x="6076800" y="5219999"/>
            <a:ext cx="3240000" cy="432000"/>
          </a:xfrm>
          <a:prstGeom prst="rect">
            <a:avLst/>
          </a:prstGeom>
          <a:noFill/>
        </p:spPr>
        <p:txBody>
          <a:bodyPr/>
          <a:lstStyle/>
          <a:p>
            <a:pPr algn="l"/>
            <a:r>
              <a:rPr lang="en-US" sz="1200" dirty="0">
                <a:solidFill>
                  <a:srgbClr val="D0E4F7"/>
                </a:solidFill>
              </a:rPr>
              <a:t>Interactive SQL / Dashboards</a:t>
            </a:r>
          </a:p>
        </p:txBody>
      </p:sp>
      <p:grpSp>
        <p:nvGrpSpPr>
          <p:cNvPr id="5" name="Group 4">
            <a:extLst>
              <a:ext uri="{FF2B5EF4-FFF2-40B4-BE49-F238E27FC236}">
                <a16:creationId xmlns:a16="http://schemas.microsoft.com/office/drawing/2014/main" id="{84D6516A-38A8-18D6-0AC9-B6DF4B8D1191}"/>
              </a:ext>
            </a:extLst>
          </p:cNvPr>
          <p:cNvGrpSpPr/>
          <p:nvPr/>
        </p:nvGrpSpPr>
        <p:grpSpPr>
          <a:xfrm>
            <a:off x="4294800" y="972000"/>
            <a:ext cx="3600000" cy="720000"/>
            <a:chOff x="4294800" y="972000"/>
            <a:chExt cx="3600000" cy="720000"/>
          </a:xfrm>
        </p:grpSpPr>
        <p:sp>
          <p:nvSpPr>
            <p:cNvPr id="100302" name="Box_GitHub"/>
            <p:cNvSpPr/>
            <p:nvPr/>
          </p:nvSpPr>
          <p:spPr>
            <a:xfrm>
              <a:off x="4294800" y="972000"/>
              <a:ext cx="3600000" cy="720000"/>
            </a:xfrm>
            <a:prstGeom prst="roundRect">
              <a:avLst/>
            </a:prstGeom>
            <a:solidFill>
              <a:srgbClr val="2A2F36"/>
            </a:solidFill>
            <a:ln w="25400">
              <a:solidFill>
                <a:srgbClr val="9AA5B1"/>
              </a:solidFill>
            </a:ln>
          </p:spPr>
          <p:txBody>
            <a:bodyPr anchor="ctr"/>
            <a:lstStyle/>
            <a:p>
              <a:pPr algn="ctr"/>
              <a:r>
                <a:rPr lang="en-US" sz="1600" b="1" dirty="0">
                  <a:solidFill>
                    <a:srgbClr val="FFFFFF"/>
                  </a:solidFill>
                </a:rPr>
                <a:t>GitHub Archive API</a:t>
              </a:r>
            </a:p>
          </p:txBody>
        </p:sp>
        <p:pic>
          <p:nvPicPr>
            <p:cNvPr id="100316" name="Icon_GitHub" descr="GitHub logo"/>
            <p:cNvPicPr>
              <a:picLocks noChangeAspect="1"/>
            </p:cNvPicPr>
            <p:nvPr/>
          </p:nvPicPr>
          <p:blipFill>
            <a:blip r:embed="rId3"/>
            <a:stretch>
              <a:fillRect/>
            </a:stretch>
          </p:blipFill>
          <p:spPr>
            <a:xfrm>
              <a:off x="4420800" y="1116000"/>
              <a:ext cx="432000" cy="432000"/>
            </a:xfrm>
            <a:prstGeom prst="rect">
              <a:avLst/>
            </a:prstGeom>
          </p:spPr>
        </p:pic>
      </p:grpSp>
      <p:grpSp>
        <p:nvGrpSpPr>
          <p:cNvPr id="4" name="Group 3">
            <a:extLst>
              <a:ext uri="{FF2B5EF4-FFF2-40B4-BE49-F238E27FC236}">
                <a16:creationId xmlns:a16="http://schemas.microsoft.com/office/drawing/2014/main" id="{3F4B5F5C-5715-5DAC-0D38-88A114EAB283}"/>
              </a:ext>
            </a:extLst>
          </p:cNvPr>
          <p:cNvGrpSpPr/>
          <p:nvPr/>
        </p:nvGrpSpPr>
        <p:grpSpPr>
          <a:xfrm>
            <a:off x="3934800" y="2124000"/>
            <a:ext cx="4320000" cy="720000"/>
            <a:chOff x="3934800" y="2124000"/>
            <a:chExt cx="4320000" cy="720000"/>
          </a:xfrm>
        </p:grpSpPr>
        <p:sp>
          <p:nvSpPr>
            <p:cNvPr id="100303" name="Box_Airflow"/>
            <p:cNvSpPr/>
            <p:nvPr/>
          </p:nvSpPr>
          <p:spPr>
            <a:xfrm>
              <a:off x="3934800" y="2124000"/>
              <a:ext cx="4320000" cy="720000"/>
            </a:xfrm>
            <a:prstGeom prst="roundRect">
              <a:avLst/>
            </a:prstGeom>
            <a:solidFill>
              <a:srgbClr val="12304F"/>
            </a:solidFill>
            <a:ln w="25400">
              <a:solidFill>
                <a:srgbClr val="4FA3E0"/>
              </a:solidFill>
            </a:ln>
          </p:spPr>
          <p:txBody>
            <a:bodyPr anchor="ctr"/>
            <a:lstStyle/>
            <a:p>
              <a:pPr algn="ctr"/>
              <a:r>
                <a:rPr lang="en-US" sz="1400" dirty="0">
                  <a:solidFill>
                    <a:srgbClr val="FFFFFF"/>
                  </a:solidFill>
                </a:rPr>
                <a:t>Apache Airflow</a:t>
              </a:r>
            </a:p>
            <a:p>
              <a:pPr algn="ctr"/>
              <a:r>
                <a:rPr lang="en-US" sz="1400" dirty="0">
                  <a:solidFill>
                    <a:srgbClr val="FFFFFF"/>
                  </a:solidFill>
                </a:rPr>
                <a:t>(Orchestration &amp; Quality Gates)</a:t>
              </a:r>
            </a:p>
          </p:txBody>
        </p:sp>
        <p:pic>
          <p:nvPicPr>
            <p:cNvPr id="100317" name="Icon_Airflow" descr="Apache Airflow logo"/>
            <p:cNvPicPr>
              <a:picLocks noChangeAspect="1"/>
            </p:cNvPicPr>
            <p:nvPr/>
          </p:nvPicPr>
          <p:blipFill>
            <a:blip r:embed="rId4"/>
            <a:stretch>
              <a:fillRect/>
            </a:stretch>
          </p:blipFill>
          <p:spPr>
            <a:xfrm>
              <a:off x="4060800" y="2268000"/>
              <a:ext cx="432000" cy="432000"/>
            </a:xfrm>
            <a:prstGeom prst="rect">
              <a:avLst/>
            </a:prstGeom>
          </p:spPr>
        </p:pic>
      </p:grpSp>
      <p:grpSp>
        <p:nvGrpSpPr>
          <p:cNvPr id="7" name="Group 6">
            <a:extLst>
              <a:ext uri="{FF2B5EF4-FFF2-40B4-BE49-F238E27FC236}">
                <a16:creationId xmlns:a16="http://schemas.microsoft.com/office/drawing/2014/main" id="{D559C487-0C1C-F635-D354-7DB8C06CB231}"/>
              </a:ext>
            </a:extLst>
          </p:cNvPr>
          <p:cNvGrpSpPr/>
          <p:nvPr/>
        </p:nvGrpSpPr>
        <p:grpSpPr>
          <a:xfrm>
            <a:off x="432000" y="3276000"/>
            <a:ext cx="2880000" cy="720000"/>
            <a:chOff x="432000" y="3276000"/>
            <a:chExt cx="2880000" cy="720000"/>
          </a:xfrm>
        </p:grpSpPr>
        <p:sp>
          <p:nvSpPr>
            <p:cNvPr id="100304" name="Box_MinIO"/>
            <p:cNvSpPr/>
            <p:nvPr/>
          </p:nvSpPr>
          <p:spPr>
            <a:xfrm>
              <a:off x="432000" y="3276000"/>
              <a:ext cx="2880000" cy="720000"/>
            </a:xfrm>
            <a:prstGeom prst="roundRect">
              <a:avLst/>
            </a:prstGeom>
            <a:solidFill>
              <a:srgbClr val="3A1A24"/>
            </a:solidFill>
            <a:ln w="25400">
              <a:solidFill>
                <a:srgbClr val="E0607E"/>
              </a:solidFill>
            </a:ln>
          </p:spPr>
          <p:txBody>
            <a:bodyPr anchor="ctr"/>
            <a:lstStyle/>
            <a:p>
              <a:pPr algn="ctr"/>
              <a:r>
                <a:rPr lang="en-US" sz="1400" dirty="0" err="1">
                  <a:solidFill>
                    <a:srgbClr val="FFFFFF"/>
                  </a:solidFill>
                </a:rPr>
                <a:t>MinIO</a:t>
              </a:r>
              <a:r>
                <a:rPr lang="en-US" sz="1400" dirty="0">
                  <a:solidFill>
                    <a:srgbClr val="FFFFFF"/>
                  </a:solidFill>
                </a:rPr>
                <a:t> Object Storage</a:t>
              </a:r>
            </a:p>
            <a:p>
              <a:pPr algn="ctr"/>
              <a:r>
                <a:rPr lang="en-US" sz="1400" dirty="0">
                  <a:solidFill>
                    <a:srgbClr val="FFFFFF"/>
                  </a:solidFill>
                </a:rPr>
                <a:t>(S3-Compatible)</a:t>
              </a:r>
            </a:p>
          </p:txBody>
        </p:sp>
        <p:pic>
          <p:nvPicPr>
            <p:cNvPr id="100318" name="Icon_MinIO" descr="MinIO logo"/>
            <p:cNvPicPr>
              <a:picLocks noChangeAspect="1"/>
            </p:cNvPicPr>
            <p:nvPr/>
          </p:nvPicPr>
          <p:blipFill>
            <a:blip r:embed="rId5"/>
            <a:stretch>
              <a:fillRect/>
            </a:stretch>
          </p:blipFill>
          <p:spPr>
            <a:xfrm>
              <a:off x="558000" y="3420000"/>
              <a:ext cx="432000" cy="432000"/>
            </a:xfrm>
            <a:prstGeom prst="rect">
              <a:avLst/>
            </a:prstGeom>
          </p:spPr>
        </p:pic>
      </p:grpSp>
      <p:grpSp>
        <p:nvGrpSpPr>
          <p:cNvPr id="3" name="Group 2">
            <a:extLst>
              <a:ext uri="{FF2B5EF4-FFF2-40B4-BE49-F238E27FC236}">
                <a16:creationId xmlns:a16="http://schemas.microsoft.com/office/drawing/2014/main" id="{BCBACE95-F2B2-8EE7-582B-5E9E57D08E1F}"/>
              </a:ext>
            </a:extLst>
          </p:cNvPr>
          <p:cNvGrpSpPr/>
          <p:nvPr/>
        </p:nvGrpSpPr>
        <p:grpSpPr>
          <a:xfrm>
            <a:off x="4474800" y="3276000"/>
            <a:ext cx="3240000" cy="720000"/>
            <a:chOff x="4474800" y="3276000"/>
            <a:chExt cx="3240000" cy="720000"/>
          </a:xfrm>
        </p:grpSpPr>
        <p:sp>
          <p:nvSpPr>
            <p:cNvPr id="100305" name="Box_Spark"/>
            <p:cNvSpPr/>
            <p:nvPr/>
          </p:nvSpPr>
          <p:spPr>
            <a:xfrm>
              <a:off x="4474800" y="3276000"/>
              <a:ext cx="3240000" cy="720000"/>
            </a:xfrm>
            <a:prstGeom prst="roundRect">
              <a:avLst/>
            </a:prstGeom>
            <a:solidFill>
              <a:srgbClr val="3A3010"/>
            </a:solidFill>
            <a:ln w="25400">
              <a:solidFill>
                <a:srgbClr val="F0C040"/>
              </a:solidFill>
            </a:ln>
          </p:spPr>
          <p:txBody>
            <a:bodyPr anchor="ctr"/>
            <a:lstStyle/>
            <a:p>
              <a:pPr algn="ctr"/>
              <a:r>
                <a:rPr lang="en-US" sz="1400" dirty="0">
                  <a:solidFill>
                    <a:srgbClr val="FFFFFF"/>
                  </a:solidFill>
                </a:rPr>
                <a:t>Apache Spark 3.5.0</a:t>
              </a:r>
            </a:p>
            <a:p>
              <a:pPr algn="ctr"/>
              <a:r>
                <a:rPr lang="en-US" sz="1400" dirty="0">
                  <a:solidFill>
                    <a:srgbClr val="FFFFFF"/>
                  </a:solidFill>
                </a:rPr>
                <a:t>(</a:t>
              </a:r>
              <a:r>
                <a:rPr lang="en-US" sz="1400" dirty="0" err="1">
                  <a:solidFill>
                    <a:srgbClr val="FFFFFF"/>
                  </a:solidFill>
                </a:rPr>
                <a:t>HoodieStreamer</a:t>
              </a:r>
              <a:r>
                <a:rPr lang="en-US" sz="1400" dirty="0">
                  <a:solidFill>
                    <a:srgbClr val="FFFFFF"/>
                  </a:solidFill>
                </a:rPr>
                <a:t>)</a:t>
              </a:r>
            </a:p>
          </p:txBody>
        </p:sp>
        <p:pic>
          <p:nvPicPr>
            <p:cNvPr id="100319" name="Icon_Spark" descr="Apache Spark logo"/>
            <p:cNvPicPr>
              <a:picLocks noChangeAspect="1"/>
            </p:cNvPicPr>
            <p:nvPr/>
          </p:nvPicPr>
          <p:blipFill>
            <a:blip r:embed="rId6"/>
            <a:stretch>
              <a:fillRect/>
            </a:stretch>
          </p:blipFill>
          <p:spPr>
            <a:xfrm>
              <a:off x="4600800" y="3420000"/>
              <a:ext cx="432000" cy="432000"/>
            </a:xfrm>
            <a:prstGeom prst="rect">
              <a:avLst/>
            </a:prstGeom>
          </p:spPr>
        </p:pic>
      </p:grpSp>
      <p:grpSp>
        <p:nvGrpSpPr>
          <p:cNvPr id="2" name="Group 1">
            <a:extLst>
              <a:ext uri="{FF2B5EF4-FFF2-40B4-BE49-F238E27FC236}">
                <a16:creationId xmlns:a16="http://schemas.microsoft.com/office/drawing/2014/main" id="{5109EC50-8CBA-46EC-E9B6-BBA6112C2C87}"/>
              </a:ext>
            </a:extLst>
          </p:cNvPr>
          <p:cNvGrpSpPr/>
          <p:nvPr/>
        </p:nvGrpSpPr>
        <p:grpSpPr>
          <a:xfrm>
            <a:off x="8881200" y="3276000"/>
            <a:ext cx="2880000" cy="720000"/>
            <a:chOff x="8881200" y="3276000"/>
            <a:chExt cx="2880000" cy="720000"/>
          </a:xfrm>
        </p:grpSpPr>
        <p:sp>
          <p:nvSpPr>
            <p:cNvPr id="100306" name="Box_Hive"/>
            <p:cNvSpPr/>
            <p:nvPr/>
          </p:nvSpPr>
          <p:spPr>
            <a:xfrm>
              <a:off x="8881200" y="3276000"/>
              <a:ext cx="2880000" cy="720000"/>
            </a:xfrm>
            <a:prstGeom prst="roundRect">
              <a:avLst/>
            </a:prstGeom>
            <a:solidFill>
              <a:srgbClr val="2A1F4A"/>
            </a:solidFill>
            <a:ln w="25400">
              <a:solidFill>
                <a:srgbClr val="A98BE8"/>
              </a:solidFill>
            </a:ln>
          </p:spPr>
          <p:txBody>
            <a:bodyPr anchor="ctr"/>
            <a:lstStyle/>
            <a:p>
              <a:pPr algn="ctr"/>
              <a:r>
                <a:rPr lang="en-US" sz="1400" dirty="0">
                  <a:solidFill>
                    <a:srgbClr val="FFFFFF"/>
                  </a:solidFill>
                </a:rPr>
                <a:t>Hive </a:t>
              </a:r>
              <a:r>
                <a:rPr lang="en-US" sz="1400" dirty="0" err="1">
                  <a:solidFill>
                    <a:srgbClr val="FFFFFF"/>
                  </a:solidFill>
                </a:rPr>
                <a:t>Metastore</a:t>
              </a:r>
              <a:r>
                <a:rPr lang="en-US" sz="1400" dirty="0">
                  <a:solidFill>
                    <a:srgbClr val="FFFFFF"/>
                  </a:solidFill>
                </a:rPr>
                <a:t> 3.1.3</a:t>
              </a:r>
            </a:p>
            <a:p>
              <a:pPr algn="ctr"/>
              <a:r>
                <a:rPr lang="en-US" sz="1400" dirty="0">
                  <a:solidFill>
                    <a:srgbClr val="FFFFFF"/>
                  </a:solidFill>
                </a:rPr>
                <a:t>(MySQL 8.0)</a:t>
              </a:r>
            </a:p>
          </p:txBody>
        </p:sp>
        <p:pic>
          <p:nvPicPr>
            <p:cNvPr id="100320" name="Icon_Hive" descr="Apache Hive logo"/>
            <p:cNvPicPr>
              <a:picLocks noChangeAspect="1"/>
            </p:cNvPicPr>
            <p:nvPr/>
          </p:nvPicPr>
          <p:blipFill>
            <a:blip r:embed="rId7"/>
            <a:stretch>
              <a:fillRect/>
            </a:stretch>
          </p:blipFill>
          <p:spPr>
            <a:xfrm>
              <a:off x="9007200" y="3420000"/>
              <a:ext cx="432000" cy="432000"/>
            </a:xfrm>
            <a:prstGeom prst="rect">
              <a:avLst/>
            </a:prstGeom>
          </p:spPr>
        </p:pic>
        <p:pic>
          <p:nvPicPr>
            <p:cNvPr id="100321" name="Icon_MySQL" descr="MySQL logo"/>
            <p:cNvPicPr>
              <a:picLocks noChangeAspect="1"/>
            </p:cNvPicPr>
            <p:nvPr/>
          </p:nvPicPr>
          <p:blipFill>
            <a:blip r:embed="rId8"/>
            <a:stretch>
              <a:fillRect/>
            </a:stretch>
          </p:blipFill>
          <p:spPr>
            <a:xfrm>
              <a:off x="11232000" y="3492000"/>
              <a:ext cx="424800" cy="288000"/>
            </a:xfrm>
            <a:prstGeom prst="rect">
              <a:avLst/>
            </a:prstGeom>
          </p:spPr>
        </p:pic>
      </p:grpSp>
      <p:grpSp>
        <p:nvGrpSpPr>
          <p:cNvPr id="6" name="Group 5">
            <a:extLst>
              <a:ext uri="{FF2B5EF4-FFF2-40B4-BE49-F238E27FC236}">
                <a16:creationId xmlns:a16="http://schemas.microsoft.com/office/drawing/2014/main" id="{747CB194-B5C5-BA52-D24D-5E279661CA4B}"/>
              </a:ext>
            </a:extLst>
          </p:cNvPr>
          <p:cNvGrpSpPr/>
          <p:nvPr/>
        </p:nvGrpSpPr>
        <p:grpSpPr>
          <a:xfrm>
            <a:off x="3934800" y="4428000"/>
            <a:ext cx="4320000" cy="720000"/>
            <a:chOff x="3934800" y="4428000"/>
            <a:chExt cx="4320000" cy="720000"/>
          </a:xfrm>
        </p:grpSpPr>
        <p:sp>
          <p:nvSpPr>
            <p:cNvPr id="100307" name="Box_Presto"/>
            <p:cNvSpPr/>
            <p:nvPr/>
          </p:nvSpPr>
          <p:spPr>
            <a:xfrm>
              <a:off x="3934800" y="4428000"/>
              <a:ext cx="4320000" cy="720000"/>
            </a:xfrm>
            <a:prstGeom prst="roundRect">
              <a:avLst/>
            </a:prstGeom>
            <a:solidFill>
              <a:srgbClr val="0F3A40"/>
            </a:solidFill>
            <a:ln w="25400">
              <a:solidFill>
                <a:srgbClr val="4FD0D8"/>
              </a:solidFill>
            </a:ln>
          </p:spPr>
          <p:txBody>
            <a:bodyPr anchor="ctr"/>
            <a:lstStyle/>
            <a:p>
              <a:pPr algn="ctr"/>
              <a:r>
                <a:rPr lang="en-US" sz="1400" dirty="0" err="1">
                  <a:solidFill>
                    <a:srgbClr val="FFFFFF"/>
                  </a:solidFill>
                </a:rPr>
                <a:t>PrestoDB</a:t>
              </a:r>
              <a:r>
                <a:rPr lang="en-US" sz="1400" dirty="0">
                  <a:solidFill>
                    <a:srgbClr val="FFFFFF"/>
                  </a:solidFill>
                </a:rPr>
                <a:t> 0.299 Distributed Cluster</a:t>
              </a:r>
            </a:p>
            <a:p>
              <a:pPr algn="ctr"/>
              <a:r>
                <a:rPr lang="en-US" sz="1400" dirty="0">
                  <a:solidFill>
                    <a:srgbClr val="FFFFFF"/>
                  </a:solidFill>
                </a:rPr>
                <a:t>(Coordinator &amp; 2 Workers)</a:t>
              </a:r>
            </a:p>
          </p:txBody>
        </p:sp>
        <p:pic>
          <p:nvPicPr>
            <p:cNvPr id="100322" name="Icon_Presto" descr="PrestoDB logo"/>
            <p:cNvPicPr>
              <a:picLocks noChangeAspect="1"/>
            </p:cNvPicPr>
            <p:nvPr/>
          </p:nvPicPr>
          <p:blipFill>
            <a:blip r:embed="rId9"/>
            <a:stretch>
              <a:fillRect/>
            </a:stretch>
          </p:blipFill>
          <p:spPr>
            <a:xfrm>
              <a:off x="4060800" y="4572000"/>
              <a:ext cx="432000" cy="432000"/>
            </a:xfrm>
            <a:prstGeom prst="rect">
              <a:avLst/>
            </a:prstGeom>
          </p:spPr>
        </p:pic>
      </p:grpSp>
      <p:grpSp>
        <p:nvGrpSpPr>
          <p:cNvPr id="8" name="Group 7">
            <a:extLst>
              <a:ext uri="{FF2B5EF4-FFF2-40B4-BE49-F238E27FC236}">
                <a16:creationId xmlns:a16="http://schemas.microsoft.com/office/drawing/2014/main" id="{2F161C70-534E-9AC1-B69B-09F5FA6BCC06}"/>
              </a:ext>
            </a:extLst>
          </p:cNvPr>
          <p:cNvGrpSpPr/>
          <p:nvPr/>
        </p:nvGrpSpPr>
        <p:grpSpPr>
          <a:xfrm>
            <a:off x="4276800" y="5580000"/>
            <a:ext cx="3600000" cy="720000"/>
            <a:chOff x="4276800" y="5580000"/>
            <a:chExt cx="3600000" cy="720000"/>
          </a:xfrm>
        </p:grpSpPr>
        <p:sp>
          <p:nvSpPr>
            <p:cNvPr id="100308" name="Box_Superset"/>
            <p:cNvSpPr/>
            <p:nvPr/>
          </p:nvSpPr>
          <p:spPr>
            <a:xfrm>
              <a:off x="4276800" y="5580000"/>
              <a:ext cx="3600000" cy="720000"/>
            </a:xfrm>
            <a:prstGeom prst="roundRect">
              <a:avLst/>
            </a:prstGeom>
            <a:solidFill>
              <a:srgbClr val="12361F"/>
            </a:solidFill>
            <a:ln w="25400">
              <a:solidFill>
                <a:srgbClr val="5CC98A"/>
              </a:solidFill>
            </a:ln>
          </p:spPr>
          <p:txBody>
            <a:bodyPr anchor="ctr"/>
            <a:lstStyle/>
            <a:p>
              <a:pPr algn="ctr"/>
              <a:r>
                <a:rPr lang="en-US" sz="1400" dirty="0">
                  <a:solidFill>
                    <a:srgbClr val="FFFFFF"/>
                  </a:solidFill>
                </a:rPr>
                <a:t>Apache Superset</a:t>
              </a:r>
            </a:p>
            <a:p>
              <a:pPr algn="ctr"/>
              <a:r>
                <a:rPr lang="en-US" sz="1400" dirty="0">
                  <a:solidFill>
                    <a:srgbClr val="FFFFFF"/>
                  </a:solidFill>
                </a:rPr>
                <a:t>(BI &amp; Dashboards)</a:t>
              </a:r>
            </a:p>
          </p:txBody>
        </p:sp>
        <p:pic>
          <p:nvPicPr>
            <p:cNvPr id="100323" name="Icon_Superset" descr="Apache Superset logo"/>
            <p:cNvPicPr>
              <a:picLocks noChangeAspect="1"/>
            </p:cNvPicPr>
            <p:nvPr/>
          </p:nvPicPr>
          <p:blipFill>
            <a:blip r:embed="rId10"/>
            <a:stretch>
              <a:fillRect/>
            </a:stretch>
          </p:blipFill>
          <p:spPr>
            <a:xfrm>
              <a:off x="4420800" y="5724000"/>
              <a:ext cx="432000" cy="432000"/>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062" name="Title"/>
          <p:cNvSpPr txBox="1"/>
          <p:nvPr/>
        </p:nvSpPr>
        <p:spPr>
          <a:xfrm>
            <a:off x="540000" y="288000"/>
            <a:ext cx="10800000" cy="540000"/>
          </a:xfrm>
          <a:prstGeom prst="rect">
            <a:avLst/>
          </a:prstGeom>
        </p:spPr>
        <p:txBody>
          <a:bodyPr/>
          <a:lstStyle/>
          <a:p>
            <a:r>
              <a:rPr lang="en-US" sz="3200" b="1">
                <a:solidFill>
                  <a:srgbClr val="FFFFFF"/>
                </a:solidFill>
              </a:rPr>
              <a:t>Architecture: Data Flow End-to-End</a:t>
            </a:r>
          </a:p>
        </p:txBody>
      </p:sp>
      <p:sp>
        <p:nvSpPr>
          <p:cNvPr id="100063" name="FlowTitle"/>
          <p:cNvSpPr txBox="1"/>
          <p:nvPr/>
        </p:nvSpPr>
        <p:spPr>
          <a:xfrm>
            <a:off x="540000" y="900000"/>
            <a:ext cx="10800000" cy="360000"/>
          </a:xfrm>
          <a:prstGeom prst="rect">
            <a:avLst/>
          </a:prstGeom>
        </p:spPr>
        <p:txBody>
          <a:bodyPr/>
          <a:lstStyle/>
          <a:p>
            <a:pPr algn="ctr"/>
            <a:r>
              <a:rPr lang="en-US" sz="1400" dirty="0">
                <a:solidFill>
                  <a:srgbClr val="5B9BD5"/>
                </a:solidFill>
              </a:rPr>
              <a:t>[ GitHub Archive ] → [ Airflow DAG ] → [ </a:t>
            </a:r>
            <a:r>
              <a:rPr lang="en-US" sz="1400" dirty="0" err="1">
                <a:solidFill>
                  <a:srgbClr val="5B9BD5"/>
                </a:solidFill>
              </a:rPr>
              <a:t>MinIO</a:t>
            </a:r>
            <a:r>
              <a:rPr lang="en-US" sz="1400" dirty="0">
                <a:solidFill>
                  <a:srgbClr val="5B9BD5"/>
                </a:solidFill>
              </a:rPr>
              <a:t> Raw ] → [ Spark/Hudi ] → [ </a:t>
            </a:r>
            <a:r>
              <a:rPr lang="en-US" sz="1400" dirty="0" err="1">
                <a:solidFill>
                  <a:srgbClr val="5B9BD5"/>
                </a:solidFill>
              </a:rPr>
              <a:t>MinIO</a:t>
            </a:r>
            <a:r>
              <a:rPr lang="en-US" sz="1400" dirty="0">
                <a:solidFill>
                  <a:srgbClr val="5B9BD5"/>
                </a:solidFill>
              </a:rPr>
              <a:t> Hudi Tables ] → [ Presto ] → [ Superset ]</a:t>
            </a:r>
          </a:p>
        </p:txBody>
      </p:sp>
      <p:grpSp>
        <p:nvGrpSpPr>
          <p:cNvPr id="2" name="Group 1">
            <a:extLst>
              <a:ext uri="{FF2B5EF4-FFF2-40B4-BE49-F238E27FC236}">
                <a16:creationId xmlns:a16="http://schemas.microsoft.com/office/drawing/2014/main" id="{4BDF20D6-E976-5E57-4485-7BA6DFD0A912}"/>
              </a:ext>
            </a:extLst>
          </p:cNvPr>
          <p:cNvGrpSpPr/>
          <p:nvPr/>
        </p:nvGrpSpPr>
        <p:grpSpPr>
          <a:xfrm>
            <a:off x="1091686" y="1550840"/>
            <a:ext cx="1512000" cy="2340000"/>
            <a:chOff x="620624" y="1440000"/>
            <a:chExt cx="1512000" cy="2340000"/>
          </a:xfrm>
        </p:grpSpPr>
        <p:sp>
          <p:nvSpPr>
            <p:cNvPr id="100064" name="Step1"/>
            <p:cNvSpPr txBox="1"/>
            <p:nvPr/>
          </p:nvSpPr>
          <p:spPr>
            <a:xfrm>
              <a:off x="620624" y="1440000"/>
              <a:ext cx="1512000" cy="1800000"/>
            </a:xfrm>
            <a:prstGeom prst="rect">
              <a:avLst/>
            </a:prstGeom>
            <a:solidFill>
              <a:srgbClr val="1A3A5C"/>
            </a:solidFill>
          </p:spPr>
          <p:txBody>
            <a:bodyPr/>
            <a:lstStyle/>
            <a:p>
              <a:pPr algn="ctr"/>
              <a:r>
                <a:rPr lang="en-US" sz="1300" b="0" dirty="0">
                  <a:solidFill>
                    <a:srgbClr val="FFFFFF"/>
                  </a:solidFill>
                </a:rPr>
                <a:t>1. GitHub Archive</a:t>
              </a:r>
            </a:p>
          </p:txBody>
        </p:sp>
        <p:sp>
          <p:nvSpPr>
            <p:cNvPr id="100065" name="Step1d"/>
            <p:cNvSpPr txBox="1"/>
            <p:nvPr/>
          </p:nvSpPr>
          <p:spPr>
            <a:xfrm>
              <a:off x="620624" y="1980000"/>
              <a:ext cx="1512000" cy="1800000"/>
            </a:xfrm>
            <a:prstGeom prst="rect">
              <a:avLst/>
            </a:prstGeom>
          </p:spPr>
          <p:txBody>
            <a:bodyPr/>
            <a:lstStyle/>
            <a:p>
              <a:pPr algn="ctr"/>
              <a:r>
                <a:rPr lang="en-US" sz="1200" dirty="0" err="1">
                  <a:solidFill>
                    <a:srgbClr val="D0E4F7"/>
                  </a:solidFill>
                </a:rPr>
                <a:t>data.gharchive.org</a:t>
              </a:r>
              <a:endParaRPr lang="en-US" sz="1200" dirty="0">
                <a:solidFill>
                  <a:srgbClr val="D0E4F7"/>
                </a:solidFill>
              </a:endParaRPr>
            </a:p>
            <a:p>
              <a:pPr algn="ctr"/>
              <a:endParaRPr lang="en-US" sz="1200" dirty="0">
                <a:solidFill>
                  <a:srgbClr val="D0E4F7"/>
                </a:solidFill>
              </a:endParaRPr>
            </a:p>
            <a:p>
              <a:pPr algn="ctr"/>
              <a:r>
                <a:rPr lang="en-US" sz="1200" dirty="0">
                  <a:solidFill>
                    <a:srgbClr val="D0E4F7"/>
                  </a:solidFill>
                </a:rPr>
                <a:t>Public event firehose</a:t>
              </a:r>
            </a:p>
            <a:p>
              <a:pPr algn="ctr"/>
              <a:r>
                <a:rPr lang="en-US" sz="1200" dirty="0">
                  <a:solidFill>
                    <a:srgbClr val="D0E4F7"/>
                  </a:solidFill>
                </a:rPr>
                <a:t>24 x hourly .</a:t>
              </a:r>
              <a:r>
                <a:rPr lang="en-US" sz="1200" dirty="0" err="1">
                  <a:solidFill>
                    <a:srgbClr val="D0E4F7"/>
                  </a:solidFill>
                </a:rPr>
                <a:t>json.gz</a:t>
              </a:r>
              <a:endParaRPr lang="en-US" sz="1200" dirty="0">
                <a:solidFill>
                  <a:srgbClr val="D0E4F7"/>
                </a:solidFill>
              </a:endParaRPr>
            </a:p>
            <a:p>
              <a:pPr algn="ctr"/>
              <a:r>
                <a:rPr lang="en-US" sz="1200" dirty="0">
                  <a:solidFill>
                    <a:srgbClr val="D0E4F7"/>
                  </a:solidFill>
                </a:rPr>
                <a:t>~1.7M events/day</a:t>
              </a:r>
            </a:p>
          </p:txBody>
        </p:sp>
      </p:grpSp>
      <p:sp>
        <p:nvSpPr>
          <p:cNvPr id="100066" name="Arrow1"/>
          <p:cNvSpPr txBox="1"/>
          <p:nvPr/>
        </p:nvSpPr>
        <p:spPr>
          <a:xfrm>
            <a:off x="2675686" y="2270840"/>
            <a:ext cx="360000" cy="360000"/>
          </a:xfrm>
          <a:prstGeom prst="rect">
            <a:avLst/>
          </a:prstGeom>
        </p:spPr>
        <p:txBody>
          <a:bodyPr/>
          <a:lstStyle/>
          <a:p>
            <a:pPr algn="ctr"/>
            <a:r>
              <a:rPr lang="en-US" sz="2400" b="1">
                <a:solidFill>
                  <a:srgbClr val="5B9BD5"/>
                </a:solidFill>
              </a:rPr>
              <a:t>→</a:t>
            </a:r>
          </a:p>
        </p:txBody>
      </p:sp>
      <p:grpSp>
        <p:nvGrpSpPr>
          <p:cNvPr id="3" name="Group 2">
            <a:extLst>
              <a:ext uri="{FF2B5EF4-FFF2-40B4-BE49-F238E27FC236}">
                <a16:creationId xmlns:a16="http://schemas.microsoft.com/office/drawing/2014/main" id="{02FE7240-050F-160F-F662-B8E416BDC57C}"/>
              </a:ext>
            </a:extLst>
          </p:cNvPr>
          <p:cNvGrpSpPr/>
          <p:nvPr/>
        </p:nvGrpSpPr>
        <p:grpSpPr>
          <a:xfrm>
            <a:off x="3107686" y="1550840"/>
            <a:ext cx="1512000" cy="2340000"/>
            <a:chOff x="2636624" y="1440000"/>
            <a:chExt cx="1512000" cy="2340000"/>
          </a:xfrm>
        </p:grpSpPr>
        <p:sp>
          <p:nvSpPr>
            <p:cNvPr id="100067" name="Step2"/>
            <p:cNvSpPr txBox="1"/>
            <p:nvPr/>
          </p:nvSpPr>
          <p:spPr>
            <a:xfrm>
              <a:off x="2636624" y="1440000"/>
              <a:ext cx="1512000" cy="1800000"/>
            </a:xfrm>
            <a:prstGeom prst="rect">
              <a:avLst/>
            </a:prstGeom>
            <a:solidFill>
              <a:srgbClr val="1A3A5C"/>
            </a:solidFill>
          </p:spPr>
          <p:txBody>
            <a:bodyPr/>
            <a:lstStyle/>
            <a:p>
              <a:pPr algn="ctr"/>
              <a:r>
                <a:rPr lang="en-US" sz="1300" b="0">
                  <a:solidFill>
                    <a:srgbClr val="FFFFFF"/>
                  </a:solidFill>
                </a:rPr>
                <a:t>2. Airflow DAG</a:t>
              </a:r>
            </a:p>
            <a:p>
              <a:pPr algn="ctr"/>
              <a:r>
                <a:rPr lang="en-US" sz="1300" b="0">
                  <a:solidFill>
                    <a:srgbClr val="FFFFFF"/>
                  </a:solidFill>
                </a:rPr>
                <a:t>Task 1</a:t>
              </a:r>
            </a:p>
          </p:txBody>
        </p:sp>
        <p:sp>
          <p:nvSpPr>
            <p:cNvPr id="100068" name="Step2d"/>
            <p:cNvSpPr txBox="1"/>
            <p:nvPr/>
          </p:nvSpPr>
          <p:spPr>
            <a:xfrm>
              <a:off x="2636624" y="1980000"/>
              <a:ext cx="1512000" cy="1800000"/>
            </a:xfrm>
            <a:prstGeom prst="rect">
              <a:avLst/>
            </a:prstGeom>
          </p:spPr>
          <p:txBody>
            <a:bodyPr/>
            <a:lstStyle/>
            <a:p>
              <a:pPr algn="ctr"/>
              <a:r>
                <a:rPr lang="en-US" sz="1100" dirty="0" err="1">
                  <a:solidFill>
                    <a:srgbClr val="D0E4F7"/>
                  </a:solidFill>
                </a:rPr>
                <a:t>download_and_upload_raw_data</a:t>
              </a:r>
              <a:endParaRPr lang="en-US" sz="1100" dirty="0">
                <a:solidFill>
                  <a:srgbClr val="D0E4F7"/>
                </a:solidFill>
              </a:endParaRPr>
            </a:p>
            <a:p>
              <a:pPr algn="ctr"/>
              <a:endParaRPr lang="en-US" sz="1100" dirty="0">
                <a:solidFill>
                  <a:srgbClr val="D0E4F7"/>
                </a:solidFill>
              </a:endParaRPr>
            </a:p>
            <a:p>
              <a:pPr algn="ctr"/>
              <a:r>
                <a:rPr lang="en-US" sz="1100" dirty="0">
                  <a:solidFill>
                    <a:srgbClr val="D0E4F7"/>
                  </a:solidFill>
                </a:rPr>
                <a:t>Streams archives</a:t>
              </a:r>
            </a:p>
            <a:p>
              <a:pPr algn="ctr"/>
              <a:r>
                <a:rPr lang="en-US" sz="1100" dirty="0">
                  <a:solidFill>
                    <a:srgbClr val="D0E4F7"/>
                  </a:solidFill>
                </a:rPr>
                <a:t>Validates &gt; 1KB</a:t>
              </a:r>
            </a:p>
            <a:p>
              <a:pPr algn="ctr"/>
              <a:r>
                <a:rPr lang="en-US" sz="1100" dirty="0">
                  <a:solidFill>
                    <a:srgbClr val="D0E4F7"/>
                  </a:solidFill>
                </a:rPr>
                <a:t>Uploads to </a:t>
              </a:r>
              <a:r>
                <a:rPr lang="en-US" sz="1100" dirty="0" err="1">
                  <a:solidFill>
                    <a:srgbClr val="D0E4F7"/>
                  </a:solidFill>
                </a:rPr>
                <a:t>MinIO</a:t>
              </a:r>
              <a:endParaRPr lang="en-US" sz="1100" dirty="0">
                <a:solidFill>
                  <a:srgbClr val="D0E4F7"/>
                </a:solidFill>
              </a:endParaRPr>
            </a:p>
            <a:p>
              <a:pPr algn="ctr"/>
              <a:r>
                <a:rPr lang="en-US" sz="1100" dirty="0" err="1">
                  <a:solidFill>
                    <a:srgbClr val="D0E4F7"/>
                  </a:solidFill>
                </a:rPr>
                <a:t>github</a:t>
              </a:r>
              <a:r>
                <a:rPr lang="en-US" sz="1100" dirty="0">
                  <a:solidFill>
                    <a:srgbClr val="D0E4F7"/>
                  </a:solidFill>
                </a:rPr>
                <a:t>-raw/</a:t>
              </a:r>
            </a:p>
          </p:txBody>
        </p:sp>
      </p:grpSp>
      <p:sp>
        <p:nvSpPr>
          <p:cNvPr id="100069" name="Arrow2"/>
          <p:cNvSpPr txBox="1"/>
          <p:nvPr/>
        </p:nvSpPr>
        <p:spPr>
          <a:xfrm>
            <a:off x="4691686" y="2270840"/>
            <a:ext cx="360000" cy="360000"/>
          </a:xfrm>
          <a:prstGeom prst="rect">
            <a:avLst/>
          </a:prstGeom>
        </p:spPr>
        <p:txBody>
          <a:bodyPr/>
          <a:lstStyle/>
          <a:p>
            <a:pPr algn="ctr"/>
            <a:r>
              <a:rPr lang="en-US" sz="2400" b="1">
                <a:solidFill>
                  <a:srgbClr val="5B9BD5"/>
                </a:solidFill>
              </a:rPr>
              <a:t>→</a:t>
            </a:r>
          </a:p>
        </p:txBody>
      </p:sp>
      <p:grpSp>
        <p:nvGrpSpPr>
          <p:cNvPr id="4" name="Group 3">
            <a:extLst>
              <a:ext uri="{FF2B5EF4-FFF2-40B4-BE49-F238E27FC236}">
                <a16:creationId xmlns:a16="http://schemas.microsoft.com/office/drawing/2014/main" id="{85E376EF-EE17-2719-9392-C6F3A62A60EF}"/>
              </a:ext>
            </a:extLst>
          </p:cNvPr>
          <p:cNvGrpSpPr/>
          <p:nvPr/>
        </p:nvGrpSpPr>
        <p:grpSpPr>
          <a:xfrm>
            <a:off x="5115062" y="1550840"/>
            <a:ext cx="1700624" cy="2358000"/>
            <a:chOff x="4644000" y="1440000"/>
            <a:chExt cx="1700624" cy="2358000"/>
          </a:xfrm>
        </p:grpSpPr>
        <p:sp>
          <p:nvSpPr>
            <p:cNvPr id="100070" name="Step3"/>
            <p:cNvSpPr txBox="1"/>
            <p:nvPr/>
          </p:nvSpPr>
          <p:spPr>
            <a:xfrm>
              <a:off x="4652624" y="1440000"/>
              <a:ext cx="1692000" cy="1800000"/>
            </a:xfrm>
            <a:prstGeom prst="rect">
              <a:avLst/>
            </a:prstGeom>
            <a:solidFill>
              <a:srgbClr val="1A3A5C"/>
            </a:solidFill>
          </p:spPr>
          <p:txBody>
            <a:bodyPr/>
            <a:lstStyle/>
            <a:p>
              <a:pPr algn="ctr"/>
              <a:r>
                <a:rPr lang="en-US" sz="1300" b="0">
                  <a:solidFill>
                    <a:srgbClr val="FFFFFF"/>
                  </a:solidFill>
                </a:rPr>
                <a:t>3. Airflow DAG</a:t>
              </a:r>
            </a:p>
            <a:p>
              <a:pPr algn="ctr"/>
              <a:r>
                <a:rPr lang="en-US" sz="1300" b="0">
                  <a:solidFill>
                    <a:srgbClr val="FFFFFF"/>
                  </a:solidFill>
                </a:rPr>
                <a:t>Task 2</a:t>
              </a:r>
            </a:p>
          </p:txBody>
        </p:sp>
        <p:sp>
          <p:nvSpPr>
            <p:cNvPr id="100071" name="Step3d"/>
            <p:cNvSpPr txBox="1"/>
            <p:nvPr/>
          </p:nvSpPr>
          <p:spPr>
            <a:xfrm>
              <a:off x="4644000" y="1998000"/>
              <a:ext cx="1692000" cy="1800000"/>
            </a:xfrm>
            <a:prstGeom prst="rect">
              <a:avLst/>
            </a:prstGeom>
          </p:spPr>
          <p:txBody>
            <a:bodyPr/>
            <a:lstStyle/>
            <a:p>
              <a:pPr algn="ctr"/>
              <a:r>
                <a:rPr lang="en-US" sz="1100" dirty="0" err="1">
                  <a:solidFill>
                    <a:srgbClr val="D0E4F7"/>
                  </a:solidFill>
                </a:rPr>
                <a:t>trigger_hudi_ingestion</a:t>
              </a:r>
              <a:endParaRPr lang="en-US" sz="1100" dirty="0">
                <a:solidFill>
                  <a:srgbClr val="D0E4F7"/>
                </a:solidFill>
              </a:endParaRPr>
            </a:p>
            <a:p>
              <a:pPr algn="ctr"/>
              <a:endParaRPr lang="en-US" sz="1100" dirty="0">
                <a:solidFill>
                  <a:srgbClr val="D0E4F7"/>
                </a:solidFill>
              </a:endParaRPr>
            </a:p>
            <a:p>
              <a:pPr algn="ctr"/>
              <a:r>
                <a:rPr lang="en-US" sz="1100" dirty="0">
                  <a:solidFill>
                    <a:srgbClr val="D0E4F7"/>
                  </a:solidFill>
                </a:rPr>
                <a:t>Spark </a:t>
              </a:r>
              <a:r>
                <a:rPr lang="en-US" sz="1100" dirty="0" err="1">
                  <a:solidFill>
                    <a:srgbClr val="D0E4F7"/>
                  </a:solidFill>
                </a:rPr>
                <a:t>HoodieStreamer</a:t>
              </a:r>
              <a:endParaRPr lang="en-US" sz="1100" dirty="0">
                <a:solidFill>
                  <a:srgbClr val="D0E4F7"/>
                </a:solidFill>
              </a:endParaRPr>
            </a:p>
            <a:p>
              <a:pPr algn="ctr"/>
              <a:r>
                <a:rPr lang="en-US" sz="1100" dirty="0">
                  <a:solidFill>
                    <a:srgbClr val="D0E4F7"/>
                  </a:solidFill>
                </a:rPr>
                <a:t>local[4] 6GB</a:t>
              </a:r>
            </a:p>
            <a:p>
              <a:pPr algn="ctr"/>
              <a:r>
                <a:rPr lang="en-US" sz="1100" dirty="0">
                  <a:solidFill>
                    <a:srgbClr val="D0E4F7"/>
                  </a:solidFill>
                </a:rPr>
                <a:t>Copy-on-Write</a:t>
              </a:r>
            </a:p>
            <a:p>
              <a:pPr algn="ctr"/>
              <a:r>
                <a:rPr lang="en-US" sz="1100" dirty="0">
                  <a:solidFill>
                    <a:srgbClr val="D0E4F7"/>
                  </a:solidFill>
                </a:rPr>
                <a:t>Hive sync</a:t>
              </a:r>
            </a:p>
          </p:txBody>
        </p:sp>
      </p:grpSp>
      <p:sp>
        <p:nvSpPr>
          <p:cNvPr id="100072" name="Arrow3"/>
          <p:cNvSpPr txBox="1"/>
          <p:nvPr/>
        </p:nvSpPr>
        <p:spPr>
          <a:xfrm>
            <a:off x="6887686" y="2270840"/>
            <a:ext cx="360000" cy="360000"/>
          </a:xfrm>
          <a:prstGeom prst="rect">
            <a:avLst/>
          </a:prstGeom>
        </p:spPr>
        <p:txBody>
          <a:bodyPr/>
          <a:lstStyle/>
          <a:p>
            <a:pPr algn="ctr"/>
            <a:r>
              <a:rPr lang="en-US" sz="2400" b="1">
                <a:solidFill>
                  <a:srgbClr val="5B9BD5"/>
                </a:solidFill>
              </a:rPr>
              <a:t>→</a:t>
            </a:r>
          </a:p>
        </p:txBody>
      </p:sp>
      <p:grpSp>
        <p:nvGrpSpPr>
          <p:cNvPr id="5" name="Group 4">
            <a:extLst>
              <a:ext uri="{FF2B5EF4-FFF2-40B4-BE49-F238E27FC236}">
                <a16:creationId xmlns:a16="http://schemas.microsoft.com/office/drawing/2014/main" id="{5553C892-AF8B-771F-0118-01CB5CACF563}"/>
              </a:ext>
            </a:extLst>
          </p:cNvPr>
          <p:cNvGrpSpPr/>
          <p:nvPr/>
        </p:nvGrpSpPr>
        <p:grpSpPr>
          <a:xfrm>
            <a:off x="7319686" y="1550840"/>
            <a:ext cx="1620000" cy="2340000"/>
            <a:chOff x="6848624" y="1440000"/>
            <a:chExt cx="1620000" cy="2340000"/>
          </a:xfrm>
        </p:grpSpPr>
        <p:sp>
          <p:nvSpPr>
            <p:cNvPr id="100073" name="Step4"/>
            <p:cNvSpPr txBox="1"/>
            <p:nvPr/>
          </p:nvSpPr>
          <p:spPr>
            <a:xfrm>
              <a:off x="6848624" y="1440000"/>
              <a:ext cx="1620000" cy="1800000"/>
            </a:xfrm>
            <a:prstGeom prst="rect">
              <a:avLst/>
            </a:prstGeom>
            <a:solidFill>
              <a:srgbClr val="1A3A5C"/>
            </a:solidFill>
          </p:spPr>
          <p:txBody>
            <a:bodyPr/>
            <a:lstStyle/>
            <a:p>
              <a:pPr algn="ctr"/>
              <a:r>
                <a:rPr lang="en-US" sz="1300" b="0">
                  <a:solidFill>
                    <a:srgbClr val="FFFFFF"/>
                  </a:solidFill>
                </a:rPr>
                <a:t>4. Hudi Tables</a:t>
              </a:r>
            </a:p>
            <a:p>
              <a:pPr algn="ctr"/>
              <a:r>
                <a:rPr lang="en-US" sz="1300" b="0">
                  <a:solidFill>
                    <a:srgbClr val="FFFFFF"/>
                  </a:solidFill>
                </a:rPr>
                <a:t>on MinIO</a:t>
              </a:r>
            </a:p>
          </p:txBody>
        </p:sp>
        <p:sp>
          <p:nvSpPr>
            <p:cNvPr id="100074" name="Step4d"/>
            <p:cNvSpPr txBox="1"/>
            <p:nvPr/>
          </p:nvSpPr>
          <p:spPr>
            <a:xfrm>
              <a:off x="6848624" y="1980000"/>
              <a:ext cx="1620000" cy="1800000"/>
            </a:xfrm>
            <a:prstGeom prst="rect">
              <a:avLst/>
            </a:prstGeom>
          </p:spPr>
          <p:txBody>
            <a:bodyPr/>
            <a:lstStyle/>
            <a:p>
              <a:pPr algn="ctr"/>
              <a:r>
                <a:rPr lang="en-US" sz="1100" dirty="0">
                  <a:solidFill>
                    <a:srgbClr val="D0E4F7"/>
                  </a:solidFill>
                </a:rPr>
                <a:t>Parquet files +</a:t>
              </a:r>
            </a:p>
            <a:p>
              <a:pPr algn="ctr"/>
              <a:r>
                <a:rPr lang="en-US" sz="1100" dirty="0">
                  <a:solidFill>
                    <a:srgbClr val="D0E4F7"/>
                  </a:solidFill>
                </a:rPr>
                <a:t>.hoodie/ timeline</a:t>
              </a:r>
            </a:p>
            <a:p>
              <a:pPr algn="ctr"/>
              <a:r>
                <a:rPr lang="en-US" sz="1100" dirty="0">
                  <a:solidFill>
                    <a:srgbClr val="D0E4F7"/>
                  </a:solidFill>
                </a:rPr>
                <a:t>Partitioned by type=</a:t>
              </a:r>
            </a:p>
            <a:p>
              <a:pPr algn="ctr"/>
              <a:r>
                <a:rPr lang="en-US" sz="1100" dirty="0">
                  <a:solidFill>
                    <a:srgbClr val="D0E4F7"/>
                  </a:solidFill>
                </a:rPr>
                <a:t>Schemas in </a:t>
              </a:r>
              <a:r>
                <a:rPr lang="en-US" sz="1100" dirty="0" err="1">
                  <a:solidFill>
                    <a:srgbClr val="D0E4F7"/>
                  </a:solidFill>
                </a:rPr>
                <a:t>Metastore</a:t>
              </a:r>
              <a:endParaRPr lang="en-US" sz="1100" dirty="0">
                <a:solidFill>
                  <a:srgbClr val="D0E4F7"/>
                </a:solidFill>
              </a:endParaRPr>
            </a:p>
          </p:txBody>
        </p:sp>
      </p:grpSp>
      <p:sp>
        <p:nvSpPr>
          <p:cNvPr id="100075" name="Arrow4"/>
          <p:cNvSpPr txBox="1"/>
          <p:nvPr/>
        </p:nvSpPr>
        <p:spPr>
          <a:xfrm>
            <a:off x="9011686" y="2270840"/>
            <a:ext cx="360000" cy="360000"/>
          </a:xfrm>
          <a:prstGeom prst="rect">
            <a:avLst/>
          </a:prstGeom>
        </p:spPr>
        <p:txBody>
          <a:bodyPr/>
          <a:lstStyle/>
          <a:p>
            <a:pPr algn="ctr"/>
            <a:r>
              <a:rPr lang="en-US" sz="2400" b="1">
                <a:solidFill>
                  <a:srgbClr val="5B9BD5"/>
                </a:solidFill>
              </a:rPr>
              <a:t>→</a:t>
            </a:r>
          </a:p>
        </p:txBody>
      </p:sp>
      <p:grpSp>
        <p:nvGrpSpPr>
          <p:cNvPr id="6" name="Group 5">
            <a:extLst>
              <a:ext uri="{FF2B5EF4-FFF2-40B4-BE49-F238E27FC236}">
                <a16:creationId xmlns:a16="http://schemas.microsoft.com/office/drawing/2014/main" id="{A5BBC93D-47EE-B823-E534-B213B94D498D}"/>
              </a:ext>
            </a:extLst>
          </p:cNvPr>
          <p:cNvGrpSpPr/>
          <p:nvPr/>
        </p:nvGrpSpPr>
        <p:grpSpPr>
          <a:xfrm>
            <a:off x="8939686" y="1550840"/>
            <a:ext cx="2520000" cy="2358000"/>
            <a:chOff x="8819673" y="1440000"/>
            <a:chExt cx="2520000" cy="2358000"/>
          </a:xfrm>
        </p:grpSpPr>
        <p:sp>
          <p:nvSpPr>
            <p:cNvPr id="100076" name="Step5"/>
            <p:cNvSpPr txBox="1"/>
            <p:nvPr/>
          </p:nvSpPr>
          <p:spPr>
            <a:xfrm>
              <a:off x="9269673" y="1440000"/>
              <a:ext cx="1620000" cy="1800000"/>
            </a:xfrm>
            <a:prstGeom prst="rect">
              <a:avLst/>
            </a:prstGeom>
            <a:solidFill>
              <a:srgbClr val="1A3A5C"/>
            </a:solidFill>
          </p:spPr>
          <p:txBody>
            <a:bodyPr/>
            <a:lstStyle/>
            <a:p>
              <a:pPr algn="ctr"/>
              <a:r>
                <a:rPr lang="en-US" sz="1300" b="0">
                  <a:solidFill>
                    <a:srgbClr val="FFFFFF"/>
                  </a:solidFill>
                </a:rPr>
                <a:t>5. Presto +</a:t>
              </a:r>
            </a:p>
            <a:p>
              <a:pPr algn="ctr"/>
              <a:r>
                <a:rPr lang="en-US" sz="1300" b="0">
                  <a:solidFill>
                    <a:srgbClr val="FFFFFF"/>
                  </a:solidFill>
                </a:rPr>
                <a:t>Superset</a:t>
              </a:r>
            </a:p>
          </p:txBody>
        </p:sp>
        <p:sp>
          <p:nvSpPr>
            <p:cNvPr id="100077" name="Step5d"/>
            <p:cNvSpPr txBox="1"/>
            <p:nvPr/>
          </p:nvSpPr>
          <p:spPr>
            <a:xfrm>
              <a:off x="8819673" y="1998000"/>
              <a:ext cx="2520000" cy="1800000"/>
            </a:xfrm>
            <a:prstGeom prst="rect">
              <a:avLst/>
            </a:prstGeom>
          </p:spPr>
          <p:txBody>
            <a:bodyPr/>
            <a:lstStyle/>
            <a:p>
              <a:pPr algn="ctr"/>
              <a:r>
                <a:rPr lang="en-US" sz="1200" dirty="0">
                  <a:solidFill>
                    <a:srgbClr val="D0E4F7"/>
                  </a:solidFill>
                </a:rPr>
                <a:t>Distributed SQL</a:t>
              </a:r>
            </a:p>
            <a:p>
              <a:pPr algn="ctr"/>
              <a:r>
                <a:rPr lang="en-US" sz="1200" dirty="0">
                  <a:solidFill>
                    <a:srgbClr val="D0E4F7"/>
                  </a:solidFill>
                </a:rPr>
                <a:t>Partition pruning</a:t>
              </a:r>
            </a:p>
            <a:p>
              <a:pPr algn="ctr"/>
              <a:r>
                <a:rPr lang="en-US" sz="1200" dirty="0">
                  <a:solidFill>
                    <a:srgbClr val="D0E4F7"/>
                  </a:solidFill>
                </a:rPr>
                <a:t>15-chart dashboard</a:t>
              </a:r>
            </a:p>
            <a:p>
              <a:pPr algn="ctr"/>
              <a:r>
                <a:rPr lang="en-US" sz="1200" dirty="0">
                  <a:solidFill>
                    <a:srgbClr val="D0E4F7"/>
                  </a:solidFill>
                </a:rPr>
                <a:t>Virtual dataset</a:t>
              </a:r>
            </a:p>
          </p:txBody>
        </p:sp>
      </p:grpSp>
      <p:sp>
        <p:nvSpPr>
          <p:cNvPr id="100078" name="TaskLabel"/>
          <p:cNvSpPr txBox="1"/>
          <p:nvPr/>
        </p:nvSpPr>
        <p:spPr>
          <a:xfrm>
            <a:off x="540000" y="4227161"/>
            <a:ext cx="10800000" cy="540000"/>
          </a:xfrm>
          <a:prstGeom prst="rect">
            <a:avLst/>
          </a:prstGeom>
          <a:solidFill>
            <a:srgbClr val="1A1A00"/>
          </a:solidFill>
        </p:spPr>
        <p:txBody>
          <a:bodyPr/>
          <a:lstStyle/>
          <a:p>
            <a:pPr algn="ctr"/>
            <a:r>
              <a:rPr lang="en-US" sz="1400" dirty="0">
                <a:solidFill>
                  <a:srgbClr val="F0C040"/>
                </a:solidFill>
              </a:rPr>
              <a:t>Task 3: </a:t>
            </a:r>
            <a:r>
              <a:rPr lang="en-US" sz="1400" dirty="0" err="1">
                <a:solidFill>
                  <a:srgbClr val="F0C040"/>
                </a:solidFill>
              </a:rPr>
              <a:t>run_data_quality_assertions</a:t>
            </a:r>
            <a:r>
              <a:rPr lang="en-US" sz="1400" dirty="0">
                <a:solidFill>
                  <a:srgbClr val="F0C040"/>
                </a:solidFill>
              </a:rPr>
              <a:t> — 5 SQL checks scoped to the latest commit (volume, PK, deduplication, freshness, partition diversity)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223" name="Title"/>
          <p:cNvSpPr txBox="1"/>
          <p:nvPr/>
        </p:nvSpPr>
        <p:spPr>
          <a:xfrm>
            <a:off x="540000" y="288000"/>
            <a:ext cx="10800000" cy="540000"/>
          </a:xfrm>
          <a:prstGeom prst="rect">
            <a:avLst/>
          </a:prstGeom>
        </p:spPr>
        <p:txBody>
          <a:bodyPr/>
          <a:lstStyle/>
          <a:p>
            <a:r>
              <a:rPr lang="en-US" sz="3000" b="1">
                <a:solidFill>
                  <a:srgbClr val="FFFFFF"/>
                </a:solidFill>
              </a:rPr>
              <a:t>How HoodieStreamer Works on Apache Spark</a:t>
            </a:r>
          </a:p>
        </p:txBody>
      </p:sp>
      <p:sp>
        <p:nvSpPr>
          <p:cNvPr id="100224" name="WhatIs"/>
          <p:cNvSpPr txBox="1"/>
          <p:nvPr/>
        </p:nvSpPr>
        <p:spPr>
          <a:xfrm>
            <a:off x="540000" y="900000"/>
            <a:ext cx="10800000" cy="540000"/>
          </a:xfrm>
          <a:prstGeom prst="rect">
            <a:avLst/>
          </a:prstGeom>
          <a:solidFill>
            <a:srgbClr val="1A3050"/>
          </a:solidFill>
        </p:spPr>
        <p:txBody>
          <a:bodyPr/>
          <a:lstStyle/>
          <a:p>
            <a:r>
              <a:rPr lang="en-US" sz="1600">
                <a:solidFill>
                  <a:srgbClr val="A8C6E8"/>
                </a:solidFill>
              </a:rPr>
              <a:t>HoodieStreamer (formerly DeltaStreamer) is a Hudi utility that runs as a long-lived or one-shot Spark job. It reads from a source, applies the Avro schema, deduplicates, and writes ACID-transactional Hudi tables — all in one spark-submit command.</a:t>
            </a:r>
          </a:p>
        </p:txBody>
      </p:sp>
      <p:sp>
        <p:nvSpPr>
          <p:cNvPr id="100225" name="FlowLabel"/>
          <p:cNvSpPr txBox="1"/>
          <p:nvPr/>
        </p:nvSpPr>
        <p:spPr>
          <a:xfrm>
            <a:off x="540000" y="1584000"/>
            <a:ext cx="10800000" cy="252000"/>
          </a:xfrm>
          <a:prstGeom prst="rect">
            <a:avLst/>
          </a:prstGeom>
        </p:spPr>
        <p:txBody>
          <a:bodyPr/>
          <a:lstStyle/>
          <a:p>
            <a:r>
              <a:rPr lang="en-US" sz="1700" b="1">
                <a:solidFill>
                  <a:srgbClr val="5B9BD5"/>
                </a:solidFill>
              </a:rPr>
              <a:t>What happens inside a single HoodieStreamer run:</a:t>
            </a:r>
          </a:p>
        </p:txBody>
      </p:sp>
      <p:sp>
        <p:nvSpPr>
          <p:cNvPr id="100226" name="S1Box"/>
          <p:cNvSpPr txBox="1"/>
          <p:nvPr/>
        </p:nvSpPr>
        <p:spPr>
          <a:xfrm>
            <a:off x="540223" y="2013274"/>
            <a:ext cx="1800000" cy="720000"/>
          </a:xfrm>
          <a:prstGeom prst="rect">
            <a:avLst/>
          </a:prstGeom>
          <a:solidFill>
            <a:srgbClr val="1A4B7A"/>
          </a:solidFill>
        </p:spPr>
        <p:txBody>
          <a:bodyPr/>
          <a:lstStyle/>
          <a:p>
            <a:pPr algn="ctr"/>
            <a:r>
              <a:rPr lang="en-US" sz="1600" b="1" dirty="0">
                <a:solidFill>
                  <a:srgbClr val="FFFFFF"/>
                </a:solidFill>
              </a:rPr>
              <a:t>1</a:t>
            </a:r>
          </a:p>
          <a:p>
            <a:pPr algn="ctr"/>
            <a:r>
              <a:rPr lang="en-US" sz="1600" b="1" dirty="0">
                <a:solidFill>
                  <a:srgbClr val="FFFFFF"/>
                </a:solidFill>
              </a:rPr>
              <a:t>Read Source</a:t>
            </a:r>
          </a:p>
        </p:txBody>
      </p:sp>
      <p:sp>
        <p:nvSpPr>
          <p:cNvPr id="100227" name="S1D"/>
          <p:cNvSpPr txBox="1"/>
          <p:nvPr/>
        </p:nvSpPr>
        <p:spPr>
          <a:xfrm>
            <a:off x="540223" y="2769274"/>
            <a:ext cx="1800000" cy="720000"/>
          </a:xfrm>
          <a:prstGeom prst="rect">
            <a:avLst/>
          </a:prstGeom>
        </p:spPr>
        <p:txBody>
          <a:bodyPr/>
          <a:lstStyle/>
          <a:p>
            <a:r>
              <a:rPr lang="en-US" sz="1200">
                <a:solidFill>
                  <a:srgbClr val="D0E4F7"/>
                </a:solidFill>
              </a:rPr>
              <a:t>JsonDFSSource reads all .json.gz files from s3a://github-raw-data/github-raw/ into a Spark DataFrame</a:t>
            </a:r>
          </a:p>
        </p:txBody>
      </p:sp>
      <p:sp>
        <p:nvSpPr>
          <p:cNvPr id="100228" name="Ar1"/>
          <p:cNvSpPr txBox="1"/>
          <p:nvPr/>
        </p:nvSpPr>
        <p:spPr>
          <a:xfrm>
            <a:off x="2412223" y="2265274"/>
            <a:ext cx="360000" cy="288000"/>
          </a:xfrm>
          <a:prstGeom prst="rect">
            <a:avLst/>
          </a:prstGeom>
        </p:spPr>
        <p:txBody>
          <a:bodyPr/>
          <a:lstStyle/>
          <a:p>
            <a:pPr algn="ctr"/>
            <a:r>
              <a:rPr lang="en-US" sz="2200" b="1">
                <a:solidFill>
                  <a:srgbClr val="5B9BD5"/>
                </a:solidFill>
              </a:rPr>
              <a:t>→</a:t>
            </a:r>
          </a:p>
        </p:txBody>
      </p:sp>
      <p:sp>
        <p:nvSpPr>
          <p:cNvPr id="100229" name="S2Box"/>
          <p:cNvSpPr txBox="1"/>
          <p:nvPr/>
        </p:nvSpPr>
        <p:spPr>
          <a:xfrm>
            <a:off x="2844223" y="2013274"/>
            <a:ext cx="1800000" cy="720000"/>
          </a:xfrm>
          <a:prstGeom prst="rect">
            <a:avLst/>
          </a:prstGeom>
          <a:solidFill>
            <a:srgbClr val="1A4B7A"/>
          </a:solidFill>
        </p:spPr>
        <p:txBody>
          <a:bodyPr/>
          <a:lstStyle/>
          <a:p>
            <a:pPr algn="ctr"/>
            <a:r>
              <a:rPr lang="en-US" sz="1600" b="1">
                <a:solidFill>
                  <a:srgbClr val="FFFFFF"/>
                </a:solidFill>
              </a:rPr>
              <a:t>2</a:t>
            </a:r>
          </a:p>
          <a:p>
            <a:pPr algn="ctr"/>
            <a:r>
              <a:rPr lang="en-US" sz="1600" b="1">
                <a:solidFill>
                  <a:srgbClr val="FFFFFF"/>
                </a:solidFill>
              </a:rPr>
              <a:t>Apply Schema</a:t>
            </a:r>
          </a:p>
        </p:txBody>
      </p:sp>
      <p:sp>
        <p:nvSpPr>
          <p:cNvPr id="100230" name="S2D"/>
          <p:cNvSpPr txBox="1"/>
          <p:nvPr/>
        </p:nvSpPr>
        <p:spPr>
          <a:xfrm>
            <a:off x="2844223" y="2769274"/>
            <a:ext cx="1800000" cy="720000"/>
          </a:xfrm>
          <a:prstGeom prst="rect">
            <a:avLst/>
          </a:prstGeom>
        </p:spPr>
        <p:txBody>
          <a:bodyPr/>
          <a:lstStyle/>
          <a:p>
            <a:r>
              <a:rPr lang="en-US" sz="1200">
                <a:solidFill>
                  <a:srgbClr val="D0E4F7"/>
                </a:solidFill>
              </a:rPr>
              <a:t>FilebasedSchemaProvider validates and maps incoming JSON fields against github-schema.avsc. Unknown fields are dropped.</a:t>
            </a:r>
          </a:p>
        </p:txBody>
      </p:sp>
      <p:sp>
        <p:nvSpPr>
          <p:cNvPr id="100231" name="Ar2"/>
          <p:cNvSpPr txBox="1"/>
          <p:nvPr/>
        </p:nvSpPr>
        <p:spPr>
          <a:xfrm>
            <a:off x="4716223" y="2265274"/>
            <a:ext cx="360000" cy="288000"/>
          </a:xfrm>
          <a:prstGeom prst="rect">
            <a:avLst/>
          </a:prstGeom>
        </p:spPr>
        <p:txBody>
          <a:bodyPr/>
          <a:lstStyle/>
          <a:p>
            <a:pPr algn="ctr"/>
            <a:r>
              <a:rPr lang="en-US" sz="2200" b="1">
                <a:solidFill>
                  <a:srgbClr val="5B9BD5"/>
                </a:solidFill>
              </a:rPr>
              <a:t>→</a:t>
            </a:r>
          </a:p>
        </p:txBody>
      </p:sp>
      <p:sp>
        <p:nvSpPr>
          <p:cNvPr id="100232" name="S3Box"/>
          <p:cNvSpPr txBox="1"/>
          <p:nvPr/>
        </p:nvSpPr>
        <p:spPr>
          <a:xfrm>
            <a:off x="5148223" y="2013274"/>
            <a:ext cx="1800000" cy="720000"/>
          </a:xfrm>
          <a:prstGeom prst="rect">
            <a:avLst/>
          </a:prstGeom>
          <a:solidFill>
            <a:srgbClr val="1A4B7A"/>
          </a:solidFill>
        </p:spPr>
        <p:txBody>
          <a:bodyPr/>
          <a:lstStyle/>
          <a:p>
            <a:pPr algn="ctr"/>
            <a:r>
              <a:rPr lang="en-US" sz="1600" b="1">
                <a:solidFill>
                  <a:srgbClr val="FFFFFF"/>
                </a:solidFill>
              </a:rPr>
              <a:t>3</a:t>
            </a:r>
          </a:p>
          <a:p>
            <a:pPr algn="ctr"/>
            <a:r>
              <a:rPr lang="en-US" sz="1600" b="1">
                <a:solidFill>
                  <a:srgbClr val="FFFFFF"/>
                </a:solidFill>
              </a:rPr>
              <a:t>Deduplicate</a:t>
            </a:r>
          </a:p>
        </p:txBody>
      </p:sp>
      <p:sp>
        <p:nvSpPr>
          <p:cNvPr id="100233" name="S3D"/>
          <p:cNvSpPr txBox="1"/>
          <p:nvPr/>
        </p:nvSpPr>
        <p:spPr>
          <a:xfrm>
            <a:off x="5148223" y="2769274"/>
            <a:ext cx="1800000" cy="720000"/>
          </a:xfrm>
          <a:prstGeom prst="rect">
            <a:avLst/>
          </a:prstGeom>
        </p:spPr>
        <p:txBody>
          <a:bodyPr/>
          <a:lstStyle/>
          <a:p>
            <a:r>
              <a:rPr lang="en-US" sz="1200">
                <a:solidFill>
                  <a:srgbClr val="D0E4F7"/>
                </a:solidFill>
              </a:rPr>
              <a:t>Precombine on created_at: if two records share the same id, the one with the newer timestamp wins. Duplicates are discarded.</a:t>
            </a:r>
          </a:p>
        </p:txBody>
      </p:sp>
      <p:sp>
        <p:nvSpPr>
          <p:cNvPr id="100234" name="Ar3"/>
          <p:cNvSpPr txBox="1"/>
          <p:nvPr/>
        </p:nvSpPr>
        <p:spPr>
          <a:xfrm>
            <a:off x="7020223" y="2265274"/>
            <a:ext cx="360000" cy="288000"/>
          </a:xfrm>
          <a:prstGeom prst="rect">
            <a:avLst/>
          </a:prstGeom>
        </p:spPr>
        <p:txBody>
          <a:bodyPr/>
          <a:lstStyle/>
          <a:p>
            <a:pPr algn="ctr"/>
            <a:r>
              <a:rPr lang="en-US" sz="2200" b="1">
                <a:solidFill>
                  <a:srgbClr val="5B9BD5"/>
                </a:solidFill>
              </a:rPr>
              <a:t>→</a:t>
            </a:r>
          </a:p>
        </p:txBody>
      </p:sp>
      <p:sp>
        <p:nvSpPr>
          <p:cNvPr id="100235" name="S4Box"/>
          <p:cNvSpPr txBox="1"/>
          <p:nvPr/>
        </p:nvSpPr>
        <p:spPr>
          <a:xfrm>
            <a:off x="7452223" y="2013274"/>
            <a:ext cx="1800000" cy="720000"/>
          </a:xfrm>
          <a:prstGeom prst="rect">
            <a:avLst/>
          </a:prstGeom>
          <a:solidFill>
            <a:srgbClr val="1A4B7A"/>
          </a:solidFill>
        </p:spPr>
        <p:txBody>
          <a:bodyPr/>
          <a:lstStyle/>
          <a:p>
            <a:pPr algn="ctr"/>
            <a:r>
              <a:rPr lang="en-US" sz="1600" b="1">
                <a:solidFill>
                  <a:srgbClr val="FFFFFF"/>
                </a:solidFill>
              </a:rPr>
              <a:t>4</a:t>
            </a:r>
          </a:p>
          <a:p>
            <a:pPr algn="ctr"/>
            <a:r>
              <a:rPr lang="en-US" sz="1600" b="1">
                <a:solidFill>
                  <a:srgbClr val="FFFFFF"/>
                </a:solidFill>
              </a:rPr>
              <a:t>Upsert &amp; Write</a:t>
            </a:r>
          </a:p>
        </p:txBody>
      </p:sp>
      <p:sp>
        <p:nvSpPr>
          <p:cNvPr id="100236" name="S4D"/>
          <p:cNvSpPr txBox="1"/>
          <p:nvPr/>
        </p:nvSpPr>
        <p:spPr>
          <a:xfrm>
            <a:off x="7452223" y="2769274"/>
            <a:ext cx="1800000" cy="720000"/>
          </a:xfrm>
          <a:prstGeom prst="rect">
            <a:avLst/>
          </a:prstGeom>
        </p:spPr>
        <p:txBody>
          <a:bodyPr/>
          <a:lstStyle/>
          <a:p>
            <a:r>
              <a:rPr lang="en-US" sz="1200">
                <a:solidFill>
                  <a:srgbClr val="D0E4F7"/>
                </a:solidFill>
              </a:rPr>
              <a:t>Hudi index lookup finds existing record keys. New keys are inserted; existing keys update only the affected Parquet file (COW rewrite).</a:t>
            </a:r>
          </a:p>
        </p:txBody>
      </p:sp>
      <p:sp>
        <p:nvSpPr>
          <p:cNvPr id="100237" name="Ar4"/>
          <p:cNvSpPr txBox="1"/>
          <p:nvPr/>
        </p:nvSpPr>
        <p:spPr>
          <a:xfrm>
            <a:off x="9324223" y="2265274"/>
            <a:ext cx="360000" cy="288000"/>
          </a:xfrm>
          <a:prstGeom prst="rect">
            <a:avLst/>
          </a:prstGeom>
        </p:spPr>
        <p:txBody>
          <a:bodyPr/>
          <a:lstStyle/>
          <a:p>
            <a:pPr algn="ctr"/>
            <a:r>
              <a:rPr lang="en-US" sz="2200" b="1">
                <a:solidFill>
                  <a:srgbClr val="5B9BD5"/>
                </a:solidFill>
              </a:rPr>
              <a:t>→</a:t>
            </a:r>
          </a:p>
        </p:txBody>
      </p:sp>
      <p:sp>
        <p:nvSpPr>
          <p:cNvPr id="100238" name="S5Box"/>
          <p:cNvSpPr txBox="1"/>
          <p:nvPr/>
        </p:nvSpPr>
        <p:spPr>
          <a:xfrm>
            <a:off x="9756223" y="2013274"/>
            <a:ext cx="1872000" cy="720000"/>
          </a:xfrm>
          <a:prstGeom prst="rect">
            <a:avLst/>
          </a:prstGeom>
          <a:solidFill>
            <a:srgbClr val="1A4B7A"/>
          </a:solidFill>
        </p:spPr>
        <p:txBody>
          <a:bodyPr/>
          <a:lstStyle/>
          <a:p>
            <a:pPr algn="ctr"/>
            <a:r>
              <a:rPr lang="en-US" sz="1500" b="1">
                <a:solidFill>
                  <a:srgbClr val="FFFFFF"/>
                </a:solidFill>
              </a:rPr>
              <a:t>5</a:t>
            </a:r>
          </a:p>
          <a:p>
            <a:pPr algn="ctr"/>
            <a:r>
              <a:rPr lang="en-US" sz="1500" b="1">
                <a:solidFill>
                  <a:srgbClr val="FFFFFF"/>
                </a:solidFill>
              </a:rPr>
              <a:t>Commit &amp; Sync</a:t>
            </a:r>
          </a:p>
        </p:txBody>
      </p:sp>
      <p:sp>
        <p:nvSpPr>
          <p:cNvPr id="100239" name="S5D"/>
          <p:cNvSpPr txBox="1"/>
          <p:nvPr/>
        </p:nvSpPr>
        <p:spPr>
          <a:xfrm>
            <a:off x="9756223" y="2769274"/>
            <a:ext cx="1872000" cy="720000"/>
          </a:xfrm>
          <a:prstGeom prst="rect">
            <a:avLst/>
          </a:prstGeom>
        </p:spPr>
        <p:txBody>
          <a:bodyPr/>
          <a:lstStyle/>
          <a:p>
            <a:r>
              <a:rPr lang="en-US" sz="1200">
                <a:solidFill>
                  <a:srgbClr val="D0E4F7"/>
                </a:solidFill>
              </a:rPr>
              <a:t>Atomic commit written to .hoodie/ timeline. --enable-hive-sync registers updated partitions in Hive Metastore so Presto sees them instantly.</a:t>
            </a:r>
          </a:p>
        </p:txBody>
      </p:sp>
      <p:sp>
        <p:nvSpPr>
          <p:cNvPr id="100240" name="ConfigLabel"/>
          <p:cNvSpPr txBox="1"/>
          <p:nvPr/>
        </p:nvSpPr>
        <p:spPr>
          <a:xfrm>
            <a:off x="540000" y="4290728"/>
            <a:ext cx="10800000" cy="252000"/>
          </a:xfrm>
          <a:prstGeom prst="rect">
            <a:avLst/>
          </a:prstGeom>
        </p:spPr>
        <p:txBody>
          <a:bodyPr/>
          <a:lstStyle/>
          <a:p>
            <a:r>
              <a:rPr lang="en-US" sz="1600" b="1" dirty="0">
                <a:solidFill>
                  <a:srgbClr val="5B9BD5"/>
                </a:solidFill>
              </a:rPr>
              <a:t>Key spark-submit flags used in this project:</a:t>
            </a:r>
          </a:p>
        </p:txBody>
      </p:sp>
      <p:sp>
        <p:nvSpPr>
          <p:cNvPr id="100241" name="FlagsLeft"/>
          <p:cNvSpPr txBox="1"/>
          <p:nvPr/>
        </p:nvSpPr>
        <p:spPr>
          <a:xfrm>
            <a:off x="540000" y="4614728"/>
            <a:ext cx="5220000" cy="1440000"/>
          </a:xfrm>
          <a:prstGeom prst="rect">
            <a:avLst/>
          </a:prstGeom>
          <a:solidFill>
            <a:srgbClr val="0A1A0A"/>
          </a:solidFill>
        </p:spPr>
        <p:txBody>
          <a:bodyPr/>
          <a:lstStyle/>
          <a:p>
            <a:r>
              <a:rPr lang="en-US" sz="1400">
                <a:solidFill>
                  <a:srgbClr val="A8D89A"/>
                </a:solidFill>
              </a:rPr>
              <a:t>--class  org.apache.hudi.utilities.streamer.HoodieStreamer</a:t>
            </a:r>
          </a:p>
          <a:p>
            <a:r>
              <a:rPr lang="en-US" sz="1400">
                <a:solidFill>
                  <a:srgbClr val="A8D89A"/>
                </a:solidFill>
              </a:rPr>
              <a:t>--source-class  JsonDFSSource</a:t>
            </a:r>
          </a:p>
          <a:p>
            <a:r>
              <a:rPr lang="en-US" sz="1400">
                <a:solidFill>
                  <a:srgbClr val="A8D89A"/>
                </a:solidFill>
              </a:rPr>
              <a:t>--schemaprovider-class  FilebasedSchemaProvider</a:t>
            </a:r>
          </a:p>
          <a:p>
            <a:r>
              <a:rPr lang="en-US" sz="1400">
                <a:solidFill>
                  <a:srgbClr val="A8D89A"/>
                </a:solidFill>
              </a:rPr>
              <a:t>--source-ordering-field  created_at</a:t>
            </a:r>
          </a:p>
          <a:p>
            <a:r>
              <a:rPr lang="en-US" sz="1400">
                <a:solidFill>
                  <a:srgbClr val="A8D89A"/>
                </a:solidFill>
              </a:rPr>
              <a:t>--table-type  COPY_ON_WRITE</a:t>
            </a:r>
          </a:p>
        </p:txBody>
      </p:sp>
      <p:sp>
        <p:nvSpPr>
          <p:cNvPr id="100242" name="FlagsRight"/>
          <p:cNvSpPr txBox="1"/>
          <p:nvPr/>
        </p:nvSpPr>
        <p:spPr>
          <a:xfrm>
            <a:off x="5940000" y="4614728"/>
            <a:ext cx="5328000" cy="1440000"/>
          </a:xfrm>
          <a:prstGeom prst="rect">
            <a:avLst/>
          </a:prstGeom>
          <a:solidFill>
            <a:srgbClr val="0A1A0A"/>
          </a:solidFill>
        </p:spPr>
        <p:txBody>
          <a:bodyPr/>
          <a:lstStyle/>
          <a:p>
            <a:r>
              <a:rPr lang="en-US" sz="1400">
                <a:solidFill>
                  <a:srgbClr val="A8D89A"/>
                </a:solidFill>
              </a:rPr>
              <a:t>--target-base-path  s3a://github-raw-data/hudi-tables/github_events</a:t>
            </a:r>
          </a:p>
          <a:p>
            <a:r>
              <a:rPr lang="en-US" sz="1400">
                <a:solidFill>
                  <a:srgbClr val="A8D89A"/>
                </a:solidFill>
              </a:rPr>
              <a:t>--target-table  github_events</a:t>
            </a:r>
          </a:p>
          <a:p>
            <a:r>
              <a:rPr lang="en-US" sz="1400">
                <a:solidFill>
                  <a:srgbClr val="A8D89A"/>
                </a:solidFill>
              </a:rPr>
              <a:t>--enable-hive-sync</a:t>
            </a:r>
          </a:p>
          <a:p>
            <a:r>
              <a:rPr lang="en-US" sz="1400">
                <a:solidFill>
                  <a:srgbClr val="A8D89A"/>
                </a:solidFill>
              </a:rPr>
              <a:t>--props  file:///opt/spark/conf/github-ingest.properties</a:t>
            </a:r>
          </a:p>
          <a:p>
            <a:r>
              <a:rPr lang="en-US" sz="1400">
                <a:solidFill>
                  <a:srgbClr val="A8D89A"/>
                </a:solidFill>
              </a:rPr>
              <a:t>--master  local[4]  --driver-memory  6G</a:t>
            </a:r>
          </a:p>
        </p:txBody>
      </p:sp>
      <p:sp>
        <p:nvSpPr>
          <p:cNvPr id="100243" name="NonSplit"/>
          <p:cNvSpPr txBox="1"/>
          <p:nvPr/>
        </p:nvSpPr>
        <p:spPr>
          <a:xfrm>
            <a:off x="540000" y="6162728"/>
            <a:ext cx="10800000" cy="288000"/>
          </a:xfrm>
          <a:prstGeom prst="rect">
            <a:avLst/>
          </a:prstGeom>
          <a:solidFill>
            <a:srgbClr val="1A1A00"/>
          </a:solidFill>
        </p:spPr>
        <p:txBody>
          <a:bodyPr/>
          <a:lstStyle/>
          <a:p>
            <a:pPr algn="ctr"/>
            <a:r>
              <a:rPr lang="en-US" sz="1300">
                <a:solidFill>
                  <a:srgbClr val="F0C040"/>
                </a:solidFill>
              </a:rPr>
              <a:t>Why local[4] + 6 GB?  .json.gz is non-splittable — each file decompresses ~10x in the driver JVM. Capping at 4 threads prevents OOM.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100079" name="SectionLabel"/>
          <p:cNvSpPr txBox="1"/>
          <p:nvPr/>
        </p:nvSpPr>
        <p:spPr>
          <a:xfrm>
            <a:off x="540000" y="2520000"/>
            <a:ext cx="10800000" cy="360000"/>
          </a:xfrm>
          <a:prstGeom prst="rect">
            <a:avLst/>
          </a:prstGeom>
        </p:spPr>
        <p:txBody>
          <a:bodyPr/>
          <a:lstStyle/>
          <a:p>
            <a:pPr algn="ctr"/>
            <a:r>
              <a:rPr lang="en-US" sz="1400" b="1">
                <a:solidFill>
                  <a:srgbClr val="5B9BD5"/>
                </a:solidFill>
              </a:rPr>
              <a:t>PART 2 — HANDS-ON LAB</a:t>
            </a:r>
          </a:p>
        </p:txBody>
      </p:sp>
      <p:sp>
        <p:nvSpPr>
          <p:cNvPr id="100080" name="Title"/>
          <p:cNvSpPr txBox="1"/>
          <p:nvPr/>
        </p:nvSpPr>
        <p:spPr>
          <a:xfrm>
            <a:off x="540000" y="2952000"/>
            <a:ext cx="10800000" cy="900000"/>
          </a:xfrm>
          <a:prstGeom prst="rect">
            <a:avLst/>
          </a:prstGeom>
        </p:spPr>
        <p:txBody>
          <a:bodyPr/>
          <a:lstStyle/>
          <a:p>
            <a:pPr algn="ctr"/>
            <a:r>
              <a:rPr lang="en-US" sz="4400" b="1">
                <a:solidFill>
                  <a:srgbClr val="FFFFFF"/>
                </a:solidFill>
              </a:rPr>
              <a:t>Let's Build It</a:t>
            </a:r>
          </a:p>
        </p:txBody>
      </p:sp>
      <p:sp>
        <p:nvSpPr>
          <p:cNvPr id="100081" name="SubTitle"/>
          <p:cNvSpPr txBox="1"/>
          <p:nvPr/>
        </p:nvSpPr>
        <p:spPr>
          <a:xfrm>
            <a:off x="540000" y="3960000"/>
            <a:ext cx="10800000" cy="360000"/>
          </a:xfrm>
          <a:prstGeom prst="rect">
            <a:avLst/>
          </a:prstGeom>
        </p:spPr>
        <p:txBody>
          <a:bodyPr/>
          <a:lstStyle/>
          <a:p>
            <a:pPr algn="ctr"/>
            <a:r>
              <a:rPr lang="en-US" sz="2000">
                <a:solidFill>
                  <a:srgbClr val="A8C6E8"/>
                </a:solidFill>
              </a:rPr>
              <a:t>Follow along on your machine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082" name="Title"/>
          <p:cNvSpPr txBox="1"/>
          <p:nvPr/>
        </p:nvSpPr>
        <p:spPr>
          <a:xfrm>
            <a:off x="540000" y="288000"/>
            <a:ext cx="10800000" cy="540000"/>
          </a:xfrm>
          <a:prstGeom prst="rect">
            <a:avLst/>
          </a:prstGeom>
        </p:spPr>
        <p:txBody>
          <a:bodyPr/>
          <a:lstStyle/>
          <a:p>
            <a:r>
              <a:rPr lang="en-US" sz="3200" b="1" dirty="0">
                <a:solidFill>
                  <a:srgbClr val="FFFFFF"/>
                </a:solidFill>
              </a:rPr>
              <a:t>Bring up the Containers</a:t>
            </a:r>
          </a:p>
        </p:txBody>
      </p:sp>
      <p:sp>
        <p:nvSpPr>
          <p:cNvPr id="100088" name="Step1Label"/>
          <p:cNvSpPr txBox="1"/>
          <p:nvPr/>
        </p:nvSpPr>
        <p:spPr>
          <a:xfrm>
            <a:off x="540000" y="1203996"/>
            <a:ext cx="10800000" cy="288000"/>
          </a:xfrm>
          <a:prstGeom prst="rect">
            <a:avLst/>
          </a:prstGeom>
        </p:spPr>
        <p:txBody>
          <a:bodyPr/>
          <a:lstStyle/>
          <a:p>
            <a:r>
              <a:rPr lang="en-US" sz="2000" b="1" dirty="0">
                <a:solidFill>
                  <a:srgbClr val="5B9BD5"/>
                </a:solidFill>
              </a:rPr>
              <a:t>Step 1 — Launch All 10 Containers</a:t>
            </a:r>
          </a:p>
        </p:txBody>
      </p:sp>
      <p:sp>
        <p:nvSpPr>
          <p:cNvPr id="100089" name="Step1Code"/>
          <p:cNvSpPr txBox="1"/>
          <p:nvPr/>
        </p:nvSpPr>
        <p:spPr>
          <a:xfrm>
            <a:off x="540000" y="1609744"/>
            <a:ext cx="10800000" cy="432000"/>
          </a:xfrm>
          <a:prstGeom prst="rect">
            <a:avLst/>
          </a:prstGeom>
          <a:solidFill>
            <a:srgbClr val="0A1A0A"/>
          </a:solidFill>
        </p:spPr>
        <p:txBody>
          <a:bodyPr anchor="ctr"/>
          <a:lstStyle/>
          <a:p>
            <a:r>
              <a:rPr lang="en-US" dirty="0">
                <a:solidFill>
                  <a:srgbClr val="A8D89A"/>
                </a:solidFill>
              </a:rPr>
              <a:t>docker compose up -d</a:t>
            </a:r>
          </a:p>
        </p:txBody>
      </p:sp>
      <p:sp>
        <p:nvSpPr>
          <p:cNvPr id="100090" name="Step1Note"/>
          <p:cNvSpPr txBox="1"/>
          <p:nvPr/>
        </p:nvSpPr>
        <p:spPr>
          <a:xfrm>
            <a:off x="540000" y="2110112"/>
            <a:ext cx="10800000" cy="360000"/>
          </a:xfrm>
          <a:prstGeom prst="rect">
            <a:avLst/>
          </a:prstGeom>
        </p:spPr>
        <p:txBody>
          <a:bodyPr/>
          <a:lstStyle/>
          <a:p>
            <a:r>
              <a:rPr lang="en-US" sz="1400" dirty="0">
                <a:solidFill>
                  <a:srgbClr val="7A8DA0"/>
                </a:solidFill>
              </a:rPr>
              <a:t>Images already pre-pulled! Containers create &amp; boot immediately (~15–30 seconds).</a:t>
            </a:r>
          </a:p>
        </p:txBody>
      </p:sp>
      <p:sp>
        <p:nvSpPr>
          <p:cNvPr id="100091" name="Step2Label"/>
          <p:cNvSpPr txBox="1"/>
          <p:nvPr/>
        </p:nvSpPr>
        <p:spPr>
          <a:xfrm>
            <a:off x="540000" y="2664320"/>
            <a:ext cx="10800000" cy="288000"/>
          </a:xfrm>
          <a:prstGeom prst="rect">
            <a:avLst/>
          </a:prstGeom>
        </p:spPr>
        <p:txBody>
          <a:bodyPr/>
          <a:lstStyle/>
          <a:p>
            <a:r>
              <a:rPr lang="en-US" sz="2000" b="1">
                <a:solidFill>
                  <a:srgbClr val="5B9BD5"/>
                </a:solidFill>
              </a:rPr>
              <a:t>Step 2 — Verify Health</a:t>
            </a:r>
          </a:p>
        </p:txBody>
      </p:sp>
      <p:sp>
        <p:nvSpPr>
          <p:cNvPr id="100092" name="Step2Code"/>
          <p:cNvSpPr txBox="1"/>
          <p:nvPr/>
        </p:nvSpPr>
        <p:spPr>
          <a:xfrm>
            <a:off x="540000" y="3118620"/>
            <a:ext cx="10800000" cy="432000"/>
          </a:xfrm>
          <a:prstGeom prst="rect">
            <a:avLst/>
          </a:prstGeom>
          <a:solidFill>
            <a:srgbClr val="0A1A0A"/>
          </a:solidFill>
        </p:spPr>
        <p:txBody>
          <a:bodyPr/>
          <a:lstStyle/>
          <a:p>
            <a:r>
              <a:rPr lang="en-US" dirty="0">
                <a:solidFill>
                  <a:srgbClr val="A8D89A"/>
                </a:solidFill>
              </a:rPr>
              <a:t>docker compose </a:t>
            </a:r>
            <a:r>
              <a:rPr lang="en-US" dirty="0" err="1">
                <a:solidFill>
                  <a:srgbClr val="A8D89A"/>
                </a:solidFill>
              </a:rPr>
              <a:t>ps</a:t>
            </a:r>
            <a:endParaRPr lang="en-US" dirty="0">
              <a:solidFill>
                <a:srgbClr val="A8D89A"/>
              </a:solidFill>
            </a:endParaRPr>
          </a:p>
        </p:txBody>
      </p:sp>
      <p:sp>
        <p:nvSpPr>
          <p:cNvPr id="100093" name="Step2Note"/>
          <p:cNvSpPr txBox="1"/>
          <p:nvPr/>
        </p:nvSpPr>
        <p:spPr>
          <a:xfrm>
            <a:off x="540000" y="3886024"/>
            <a:ext cx="10800000" cy="288000"/>
          </a:xfrm>
          <a:prstGeom prst="rect">
            <a:avLst/>
          </a:prstGeom>
        </p:spPr>
        <p:txBody>
          <a:bodyPr/>
          <a:lstStyle/>
          <a:p>
            <a:r>
              <a:rPr lang="en-US" sz="1400" dirty="0">
                <a:solidFill>
                  <a:srgbClr val="F0C040"/>
                </a:solidFill>
              </a:rPr>
              <a:t>All core services: healthy or running.   </a:t>
            </a:r>
            <a:r>
              <a:rPr lang="en-US" sz="1400" dirty="0" err="1">
                <a:solidFill>
                  <a:srgbClr val="F0C040"/>
                </a:solidFill>
              </a:rPr>
              <a:t>minio-init</a:t>
            </a:r>
            <a:r>
              <a:rPr lang="en-US" sz="1400" dirty="0">
                <a:solidFill>
                  <a:srgbClr val="F0C040"/>
                </a:solidFill>
              </a:rPr>
              <a:t>: Exited (0) — this is EXPECTED (one-shot setup container).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094" name="Title"/>
          <p:cNvSpPr txBox="1"/>
          <p:nvPr/>
        </p:nvSpPr>
        <p:spPr>
          <a:xfrm>
            <a:off x="540000" y="288000"/>
            <a:ext cx="10800000" cy="540000"/>
          </a:xfrm>
          <a:prstGeom prst="rect">
            <a:avLst/>
          </a:prstGeom>
        </p:spPr>
        <p:txBody>
          <a:bodyPr/>
          <a:lstStyle/>
          <a:p>
            <a:r>
              <a:rPr lang="en-US" sz="3200" b="1">
                <a:solidFill>
                  <a:srgbClr val="FFFFFF"/>
                </a:solidFill>
              </a:rPr>
              <a:t>Web UIs — Know Your Tools</a:t>
            </a:r>
          </a:p>
        </p:txBody>
      </p:sp>
      <p:sp>
        <p:nvSpPr>
          <p:cNvPr id="100095" name="UI1"/>
          <p:cNvSpPr txBox="1"/>
          <p:nvPr/>
        </p:nvSpPr>
        <p:spPr>
          <a:xfrm>
            <a:off x="180000" y="1496371"/>
            <a:ext cx="2160000" cy="720000"/>
          </a:xfrm>
          <a:prstGeom prst="rect">
            <a:avLst/>
          </a:prstGeom>
          <a:solidFill>
            <a:srgbClr val="1A3A5C"/>
          </a:solidFill>
        </p:spPr>
        <p:txBody>
          <a:bodyPr/>
          <a:lstStyle/>
          <a:p>
            <a:pPr algn="ctr"/>
            <a:r>
              <a:rPr lang="en-US" sz="1600" b="1">
                <a:solidFill>
                  <a:srgbClr val="FFFFFF"/>
                </a:solidFill>
              </a:rPr>
              <a:t>Airflow</a:t>
            </a:r>
          </a:p>
          <a:p>
            <a:pPr algn="ctr"/>
            <a:r>
              <a:rPr lang="en-US" sz="1600" b="1">
                <a:solidFill>
                  <a:srgbClr val="FFFFFF"/>
                </a:solidFill>
              </a:rPr>
              <a:t>http://localhost:8085</a:t>
            </a:r>
          </a:p>
        </p:txBody>
      </p:sp>
      <p:sp>
        <p:nvSpPr>
          <p:cNvPr id="100096" name="UI1c"/>
          <p:cNvSpPr txBox="1"/>
          <p:nvPr/>
        </p:nvSpPr>
        <p:spPr>
          <a:xfrm>
            <a:off x="180000" y="2288371"/>
            <a:ext cx="2160000" cy="216000"/>
          </a:xfrm>
          <a:prstGeom prst="rect">
            <a:avLst/>
          </a:prstGeom>
        </p:spPr>
        <p:txBody>
          <a:bodyPr/>
          <a:lstStyle/>
          <a:p>
            <a:pPr algn="ctr"/>
            <a:r>
              <a:rPr lang="en-US" sz="1400">
                <a:solidFill>
                  <a:srgbClr val="A8C6E8"/>
                </a:solidFill>
              </a:rPr>
              <a:t>admin / admin</a:t>
            </a:r>
          </a:p>
        </p:txBody>
      </p:sp>
      <p:sp>
        <p:nvSpPr>
          <p:cNvPr id="100097" name="UI1d"/>
          <p:cNvSpPr txBox="1"/>
          <p:nvPr/>
        </p:nvSpPr>
        <p:spPr>
          <a:xfrm>
            <a:off x="180000" y="2540371"/>
            <a:ext cx="2160000" cy="540000"/>
          </a:xfrm>
          <a:prstGeom prst="rect">
            <a:avLst/>
          </a:prstGeom>
        </p:spPr>
        <p:txBody>
          <a:bodyPr/>
          <a:lstStyle/>
          <a:p>
            <a:r>
              <a:rPr lang="en-US" sz="1300">
                <a:solidFill>
                  <a:srgbClr val="D0E4F7"/>
                </a:solidFill>
              </a:rPr>
              <a:t>Trigger and monitor DAG runs. Grid/Graph view for task status.</a:t>
            </a:r>
          </a:p>
        </p:txBody>
      </p:sp>
      <p:sp>
        <p:nvSpPr>
          <p:cNvPr id="100098" name="UI2"/>
          <p:cNvSpPr txBox="1"/>
          <p:nvPr/>
        </p:nvSpPr>
        <p:spPr>
          <a:xfrm>
            <a:off x="2628000" y="1496371"/>
            <a:ext cx="2160000" cy="720000"/>
          </a:xfrm>
          <a:prstGeom prst="rect">
            <a:avLst/>
          </a:prstGeom>
          <a:solidFill>
            <a:srgbClr val="1A3A5C"/>
          </a:solidFill>
        </p:spPr>
        <p:txBody>
          <a:bodyPr/>
          <a:lstStyle/>
          <a:p>
            <a:pPr algn="ctr"/>
            <a:r>
              <a:rPr lang="en-US" sz="1600" b="1">
                <a:solidFill>
                  <a:srgbClr val="FFFFFF"/>
                </a:solidFill>
              </a:rPr>
              <a:t>MinIO Console</a:t>
            </a:r>
          </a:p>
          <a:p>
            <a:pPr algn="ctr"/>
            <a:r>
              <a:rPr lang="en-US" sz="1600" b="1">
                <a:solidFill>
                  <a:srgbClr val="FFFFFF"/>
                </a:solidFill>
              </a:rPr>
              <a:t>http://localhost:9001</a:t>
            </a:r>
          </a:p>
        </p:txBody>
      </p:sp>
      <p:sp>
        <p:nvSpPr>
          <p:cNvPr id="100099" name="UI2c"/>
          <p:cNvSpPr txBox="1"/>
          <p:nvPr/>
        </p:nvSpPr>
        <p:spPr>
          <a:xfrm>
            <a:off x="2628000" y="2288371"/>
            <a:ext cx="2160000" cy="216000"/>
          </a:xfrm>
          <a:prstGeom prst="rect">
            <a:avLst/>
          </a:prstGeom>
        </p:spPr>
        <p:txBody>
          <a:bodyPr/>
          <a:lstStyle/>
          <a:p>
            <a:pPr algn="ctr"/>
            <a:r>
              <a:rPr lang="en-US" sz="1400">
                <a:solidFill>
                  <a:srgbClr val="A8C6E8"/>
                </a:solidFill>
              </a:rPr>
              <a:t>minioadmin / minioadmin</a:t>
            </a:r>
          </a:p>
        </p:txBody>
      </p:sp>
      <p:sp>
        <p:nvSpPr>
          <p:cNvPr id="100100" name="UI2d"/>
          <p:cNvSpPr txBox="1"/>
          <p:nvPr/>
        </p:nvSpPr>
        <p:spPr>
          <a:xfrm>
            <a:off x="2628000" y="2540371"/>
            <a:ext cx="2160000" cy="540000"/>
          </a:xfrm>
          <a:prstGeom prst="rect">
            <a:avLst/>
          </a:prstGeom>
        </p:spPr>
        <p:txBody>
          <a:bodyPr/>
          <a:lstStyle/>
          <a:p>
            <a:r>
              <a:rPr lang="en-US" sz="1300">
                <a:solidFill>
                  <a:srgbClr val="D0E4F7"/>
                </a:solidFill>
              </a:rPr>
              <a:t>Browse github-raw/ staging files and hudi-tables/ Parquet partitions.</a:t>
            </a:r>
          </a:p>
        </p:txBody>
      </p:sp>
      <p:sp>
        <p:nvSpPr>
          <p:cNvPr id="100101" name="UI3"/>
          <p:cNvSpPr txBox="1"/>
          <p:nvPr/>
        </p:nvSpPr>
        <p:spPr>
          <a:xfrm>
            <a:off x="5076000" y="1496371"/>
            <a:ext cx="2160000" cy="720000"/>
          </a:xfrm>
          <a:prstGeom prst="rect">
            <a:avLst/>
          </a:prstGeom>
          <a:solidFill>
            <a:srgbClr val="1A3A5C"/>
          </a:solidFill>
        </p:spPr>
        <p:txBody>
          <a:bodyPr/>
          <a:lstStyle/>
          <a:p>
            <a:pPr algn="ctr"/>
            <a:r>
              <a:rPr lang="en-US" sz="1600" b="1">
                <a:solidFill>
                  <a:srgbClr val="FFFFFF"/>
                </a:solidFill>
              </a:rPr>
              <a:t>Superset</a:t>
            </a:r>
          </a:p>
          <a:p>
            <a:pPr algn="ctr"/>
            <a:r>
              <a:rPr lang="en-US" sz="1600" b="1">
                <a:solidFill>
                  <a:srgbClr val="FFFFFF"/>
                </a:solidFill>
              </a:rPr>
              <a:t>http://localhost:8088</a:t>
            </a:r>
          </a:p>
        </p:txBody>
      </p:sp>
      <p:sp>
        <p:nvSpPr>
          <p:cNvPr id="100102" name="UI3c"/>
          <p:cNvSpPr txBox="1"/>
          <p:nvPr/>
        </p:nvSpPr>
        <p:spPr>
          <a:xfrm>
            <a:off x="5076000" y="2288371"/>
            <a:ext cx="2160000" cy="216000"/>
          </a:xfrm>
          <a:prstGeom prst="rect">
            <a:avLst/>
          </a:prstGeom>
        </p:spPr>
        <p:txBody>
          <a:bodyPr/>
          <a:lstStyle/>
          <a:p>
            <a:pPr algn="ctr"/>
            <a:r>
              <a:rPr lang="en-US" sz="1400">
                <a:solidFill>
                  <a:srgbClr val="A8C6E8"/>
                </a:solidFill>
              </a:rPr>
              <a:t>admin / admin</a:t>
            </a:r>
          </a:p>
        </p:txBody>
      </p:sp>
      <p:sp>
        <p:nvSpPr>
          <p:cNvPr id="100103" name="UI3d"/>
          <p:cNvSpPr txBox="1"/>
          <p:nvPr/>
        </p:nvSpPr>
        <p:spPr>
          <a:xfrm>
            <a:off x="5076000" y="2540371"/>
            <a:ext cx="2160000" cy="540000"/>
          </a:xfrm>
          <a:prstGeom prst="rect">
            <a:avLst/>
          </a:prstGeom>
        </p:spPr>
        <p:txBody>
          <a:bodyPr/>
          <a:lstStyle/>
          <a:p>
            <a:r>
              <a:rPr lang="en-US" sz="1300">
                <a:solidFill>
                  <a:srgbClr val="D0E4F7"/>
                </a:solidFill>
              </a:rPr>
              <a:t>SQL Lab queries + 15-chart BI dashboard over Hudi lakehouse.</a:t>
            </a:r>
          </a:p>
        </p:txBody>
      </p:sp>
      <p:sp>
        <p:nvSpPr>
          <p:cNvPr id="100104" name="UI4"/>
          <p:cNvSpPr txBox="1"/>
          <p:nvPr/>
        </p:nvSpPr>
        <p:spPr>
          <a:xfrm>
            <a:off x="7524000" y="1496371"/>
            <a:ext cx="2160000" cy="720000"/>
          </a:xfrm>
          <a:prstGeom prst="rect">
            <a:avLst/>
          </a:prstGeom>
          <a:solidFill>
            <a:srgbClr val="1A3A5C"/>
          </a:solidFill>
        </p:spPr>
        <p:txBody>
          <a:bodyPr/>
          <a:lstStyle/>
          <a:p>
            <a:pPr algn="ctr"/>
            <a:r>
              <a:rPr lang="en-US" sz="1600" b="1" dirty="0">
                <a:solidFill>
                  <a:srgbClr val="FFFFFF"/>
                </a:solidFill>
              </a:rPr>
              <a:t>Spark History</a:t>
            </a:r>
          </a:p>
          <a:p>
            <a:pPr algn="ctr"/>
            <a:r>
              <a:rPr lang="en-US" sz="1600" b="1" dirty="0">
                <a:solidFill>
                  <a:srgbClr val="FFFFFF"/>
                </a:solidFill>
              </a:rPr>
              <a:t>http://localhost:18080</a:t>
            </a:r>
          </a:p>
        </p:txBody>
      </p:sp>
      <p:sp>
        <p:nvSpPr>
          <p:cNvPr id="100105" name="UI4c"/>
          <p:cNvSpPr txBox="1"/>
          <p:nvPr/>
        </p:nvSpPr>
        <p:spPr>
          <a:xfrm>
            <a:off x="7524000" y="2288371"/>
            <a:ext cx="2160000" cy="216000"/>
          </a:xfrm>
          <a:prstGeom prst="rect">
            <a:avLst/>
          </a:prstGeom>
        </p:spPr>
        <p:txBody>
          <a:bodyPr/>
          <a:lstStyle/>
          <a:p>
            <a:pPr algn="ctr"/>
            <a:r>
              <a:rPr lang="en-US" sz="1400">
                <a:solidFill>
                  <a:srgbClr val="A8C6E8"/>
                </a:solidFill>
              </a:rPr>
              <a:t>(no auth)</a:t>
            </a:r>
          </a:p>
        </p:txBody>
      </p:sp>
      <p:sp>
        <p:nvSpPr>
          <p:cNvPr id="100106" name="UI4d"/>
          <p:cNvSpPr txBox="1"/>
          <p:nvPr/>
        </p:nvSpPr>
        <p:spPr>
          <a:xfrm>
            <a:off x="7524000" y="2540371"/>
            <a:ext cx="2160000" cy="540000"/>
          </a:xfrm>
          <a:prstGeom prst="rect">
            <a:avLst/>
          </a:prstGeom>
        </p:spPr>
        <p:txBody>
          <a:bodyPr/>
          <a:lstStyle/>
          <a:p>
            <a:r>
              <a:rPr lang="en-US" sz="1300">
                <a:solidFill>
                  <a:srgbClr val="D0E4F7"/>
                </a:solidFill>
              </a:rPr>
              <a:t>Review completed Spark job timelines and stage metrics.</a:t>
            </a:r>
          </a:p>
        </p:txBody>
      </p:sp>
      <p:sp>
        <p:nvSpPr>
          <p:cNvPr id="100107" name="UI5"/>
          <p:cNvSpPr txBox="1"/>
          <p:nvPr/>
        </p:nvSpPr>
        <p:spPr>
          <a:xfrm>
            <a:off x="9972000" y="1496371"/>
            <a:ext cx="1980000" cy="720000"/>
          </a:xfrm>
          <a:prstGeom prst="rect">
            <a:avLst/>
          </a:prstGeom>
          <a:solidFill>
            <a:srgbClr val="1A3A5C"/>
          </a:solidFill>
        </p:spPr>
        <p:txBody>
          <a:bodyPr/>
          <a:lstStyle/>
          <a:p>
            <a:pPr algn="ctr"/>
            <a:r>
              <a:rPr lang="en-US" sz="1400" b="1">
                <a:solidFill>
                  <a:srgbClr val="FFFFFF"/>
                </a:solidFill>
              </a:rPr>
              <a:t>Presto Coordinator</a:t>
            </a:r>
          </a:p>
          <a:p>
            <a:pPr algn="ctr"/>
            <a:r>
              <a:rPr lang="en-US" sz="1400" b="1">
                <a:solidFill>
                  <a:srgbClr val="FFFFFF"/>
                </a:solidFill>
              </a:rPr>
              <a:t>http://localhost:8080</a:t>
            </a:r>
          </a:p>
        </p:txBody>
      </p:sp>
      <p:sp>
        <p:nvSpPr>
          <p:cNvPr id="100108" name="UI5c"/>
          <p:cNvSpPr txBox="1"/>
          <p:nvPr/>
        </p:nvSpPr>
        <p:spPr>
          <a:xfrm>
            <a:off x="9972000" y="2288371"/>
            <a:ext cx="1980000" cy="216000"/>
          </a:xfrm>
          <a:prstGeom prst="rect">
            <a:avLst/>
          </a:prstGeom>
        </p:spPr>
        <p:txBody>
          <a:bodyPr/>
          <a:lstStyle/>
          <a:p>
            <a:pPr algn="ctr"/>
            <a:r>
              <a:rPr lang="en-US" sz="1400">
                <a:solidFill>
                  <a:srgbClr val="A8C6E8"/>
                </a:solidFill>
              </a:rPr>
              <a:t>(no auth)</a:t>
            </a:r>
          </a:p>
        </p:txBody>
      </p:sp>
      <p:sp>
        <p:nvSpPr>
          <p:cNvPr id="100109" name="UI5d"/>
          <p:cNvSpPr txBox="1"/>
          <p:nvPr/>
        </p:nvSpPr>
        <p:spPr>
          <a:xfrm>
            <a:off x="9972000" y="2540371"/>
            <a:ext cx="1980000" cy="540000"/>
          </a:xfrm>
          <a:prstGeom prst="rect">
            <a:avLst/>
          </a:prstGeom>
        </p:spPr>
        <p:txBody>
          <a:bodyPr/>
          <a:lstStyle/>
          <a:p>
            <a:r>
              <a:rPr lang="en-US" sz="1300">
                <a:solidFill>
                  <a:srgbClr val="D0E4F7"/>
                </a:solidFill>
              </a:rPr>
              <a:t>Cluster topology, active queries, worker node health.</a:t>
            </a:r>
          </a:p>
        </p:txBody>
      </p:sp>
      <p:sp>
        <p:nvSpPr>
          <p:cNvPr id="100110" name="SparkNote"/>
          <p:cNvSpPr txBox="1"/>
          <p:nvPr/>
        </p:nvSpPr>
        <p:spPr>
          <a:xfrm>
            <a:off x="548182" y="4445346"/>
            <a:ext cx="10800000" cy="288000"/>
          </a:xfrm>
          <a:prstGeom prst="rect">
            <a:avLst/>
          </a:prstGeom>
        </p:spPr>
        <p:txBody>
          <a:bodyPr/>
          <a:lstStyle/>
          <a:p>
            <a:pPr algn="ctr"/>
            <a:r>
              <a:rPr lang="en-US" sz="1400" dirty="0">
                <a:solidFill>
                  <a:srgbClr val="F0C040"/>
                </a:solidFill>
              </a:rPr>
              <a:t>Spark UI (live job progress): http://localhost:4040  — only available WHILE a Spark job is running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111" name="ScenLabel"/>
          <p:cNvSpPr txBox="1"/>
          <p:nvPr/>
        </p:nvSpPr>
        <p:spPr>
          <a:xfrm>
            <a:off x="540000" y="288000"/>
            <a:ext cx="3600000" cy="288000"/>
          </a:xfrm>
          <a:prstGeom prst="rect">
            <a:avLst/>
          </a:prstGeom>
        </p:spPr>
        <p:txBody>
          <a:bodyPr/>
          <a:lstStyle/>
          <a:p>
            <a:r>
              <a:rPr lang="en-US" sz="1400" b="1">
                <a:solidFill>
                  <a:srgbClr val="5B9BD5"/>
                </a:solidFill>
              </a:rPr>
              <a:t>SCENARIO A</a:t>
            </a:r>
          </a:p>
        </p:txBody>
      </p:sp>
      <p:sp>
        <p:nvSpPr>
          <p:cNvPr id="100112" name="Title"/>
          <p:cNvSpPr txBox="1"/>
          <p:nvPr/>
        </p:nvSpPr>
        <p:spPr>
          <a:xfrm>
            <a:off x="540000" y="612000"/>
            <a:ext cx="10800000" cy="540000"/>
          </a:xfrm>
          <a:prstGeom prst="rect">
            <a:avLst/>
          </a:prstGeom>
        </p:spPr>
        <p:txBody>
          <a:bodyPr/>
          <a:lstStyle/>
          <a:p>
            <a:r>
              <a:rPr lang="en-US" sz="3200" b="1">
                <a:solidFill>
                  <a:srgbClr val="FFFFFF"/>
                </a:solidFill>
              </a:rPr>
              <a:t>Ingest Real GitHub Events via Airflow</a:t>
            </a:r>
          </a:p>
        </p:txBody>
      </p:sp>
      <p:sp>
        <p:nvSpPr>
          <p:cNvPr id="100113" name="Goal"/>
          <p:cNvSpPr txBox="1"/>
          <p:nvPr/>
        </p:nvSpPr>
        <p:spPr>
          <a:xfrm>
            <a:off x="540000" y="1224000"/>
            <a:ext cx="10800000" cy="432000"/>
          </a:xfrm>
          <a:prstGeom prst="rect">
            <a:avLst/>
          </a:prstGeom>
          <a:solidFill>
            <a:srgbClr val="1A3050"/>
          </a:solidFill>
        </p:spPr>
        <p:txBody>
          <a:bodyPr anchor="ctr"/>
          <a:lstStyle/>
          <a:p>
            <a:r>
              <a:rPr lang="en-US" sz="1700" dirty="0">
                <a:solidFill>
                  <a:srgbClr val="A8C6E8"/>
                </a:solidFill>
              </a:rPr>
              <a:t>Goal: Trigger the 3-task DAG and watch 1.7M+ GitHub events land in your </a:t>
            </a:r>
            <a:r>
              <a:rPr lang="en-US" sz="1700" dirty="0" err="1">
                <a:solidFill>
                  <a:srgbClr val="A8C6E8"/>
                </a:solidFill>
              </a:rPr>
              <a:t>lakehouse</a:t>
            </a:r>
            <a:endParaRPr lang="en-US" sz="1700" dirty="0">
              <a:solidFill>
                <a:srgbClr val="A8C6E8"/>
              </a:solidFill>
            </a:endParaRPr>
          </a:p>
        </p:txBody>
      </p:sp>
      <p:sp>
        <p:nvSpPr>
          <p:cNvPr id="100114" name="S1"/>
          <p:cNvSpPr txBox="1"/>
          <p:nvPr/>
        </p:nvSpPr>
        <p:spPr>
          <a:xfrm>
            <a:off x="540000" y="1745012"/>
            <a:ext cx="288000" cy="288000"/>
          </a:xfrm>
          <a:prstGeom prst="rect">
            <a:avLst/>
          </a:prstGeom>
          <a:solidFill>
            <a:srgbClr val="1A4B7A"/>
          </a:solidFill>
        </p:spPr>
        <p:txBody>
          <a:bodyPr/>
          <a:lstStyle/>
          <a:p>
            <a:pPr algn="ctr"/>
            <a:r>
              <a:rPr lang="en-US" sz="1600" b="1">
                <a:solidFill>
                  <a:srgbClr val="FFFFFF"/>
                </a:solidFill>
              </a:rPr>
              <a:t>1</a:t>
            </a:r>
          </a:p>
        </p:txBody>
      </p:sp>
      <p:sp>
        <p:nvSpPr>
          <p:cNvPr id="100115" name="S1T"/>
          <p:cNvSpPr txBox="1"/>
          <p:nvPr/>
        </p:nvSpPr>
        <p:spPr>
          <a:xfrm>
            <a:off x="900000" y="1745012"/>
            <a:ext cx="10440000" cy="288000"/>
          </a:xfrm>
          <a:prstGeom prst="rect">
            <a:avLst/>
          </a:prstGeom>
        </p:spPr>
        <p:txBody>
          <a:bodyPr/>
          <a:lstStyle/>
          <a:p>
            <a:r>
              <a:rPr lang="en-US" sz="1700">
                <a:solidFill>
                  <a:srgbClr val="FFFFFF"/>
                </a:solidFill>
              </a:rPr>
              <a:t>Open Airflow at http://localhost:8085  (admin / admin)</a:t>
            </a:r>
          </a:p>
        </p:txBody>
      </p:sp>
      <p:sp>
        <p:nvSpPr>
          <p:cNvPr id="100116" name="S2"/>
          <p:cNvSpPr txBox="1"/>
          <p:nvPr/>
        </p:nvSpPr>
        <p:spPr>
          <a:xfrm>
            <a:off x="540000" y="2141012"/>
            <a:ext cx="288000" cy="288000"/>
          </a:xfrm>
          <a:prstGeom prst="rect">
            <a:avLst/>
          </a:prstGeom>
          <a:solidFill>
            <a:srgbClr val="1A4B7A"/>
          </a:solidFill>
        </p:spPr>
        <p:txBody>
          <a:bodyPr/>
          <a:lstStyle/>
          <a:p>
            <a:pPr algn="ctr"/>
            <a:r>
              <a:rPr lang="en-US" sz="1600" b="1">
                <a:solidFill>
                  <a:srgbClr val="FFFFFF"/>
                </a:solidFill>
              </a:rPr>
              <a:t>2</a:t>
            </a:r>
          </a:p>
        </p:txBody>
      </p:sp>
      <p:sp>
        <p:nvSpPr>
          <p:cNvPr id="100117" name="S2T"/>
          <p:cNvSpPr txBox="1"/>
          <p:nvPr/>
        </p:nvSpPr>
        <p:spPr>
          <a:xfrm>
            <a:off x="900000" y="2141012"/>
            <a:ext cx="10440000" cy="288000"/>
          </a:xfrm>
          <a:prstGeom prst="rect">
            <a:avLst/>
          </a:prstGeom>
        </p:spPr>
        <p:txBody>
          <a:bodyPr/>
          <a:lstStyle/>
          <a:p>
            <a:r>
              <a:rPr lang="en-US" sz="1700">
                <a:solidFill>
                  <a:srgbClr val="FFFFFF"/>
                </a:solidFill>
              </a:rPr>
              <a:t>Toggle the github_events_ingestion DAG to Active (unpause it)</a:t>
            </a:r>
          </a:p>
        </p:txBody>
      </p:sp>
      <p:sp>
        <p:nvSpPr>
          <p:cNvPr id="100118" name="S2Note"/>
          <p:cNvSpPr txBox="1"/>
          <p:nvPr/>
        </p:nvSpPr>
        <p:spPr>
          <a:xfrm>
            <a:off x="900000" y="2465012"/>
            <a:ext cx="10440000" cy="216000"/>
          </a:xfrm>
          <a:prstGeom prst="rect">
            <a:avLst/>
          </a:prstGeom>
        </p:spPr>
        <p:txBody>
          <a:bodyPr/>
          <a:lstStyle/>
          <a:p>
            <a:r>
              <a:rPr lang="en-US" sz="1400" dirty="0">
                <a:solidFill>
                  <a:srgbClr val="7A8DA0"/>
                </a:solidFill>
              </a:rPr>
              <a:t>  Unpausing auto-starts the first run. For additional runs: click ▶ Trigger DAG</a:t>
            </a:r>
          </a:p>
        </p:txBody>
      </p:sp>
      <p:sp>
        <p:nvSpPr>
          <p:cNvPr id="100119" name="S3"/>
          <p:cNvSpPr txBox="1"/>
          <p:nvPr/>
        </p:nvSpPr>
        <p:spPr>
          <a:xfrm>
            <a:off x="540000" y="2753012"/>
            <a:ext cx="288000" cy="288000"/>
          </a:xfrm>
          <a:prstGeom prst="rect">
            <a:avLst/>
          </a:prstGeom>
          <a:solidFill>
            <a:srgbClr val="1A4B7A"/>
          </a:solidFill>
        </p:spPr>
        <p:txBody>
          <a:bodyPr/>
          <a:lstStyle/>
          <a:p>
            <a:pPr algn="ctr"/>
            <a:r>
              <a:rPr lang="en-US" sz="1600" b="1">
                <a:solidFill>
                  <a:srgbClr val="FFFFFF"/>
                </a:solidFill>
              </a:rPr>
              <a:t>3</a:t>
            </a:r>
          </a:p>
        </p:txBody>
      </p:sp>
      <p:sp>
        <p:nvSpPr>
          <p:cNvPr id="100120" name="S3T"/>
          <p:cNvSpPr txBox="1"/>
          <p:nvPr/>
        </p:nvSpPr>
        <p:spPr>
          <a:xfrm>
            <a:off x="900000" y="2753012"/>
            <a:ext cx="10440000" cy="288000"/>
          </a:xfrm>
          <a:prstGeom prst="rect">
            <a:avLst/>
          </a:prstGeom>
        </p:spPr>
        <p:txBody>
          <a:bodyPr/>
          <a:lstStyle/>
          <a:p>
            <a:r>
              <a:rPr lang="en-US" sz="1700">
                <a:solidFill>
                  <a:srgbClr val="FFFFFF"/>
                </a:solidFill>
              </a:rPr>
              <a:t>Watch live in the Grid / Graph view — 3 tasks in sequence:</a:t>
            </a:r>
          </a:p>
        </p:txBody>
      </p:sp>
      <p:sp>
        <p:nvSpPr>
          <p:cNvPr id="100121" name="Tasks"/>
          <p:cNvSpPr txBox="1"/>
          <p:nvPr/>
        </p:nvSpPr>
        <p:spPr>
          <a:xfrm>
            <a:off x="900000" y="3077012"/>
            <a:ext cx="10440000" cy="288000"/>
          </a:xfrm>
          <a:prstGeom prst="rect">
            <a:avLst/>
          </a:prstGeom>
        </p:spPr>
        <p:txBody>
          <a:bodyPr/>
          <a:lstStyle/>
          <a:p>
            <a:r>
              <a:rPr lang="en-US" sz="1600">
                <a:solidFill>
                  <a:srgbClr val="A8D89A"/>
                </a:solidFill>
              </a:rPr>
              <a:t>  download_and_upload_raw_data  →  trigger_hudi_ingestion  →  run_data_quality_assertions</a:t>
            </a:r>
          </a:p>
        </p:txBody>
      </p:sp>
      <p:sp>
        <p:nvSpPr>
          <p:cNvPr id="100122" name="S4"/>
          <p:cNvSpPr txBox="1"/>
          <p:nvPr/>
        </p:nvSpPr>
        <p:spPr>
          <a:xfrm>
            <a:off x="540000" y="3473012"/>
            <a:ext cx="288000" cy="288000"/>
          </a:xfrm>
          <a:prstGeom prst="rect">
            <a:avLst/>
          </a:prstGeom>
          <a:solidFill>
            <a:srgbClr val="1A4B7A"/>
          </a:solidFill>
        </p:spPr>
        <p:txBody>
          <a:bodyPr/>
          <a:lstStyle/>
          <a:p>
            <a:pPr algn="ctr"/>
            <a:r>
              <a:rPr lang="en-US" sz="1600" b="1">
                <a:solidFill>
                  <a:srgbClr val="FFFFFF"/>
                </a:solidFill>
              </a:rPr>
              <a:t>4</a:t>
            </a:r>
          </a:p>
        </p:txBody>
      </p:sp>
      <p:sp>
        <p:nvSpPr>
          <p:cNvPr id="100123" name="S4T"/>
          <p:cNvSpPr txBox="1"/>
          <p:nvPr/>
        </p:nvSpPr>
        <p:spPr>
          <a:xfrm>
            <a:off x="900000" y="3473012"/>
            <a:ext cx="10440000" cy="288000"/>
          </a:xfrm>
          <a:prstGeom prst="rect">
            <a:avLst/>
          </a:prstGeom>
        </p:spPr>
        <p:txBody>
          <a:bodyPr/>
          <a:lstStyle/>
          <a:p>
            <a:r>
              <a:rPr lang="en-US" sz="1700" dirty="0">
                <a:solidFill>
                  <a:srgbClr val="FFFFFF"/>
                </a:solidFill>
              </a:rPr>
              <a:t>While Task 2 runs: open http://localhost:4040 to see Spark live stages</a:t>
            </a:r>
          </a:p>
        </p:txBody>
      </p:sp>
      <p:sp>
        <p:nvSpPr>
          <p:cNvPr id="100124" name="S5"/>
          <p:cNvSpPr txBox="1"/>
          <p:nvPr/>
        </p:nvSpPr>
        <p:spPr>
          <a:xfrm>
            <a:off x="540000" y="3869012"/>
            <a:ext cx="288000" cy="288000"/>
          </a:xfrm>
          <a:prstGeom prst="rect">
            <a:avLst/>
          </a:prstGeom>
          <a:solidFill>
            <a:srgbClr val="1A4B7A"/>
          </a:solidFill>
        </p:spPr>
        <p:txBody>
          <a:bodyPr/>
          <a:lstStyle/>
          <a:p>
            <a:pPr algn="ctr"/>
            <a:r>
              <a:rPr lang="en-US" sz="1600" b="1">
                <a:solidFill>
                  <a:srgbClr val="FFFFFF"/>
                </a:solidFill>
              </a:rPr>
              <a:t>5</a:t>
            </a:r>
          </a:p>
        </p:txBody>
      </p:sp>
      <p:sp>
        <p:nvSpPr>
          <p:cNvPr id="100125" name="S5T"/>
          <p:cNvSpPr txBox="1"/>
          <p:nvPr/>
        </p:nvSpPr>
        <p:spPr>
          <a:xfrm>
            <a:off x="900000" y="3869012"/>
            <a:ext cx="10440000" cy="288000"/>
          </a:xfrm>
          <a:prstGeom prst="rect">
            <a:avLst/>
          </a:prstGeom>
        </p:spPr>
        <p:txBody>
          <a:bodyPr/>
          <a:lstStyle/>
          <a:p>
            <a:r>
              <a:rPr lang="en-US" sz="1700">
                <a:solidFill>
                  <a:srgbClr val="FFFFFF"/>
                </a:solidFill>
              </a:rPr>
              <a:t>After Task 2: verify files in MinIO at http://localhost:9001 → github-raw-data bucket</a:t>
            </a:r>
          </a:p>
        </p:txBody>
      </p:sp>
      <p:sp>
        <p:nvSpPr>
          <p:cNvPr id="100127" name="QualGate"/>
          <p:cNvSpPr txBox="1"/>
          <p:nvPr/>
        </p:nvSpPr>
        <p:spPr>
          <a:xfrm>
            <a:off x="540000" y="4769012"/>
            <a:ext cx="10800000" cy="432000"/>
          </a:xfrm>
          <a:prstGeom prst="rect">
            <a:avLst/>
          </a:prstGeom>
          <a:solidFill>
            <a:srgbClr val="0A1A0A"/>
          </a:solidFill>
        </p:spPr>
        <p:txBody>
          <a:bodyPr anchor="ctr"/>
          <a:lstStyle/>
          <a:p>
            <a:r>
              <a:rPr lang="en-US" sz="1400" dirty="0">
                <a:solidFill>
                  <a:srgbClr val="A8D89A"/>
                </a:solidFill>
              </a:rPr>
              <a:t>Data Quality Gate (Task 3) checks: ✅ Row count &gt; 0   ✅ id never NULL   ✅ Zero duplicate IDs   ✅ Data &lt; 24h old   ✅ 2+ event partitions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128" name="ScenLabel"/>
          <p:cNvSpPr txBox="1"/>
          <p:nvPr/>
        </p:nvSpPr>
        <p:spPr>
          <a:xfrm>
            <a:off x="540000" y="288000"/>
            <a:ext cx="3600000" cy="288000"/>
          </a:xfrm>
          <a:prstGeom prst="rect">
            <a:avLst/>
          </a:prstGeom>
        </p:spPr>
        <p:txBody>
          <a:bodyPr/>
          <a:lstStyle/>
          <a:p>
            <a:r>
              <a:rPr lang="en-US" sz="1400" b="1">
                <a:solidFill>
                  <a:srgbClr val="5B9BD5"/>
                </a:solidFill>
              </a:rPr>
              <a:t>SCENARIO B</a:t>
            </a:r>
          </a:p>
        </p:txBody>
      </p:sp>
      <p:sp>
        <p:nvSpPr>
          <p:cNvPr id="100129" name="Title"/>
          <p:cNvSpPr txBox="1"/>
          <p:nvPr/>
        </p:nvSpPr>
        <p:spPr>
          <a:xfrm>
            <a:off x="540000" y="612000"/>
            <a:ext cx="10800000" cy="540000"/>
          </a:xfrm>
          <a:prstGeom prst="rect">
            <a:avLst/>
          </a:prstGeom>
        </p:spPr>
        <p:txBody>
          <a:bodyPr/>
          <a:lstStyle/>
          <a:p>
            <a:r>
              <a:rPr lang="en-US" sz="3200" b="1">
                <a:solidFill>
                  <a:srgbClr val="FFFFFF"/>
                </a:solidFill>
              </a:rPr>
              <a:t>Query the Lakehouse with PrestoDB</a:t>
            </a:r>
          </a:p>
        </p:txBody>
      </p:sp>
      <p:sp>
        <p:nvSpPr>
          <p:cNvPr id="100130" name="Goal"/>
          <p:cNvSpPr txBox="1"/>
          <p:nvPr/>
        </p:nvSpPr>
        <p:spPr>
          <a:xfrm>
            <a:off x="540000" y="1224000"/>
            <a:ext cx="10800000" cy="360000"/>
          </a:xfrm>
          <a:prstGeom prst="rect">
            <a:avLst/>
          </a:prstGeom>
          <a:solidFill>
            <a:srgbClr val="1A3050"/>
          </a:solidFill>
        </p:spPr>
        <p:txBody>
          <a:bodyPr anchor="ctr"/>
          <a:lstStyle/>
          <a:p>
            <a:r>
              <a:rPr lang="en-US" sz="1700" dirty="0">
                <a:solidFill>
                  <a:srgbClr val="A8C6E8"/>
                </a:solidFill>
              </a:rPr>
              <a:t>Goal: Run distributed SQL against 1.7M+ Hudi records and observe partition pruning in action</a:t>
            </a:r>
          </a:p>
        </p:txBody>
      </p:sp>
      <p:sp>
        <p:nvSpPr>
          <p:cNvPr id="100131" name="OptALabel"/>
          <p:cNvSpPr txBox="1"/>
          <p:nvPr/>
        </p:nvSpPr>
        <p:spPr>
          <a:xfrm>
            <a:off x="540000" y="1620000"/>
            <a:ext cx="10800000" cy="288000"/>
          </a:xfrm>
          <a:prstGeom prst="rect">
            <a:avLst/>
          </a:prstGeom>
        </p:spPr>
        <p:txBody>
          <a:bodyPr/>
          <a:lstStyle/>
          <a:p>
            <a:r>
              <a:rPr lang="en-US" sz="1800" b="1" dirty="0">
                <a:solidFill>
                  <a:srgbClr val="5B9BD5"/>
                </a:solidFill>
              </a:rPr>
              <a:t>Option A — Superset SQL Lab (recommended)</a:t>
            </a:r>
          </a:p>
        </p:txBody>
      </p:sp>
      <p:sp>
        <p:nvSpPr>
          <p:cNvPr id="100132" name="OptA"/>
          <p:cNvSpPr txBox="1"/>
          <p:nvPr/>
        </p:nvSpPr>
        <p:spPr>
          <a:xfrm>
            <a:off x="540000" y="1944000"/>
            <a:ext cx="10800000" cy="1260000"/>
          </a:xfrm>
          <a:prstGeom prst="rect">
            <a:avLst/>
          </a:prstGeom>
        </p:spPr>
        <p:txBody>
          <a:bodyPr/>
          <a:lstStyle/>
          <a:p>
            <a:r>
              <a:rPr lang="en-US" sz="1600" dirty="0">
                <a:solidFill>
                  <a:srgbClr val="D0E4F7"/>
                </a:solidFill>
              </a:rPr>
              <a:t>1.  Open http://localhost:8088  (admin / admin)</a:t>
            </a:r>
          </a:p>
          <a:p>
            <a:r>
              <a:rPr lang="en-US" sz="1600" dirty="0">
                <a:solidFill>
                  <a:srgbClr val="D0E4F7"/>
                </a:solidFill>
              </a:rPr>
              <a:t>2.  Settings → Database Connections → + Database → select Presto</a:t>
            </a:r>
          </a:p>
          <a:p>
            <a:r>
              <a:rPr lang="en-US" sz="1600" dirty="0">
                <a:solidFill>
                  <a:srgbClr val="D0E4F7"/>
                </a:solidFill>
              </a:rPr>
              <a:t>3.  </a:t>
            </a:r>
            <a:r>
              <a:rPr lang="en-US" sz="1600" dirty="0" err="1">
                <a:solidFill>
                  <a:srgbClr val="D0E4F7"/>
                </a:solidFill>
              </a:rPr>
              <a:t>SQLAlchemy</a:t>
            </a:r>
            <a:r>
              <a:rPr lang="en-US" sz="1600" dirty="0">
                <a:solidFill>
                  <a:srgbClr val="D0E4F7"/>
                </a:solidFill>
              </a:rPr>
              <a:t> URI:  presto://superset@presto-server:8080/</a:t>
            </a:r>
            <a:r>
              <a:rPr lang="en-US" sz="1600" dirty="0" err="1">
                <a:solidFill>
                  <a:srgbClr val="D0E4F7"/>
                </a:solidFill>
              </a:rPr>
              <a:t>hudi</a:t>
            </a:r>
            <a:r>
              <a:rPr lang="en-US" sz="1600" dirty="0">
                <a:solidFill>
                  <a:srgbClr val="D0E4F7"/>
                </a:solidFill>
              </a:rPr>
              <a:t>/default</a:t>
            </a:r>
          </a:p>
          <a:p>
            <a:r>
              <a:rPr lang="en-US" sz="1600" dirty="0">
                <a:solidFill>
                  <a:srgbClr val="D0E4F7"/>
                </a:solidFill>
              </a:rPr>
              <a:t>4.  Test Connection → Connect</a:t>
            </a:r>
          </a:p>
          <a:p>
            <a:r>
              <a:rPr lang="en-US" sz="1600" dirty="0">
                <a:solidFill>
                  <a:srgbClr val="D0E4F7"/>
                </a:solidFill>
              </a:rPr>
              <a:t>5.  SQL Lab → SQL Editor → Database: Presto, Schema: default</a:t>
            </a:r>
          </a:p>
        </p:txBody>
      </p:sp>
      <p:sp>
        <p:nvSpPr>
          <p:cNvPr id="100133" name="OptBLabel"/>
          <p:cNvSpPr txBox="1"/>
          <p:nvPr/>
        </p:nvSpPr>
        <p:spPr>
          <a:xfrm>
            <a:off x="540000" y="3312000"/>
            <a:ext cx="10800000" cy="288000"/>
          </a:xfrm>
          <a:prstGeom prst="rect">
            <a:avLst/>
          </a:prstGeom>
        </p:spPr>
        <p:txBody>
          <a:bodyPr/>
          <a:lstStyle/>
          <a:p>
            <a:r>
              <a:rPr lang="en-US" sz="1800" b="1">
                <a:solidFill>
                  <a:srgbClr val="5B9BD5"/>
                </a:solidFill>
              </a:rPr>
              <a:t>Option B — Presto CLI</a:t>
            </a:r>
          </a:p>
        </p:txBody>
      </p:sp>
      <p:sp>
        <p:nvSpPr>
          <p:cNvPr id="100134" name="OptB"/>
          <p:cNvSpPr txBox="1"/>
          <p:nvPr/>
        </p:nvSpPr>
        <p:spPr>
          <a:xfrm>
            <a:off x="540000" y="3636000"/>
            <a:ext cx="10800000" cy="360000"/>
          </a:xfrm>
          <a:prstGeom prst="rect">
            <a:avLst/>
          </a:prstGeom>
          <a:solidFill>
            <a:srgbClr val="0A1A0A"/>
          </a:solidFill>
        </p:spPr>
        <p:txBody>
          <a:bodyPr anchor="ctr"/>
          <a:lstStyle/>
          <a:p>
            <a:r>
              <a:rPr lang="en-US" sz="1600" dirty="0">
                <a:solidFill>
                  <a:srgbClr val="A8D89A"/>
                </a:solidFill>
              </a:rPr>
              <a:t>docker exec -it presto-server presto-cli --catalog </a:t>
            </a:r>
            <a:r>
              <a:rPr lang="en-US" sz="1600" dirty="0" err="1">
                <a:solidFill>
                  <a:srgbClr val="A8D89A"/>
                </a:solidFill>
              </a:rPr>
              <a:t>hudi</a:t>
            </a:r>
            <a:r>
              <a:rPr lang="en-US" sz="1600" dirty="0">
                <a:solidFill>
                  <a:srgbClr val="A8D89A"/>
                </a:solidFill>
              </a:rPr>
              <a:t> --schema default</a:t>
            </a:r>
          </a:p>
        </p:txBody>
      </p:sp>
      <p:sp>
        <p:nvSpPr>
          <p:cNvPr id="100135" name="RONote"/>
          <p:cNvSpPr txBox="1"/>
          <p:nvPr/>
        </p:nvSpPr>
        <p:spPr>
          <a:xfrm>
            <a:off x="540000" y="4104000"/>
            <a:ext cx="10800000" cy="252000"/>
          </a:xfrm>
          <a:prstGeom prst="rect">
            <a:avLst/>
          </a:prstGeom>
        </p:spPr>
        <p:txBody>
          <a:bodyPr/>
          <a:lstStyle/>
          <a:p>
            <a:pPr algn="ctr"/>
            <a:r>
              <a:rPr lang="en-US" sz="1400">
                <a:solidFill>
                  <a:srgbClr val="F0C040"/>
                </a:solidFill>
              </a:rPr>
              <a:t>Note: Presto Hudi connector is READ-ONLY. SELECT only. DDL/DML writes go through Spark.</a:t>
            </a:r>
          </a:p>
        </p:txBody>
      </p:sp>
      <p:sp>
        <p:nvSpPr>
          <p:cNvPr id="2" name="PreReq">
            <a:extLst>
              <a:ext uri="{FF2B5EF4-FFF2-40B4-BE49-F238E27FC236}">
                <a16:creationId xmlns:a16="http://schemas.microsoft.com/office/drawing/2014/main" id="{FA2A67BE-13D9-3578-0E5C-37EF4B77E832}"/>
              </a:ext>
            </a:extLst>
          </p:cNvPr>
          <p:cNvSpPr txBox="1"/>
          <p:nvPr/>
        </p:nvSpPr>
        <p:spPr>
          <a:xfrm>
            <a:off x="194767" y="4464000"/>
            <a:ext cx="10800000" cy="252000"/>
          </a:xfrm>
          <a:prstGeom prst="rect">
            <a:avLst/>
          </a:prstGeom>
        </p:spPr>
        <p:txBody>
          <a:bodyPr/>
          <a:lstStyle/>
          <a:p>
            <a:pPr algn="ctr"/>
            <a:r>
              <a:rPr lang="en-US" sz="1400" dirty="0">
                <a:solidFill>
                  <a:srgbClr val="F0C040"/>
                </a:solidFill>
              </a:rPr>
              <a:t>Note: If you don’t see the Presto connection, try restarting the superset container</a:t>
            </a:r>
          </a:p>
        </p:txBody>
      </p:sp>
      <p:sp>
        <p:nvSpPr>
          <p:cNvPr id="3" name="Cmd">
            <a:extLst>
              <a:ext uri="{FF2B5EF4-FFF2-40B4-BE49-F238E27FC236}">
                <a16:creationId xmlns:a16="http://schemas.microsoft.com/office/drawing/2014/main" id="{BF91BDD6-1B9A-DA29-B089-0D04B0F49D4C}"/>
              </a:ext>
            </a:extLst>
          </p:cNvPr>
          <p:cNvSpPr txBox="1"/>
          <p:nvPr/>
        </p:nvSpPr>
        <p:spPr>
          <a:xfrm>
            <a:off x="2567486" y="4788000"/>
            <a:ext cx="5381203" cy="358821"/>
          </a:xfrm>
          <a:prstGeom prst="rect">
            <a:avLst/>
          </a:prstGeom>
          <a:solidFill>
            <a:srgbClr val="0A1A0A"/>
          </a:solidFill>
        </p:spPr>
        <p:txBody>
          <a:bodyPr anchor="ctr"/>
          <a:lstStyle/>
          <a:p>
            <a:r>
              <a:rPr lang="en-US" sz="1400" dirty="0">
                <a:solidFill>
                  <a:srgbClr val="A8D89A"/>
                </a:solidFill>
              </a:rPr>
              <a:t>docker compose restart superset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136" name="ScenLabel"/>
          <p:cNvSpPr txBox="1"/>
          <p:nvPr/>
        </p:nvSpPr>
        <p:spPr>
          <a:xfrm>
            <a:off x="540000" y="180000"/>
            <a:ext cx="3600000" cy="288000"/>
          </a:xfrm>
          <a:prstGeom prst="rect">
            <a:avLst/>
          </a:prstGeom>
        </p:spPr>
        <p:txBody>
          <a:bodyPr/>
          <a:lstStyle/>
          <a:p>
            <a:r>
              <a:rPr lang="en-US" sz="1300" b="1">
                <a:solidFill>
                  <a:srgbClr val="5B9BD5"/>
                </a:solidFill>
              </a:rPr>
              <a:t>SCENARIO B — SQL QUERIES</a:t>
            </a:r>
          </a:p>
        </p:txBody>
      </p:sp>
      <p:sp>
        <p:nvSpPr>
          <p:cNvPr id="100137" name="Title"/>
          <p:cNvSpPr txBox="1"/>
          <p:nvPr/>
        </p:nvSpPr>
        <p:spPr>
          <a:xfrm>
            <a:off x="540000" y="504000"/>
            <a:ext cx="10800000" cy="432000"/>
          </a:xfrm>
          <a:prstGeom prst="rect">
            <a:avLst/>
          </a:prstGeom>
        </p:spPr>
        <p:txBody>
          <a:bodyPr/>
          <a:lstStyle/>
          <a:p>
            <a:r>
              <a:rPr lang="en-US" sz="2800" b="1">
                <a:solidFill>
                  <a:srgbClr val="FFFFFF"/>
                </a:solidFill>
              </a:rPr>
              <a:t>SQL Queries to Try</a:t>
            </a:r>
          </a:p>
        </p:txBody>
      </p:sp>
      <p:sp>
        <p:nvSpPr>
          <p:cNvPr id="100138" name="Q1L"/>
          <p:cNvSpPr txBox="1"/>
          <p:nvPr/>
        </p:nvSpPr>
        <p:spPr>
          <a:xfrm>
            <a:off x="540000" y="1044000"/>
            <a:ext cx="10800000" cy="216000"/>
          </a:xfrm>
          <a:prstGeom prst="rect">
            <a:avLst/>
          </a:prstGeom>
        </p:spPr>
        <p:txBody>
          <a:bodyPr/>
          <a:lstStyle/>
          <a:p>
            <a:r>
              <a:rPr lang="en-US" sz="1500" b="1" dirty="0">
                <a:solidFill>
                  <a:srgbClr val="5B9BD5"/>
                </a:solidFill>
              </a:rPr>
              <a:t>Query 1 — Partition distribution (demonstrates partition pruning)</a:t>
            </a:r>
          </a:p>
        </p:txBody>
      </p:sp>
      <p:sp>
        <p:nvSpPr>
          <p:cNvPr id="100139" name="Q1"/>
          <p:cNvSpPr txBox="1"/>
          <p:nvPr/>
        </p:nvSpPr>
        <p:spPr>
          <a:xfrm>
            <a:off x="540000" y="1360736"/>
            <a:ext cx="10800000" cy="973656"/>
          </a:xfrm>
          <a:prstGeom prst="rect">
            <a:avLst/>
          </a:prstGeom>
          <a:solidFill>
            <a:srgbClr val="0A1A0A"/>
          </a:solidFill>
        </p:spPr>
        <p:txBody>
          <a:bodyPr anchor="ctr"/>
          <a:lstStyle/>
          <a:p>
            <a:r>
              <a:rPr lang="en-US" sz="1500" dirty="0">
                <a:solidFill>
                  <a:srgbClr val="A8D89A"/>
                </a:solidFill>
              </a:rPr>
              <a:t>SELECT type, count(*) AS events</a:t>
            </a:r>
          </a:p>
          <a:p>
            <a:r>
              <a:rPr lang="en-US" sz="1500" dirty="0">
                <a:solidFill>
                  <a:srgbClr val="A8D89A"/>
                </a:solidFill>
              </a:rPr>
              <a:t>FROM </a:t>
            </a:r>
            <a:r>
              <a:rPr lang="en-US" sz="1500" dirty="0" err="1">
                <a:solidFill>
                  <a:srgbClr val="A8D89A"/>
                </a:solidFill>
              </a:rPr>
              <a:t>github_events</a:t>
            </a:r>
            <a:endParaRPr lang="en-US" sz="1500" dirty="0">
              <a:solidFill>
                <a:srgbClr val="A8D89A"/>
              </a:solidFill>
            </a:endParaRPr>
          </a:p>
          <a:p>
            <a:r>
              <a:rPr lang="en-US" sz="1500" dirty="0">
                <a:solidFill>
                  <a:srgbClr val="A8D89A"/>
                </a:solidFill>
              </a:rPr>
              <a:t>GROUP BY type</a:t>
            </a:r>
          </a:p>
          <a:p>
            <a:r>
              <a:rPr lang="en-US" sz="1500" dirty="0">
                <a:solidFill>
                  <a:srgbClr val="A8D89A"/>
                </a:solidFill>
              </a:rPr>
              <a:t>ORDER BY events DESC;</a:t>
            </a:r>
          </a:p>
        </p:txBody>
      </p:sp>
      <p:sp>
        <p:nvSpPr>
          <p:cNvPr id="100140" name="Q2L"/>
          <p:cNvSpPr txBox="1"/>
          <p:nvPr/>
        </p:nvSpPr>
        <p:spPr>
          <a:xfrm>
            <a:off x="540000" y="2394668"/>
            <a:ext cx="10800000" cy="216000"/>
          </a:xfrm>
          <a:prstGeom prst="rect">
            <a:avLst/>
          </a:prstGeom>
        </p:spPr>
        <p:txBody>
          <a:bodyPr/>
          <a:lstStyle/>
          <a:p>
            <a:r>
              <a:rPr lang="en-US" sz="1500" b="1" dirty="0">
                <a:solidFill>
                  <a:srgbClr val="5B9BD5"/>
                </a:solidFill>
              </a:rPr>
              <a:t>Query 2 — Nested struct access (push event commit refs)</a:t>
            </a:r>
          </a:p>
        </p:txBody>
      </p:sp>
      <p:sp>
        <p:nvSpPr>
          <p:cNvPr id="100141" name="Q2"/>
          <p:cNvSpPr txBox="1"/>
          <p:nvPr/>
        </p:nvSpPr>
        <p:spPr>
          <a:xfrm>
            <a:off x="540000" y="2809336"/>
            <a:ext cx="10800000" cy="921092"/>
          </a:xfrm>
          <a:prstGeom prst="rect">
            <a:avLst/>
          </a:prstGeom>
          <a:solidFill>
            <a:srgbClr val="0A1A0A"/>
          </a:solidFill>
        </p:spPr>
        <p:txBody>
          <a:bodyPr anchor="ctr"/>
          <a:lstStyle/>
          <a:p>
            <a:r>
              <a:rPr lang="en-US" sz="1500" dirty="0">
                <a:solidFill>
                  <a:srgbClr val="A8D89A"/>
                </a:solidFill>
              </a:rPr>
              <a:t>SELECT </a:t>
            </a:r>
            <a:r>
              <a:rPr lang="en-US" sz="1500" dirty="0" err="1">
                <a:solidFill>
                  <a:srgbClr val="A8D89A"/>
                </a:solidFill>
              </a:rPr>
              <a:t>payload.push_id</a:t>
            </a:r>
            <a:r>
              <a:rPr lang="en-US" sz="1500" dirty="0">
                <a:solidFill>
                  <a:srgbClr val="A8D89A"/>
                </a:solidFill>
              </a:rPr>
              <a:t>, </a:t>
            </a:r>
            <a:r>
              <a:rPr lang="en-US" sz="1500" dirty="0" err="1">
                <a:solidFill>
                  <a:srgbClr val="A8D89A"/>
                </a:solidFill>
              </a:rPr>
              <a:t>payload.ref</a:t>
            </a:r>
            <a:r>
              <a:rPr lang="en-US" sz="1500" dirty="0">
                <a:solidFill>
                  <a:srgbClr val="A8D89A"/>
                </a:solidFill>
              </a:rPr>
              <a:t>, </a:t>
            </a:r>
            <a:r>
              <a:rPr lang="en-US" sz="1500" dirty="0" err="1">
                <a:solidFill>
                  <a:srgbClr val="A8D89A"/>
                </a:solidFill>
              </a:rPr>
              <a:t>payload.head</a:t>
            </a:r>
            <a:endParaRPr lang="en-US" sz="1500" dirty="0">
              <a:solidFill>
                <a:srgbClr val="A8D89A"/>
              </a:solidFill>
            </a:endParaRPr>
          </a:p>
          <a:p>
            <a:r>
              <a:rPr lang="en-US" sz="1500" dirty="0">
                <a:solidFill>
                  <a:srgbClr val="A8D89A"/>
                </a:solidFill>
              </a:rPr>
              <a:t>FROM </a:t>
            </a:r>
            <a:r>
              <a:rPr lang="en-US" sz="1500" dirty="0" err="1">
                <a:solidFill>
                  <a:srgbClr val="A8D89A"/>
                </a:solidFill>
              </a:rPr>
              <a:t>github_events</a:t>
            </a:r>
            <a:endParaRPr lang="en-US" sz="1500" dirty="0">
              <a:solidFill>
                <a:srgbClr val="A8D89A"/>
              </a:solidFill>
            </a:endParaRPr>
          </a:p>
          <a:p>
            <a:r>
              <a:rPr lang="en-US" sz="1500" dirty="0">
                <a:solidFill>
                  <a:srgbClr val="A8D89A"/>
                </a:solidFill>
              </a:rPr>
              <a:t>WHERE type = '</a:t>
            </a:r>
            <a:r>
              <a:rPr lang="en-US" sz="1500" dirty="0" err="1">
                <a:solidFill>
                  <a:srgbClr val="A8D89A"/>
                </a:solidFill>
              </a:rPr>
              <a:t>PushEvent</a:t>
            </a:r>
            <a:r>
              <a:rPr lang="en-US" sz="1500" dirty="0">
                <a:solidFill>
                  <a:srgbClr val="A8D89A"/>
                </a:solidFill>
              </a:rPr>
              <a:t>'</a:t>
            </a:r>
          </a:p>
          <a:p>
            <a:r>
              <a:rPr lang="en-US" sz="1500" dirty="0">
                <a:solidFill>
                  <a:srgbClr val="A8D89A"/>
                </a:solidFill>
              </a:rPr>
              <a:t>LIMIT 5;</a:t>
            </a:r>
          </a:p>
        </p:txBody>
      </p:sp>
      <p:sp>
        <p:nvSpPr>
          <p:cNvPr id="100142" name="Q3L"/>
          <p:cNvSpPr txBox="1"/>
          <p:nvPr/>
        </p:nvSpPr>
        <p:spPr>
          <a:xfrm>
            <a:off x="540000" y="3803846"/>
            <a:ext cx="10800000" cy="147532"/>
          </a:xfrm>
          <a:prstGeom prst="rect">
            <a:avLst/>
          </a:prstGeom>
        </p:spPr>
        <p:txBody>
          <a:bodyPr/>
          <a:lstStyle/>
          <a:p>
            <a:r>
              <a:rPr lang="en-US" sz="1500" b="1" dirty="0">
                <a:solidFill>
                  <a:srgbClr val="5B9BD5"/>
                </a:solidFill>
              </a:rPr>
              <a:t>Query 3 — ACID commit timeline inspection</a:t>
            </a:r>
          </a:p>
        </p:txBody>
      </p:sp>
      <p:sp>
        <p:nvSpPr>
          <p:cNvPr id="100143" name="Q3"/>
          <p:cNvSpPr txBox="1"/>
          <p:nvPr/>
        </p:nvSpPr>
        <p:spPr>
          <a:xfrm>
            <a:off x="540000" y="4135728"/>
            <a:ext cx="10800000" cy="994622"/>
          </a:xfrm>
          <a:prstGeom prst="rect">
            <a:avLst/>
          </a:prstGeom>
          <a:solidFill>
            <a:srgbClr val="0A1A0A"/>
          </a:solidFill>
        </p:spPr>
        <p:txBody>
          <a:bodyPr anchor="ctr"/>
          <a:lstStyle/>
          <a:p>
            <a:r>
              <a:rPr lang="en-US" sz="1500" dirty="0">
                <a:solidFill>
                  <a:srgbClr val="A8D89A"/>
                </a:solidFill>
              </a:rPr>
              <a:t>SELECT _</a:t>
            </a:r>
            <a:r>
              <a:rPr lang="en-US" sz="1500" dirty="0" err="1">
                <a:solidFill>
                  <a:srgbClr val="A8D89A"/>
                </a:solidFill>
              </a:rPr>
              <a:t>hoodie_commit_time</a:t>
            </a:r>
            <a:r>
              <a:rPr lang="en-US" sz="1500" dirty="0">
                <a:solidFill>
                  <a:srgbClr val="A8D89A"/>
                </a:solidFill>
              </a:rPr>
              <a:t>, count(*) AS rows</a:t>
            </a:r>
          </a:p>
          <a:p>
            <a:r>
              <a:rPr lang="en-US" sz="1500" dirty="0">
                <a:solidFill>
                  <a:srgbClr val="A8D89A"/>
                </a:solidFill>
              </a:rPr>
              <a:t>FROM </a:t>
            </a:r>
            <a:r>
              <a:rPr lang="en-US" sz="1500" dirty="0" err="1">
                <a:solidFill>
                  <a:srgbClr val="A8D89A"/>
                </a:solidFill>
              </a:rPr>
              <a:t>github_events</a:t>
            </a:r>
            <a:endParaRPr lang="en-US" sz="1500" dirty="0">
              <a:solidFill>
                <a:srgbClr val="A8D89A"/>
              </a:solidFill>
            </a:endParaRPr>
          </a:p>
          <a:p>
            <a:r>
              <a:rPr lang="en-US" sz="1500" dirty="0">
                <a:solidFill>
                  <a:srgbClr val="A8D89A"/>
                </a:solidFill>
              </a:rPr>
              <a:t>GROUP BY _</a:t>
            </a:r>
            <a:r>
              <a:rPr lang="en-US" sz="1500" dirty="0" err="1">
                <a:solidFill>
                  <a:srgbClr val="A8D89A"/>
                </a:solidFill>
              </a:rPr>
              <a:t>hoodie_commit_time</a:t>
            </a:r>
            <a:endParaRPr lang="en-US" sz="1500" dirty="0">
              <a:solidFill>
                <a:srgbClr val="A8D89A"/>
              </a:solidFill>
            </a:endParaRPr>
          </a:p>
          <a:p>
            <a:r>
              <a:rPr lang="en-US" sz="1500" dirty="0">
                <a:solidFill>
                  <a:srgbClr val="A8D89A"/>
                </a:solidFill>
              </a:rPr>
              <a:t>ORDER BY _</a:t>
            </a:r>
            <a:r>
              <a:rPr lang="en-US" sz="1500" dirty="0" err="1">
                <a:solidFill>
                  <a:srgbClr val="A8D89A"/>
                </a:solidFill>
              </a:rPr>
              <a:t>hoodie_commit_time</a:t>
            </a:r>
            <a:r>
              <a:rPr lang="en-US" sz="1500" dirty="0">
                <a:solidFill>
                  <a:srgbClr val="A8D89A"/>
                </a:solidFill>
              </a:rPr>
              <a:t> DESC;</a:t>
            </a:r>
          </a:p>
        </p:txBody>
      </p:sp>
      <p:sp>
        <p:nvSpPr>
          <p:cNvPr id="100144" name="Q4L"/>
          <p:cNvSpPr txBox="1"/>
          <p:nvPr/>
        </p:nvSpPr>
        <p:spPr>
          <a:xfrm>
            <a:off x="540000" y="5219250"/>
            <a:ext cx="10800000" cy="147532"/>
          </a:xfrm>
          <a:prstGeom prst="rect">
            <a:avLst/>
          </a:prstGeom>
        </p:spPr>
        <p:txBody>
          <a:bodyPr/>
          <a:lstStyle/>
          <a:p>
            <a:r>
              <a:rPr lang="en-US" sz="1500" b="1" dirty="0">
                <a:solidFill>
                  <a:srgbClr val="5B9BD5"/>
                </a:solidFill>
              </a:rPr>
              <a:t>Query 4 — PR branch analysis (nested nested struct)</a:t>
            </a:r>
          </a:p>
        </p:txBody>
      </p:sp>
      <p:sp>
        <p:nvSpPr>
          <p:cNvPr id="100145" name="Q4"/>
          <p:cNvSpPr txBox="1"/>
          <p:nvPr/>
        </p:nvSpPr>
        <p:spPr>
          <a:xfrm>
            <a:off x="540000" y="5603875"/>
            <a:ext cx="10800000" cy="1007318"/>
          </a:xfrm>
          <a:prstGeom prst="rect">
            <a:avLst/>
          </a:prstGeom>
          <a:solidFill>
            <a:srgbClr val="0A1A0A"/>
          </a:solidFill>
        </p:spPr>
        <p:txBody>
          <a:bodyPr anchor="ctr"/>
          <a:lstStyle/>
          <a:p>
            <a:r>
              <a:rPr lang="en-US" sz="1500" dirty="0">
                <a:solidFill>
                  <a:srgbClr val="A8D89A"/>
                </a:solidFill>
              </a:rPr>
              <a:t>SELECT </a:t>
            </a:r>
            <a:r>
              <a:rPr lang="en-US" sz="1500" dirty="0" err="1">
                <a:solidFill>
                  <a:srgbClr val="A8D89A"/>
                </a:solidFill>
              </a:rPr>
              <a:t>payload.pull_request.number</a:t>
            </a:r>
            <a:r>
              <a:rPr lang="en-US" sz="1500" dirty="0">
                <a:solidFill>
                  <a:srgbClr val="A8D89A"/>
                </a:solidFill>
              </a:rPr>
              <a:t>,</a:t>
            </a:r>
          </a:p>
          <a:p>
            <a:r>
              <a:rPr lang="en-US" sz="1500" dirty="0">
                <a:solidFill>
                  <a:srgbClr val="A8D89A"/>
                </a:solidFill>
              </a:rPr>
              <a:t>       </a:t>
            </a:r>
            <a:r>
              <a:rPr lang="en-US" sz="1500" dirty="0" err="1">
                <a:solidFill>
                  <a:srgbClr val="A8D89A"/>
                </a:solidFill>
              </a:rPr>
              <a:t>payload.pull_request.head.ref</a:t>
            </a:r>
            <a:r>
              <a:rPr lang="en-US" sz="1500" dirty="0">
                <a:solidFill>
                  <a:srgbClr val="A8D89A"/>
                </a:solidFill>
              </a:rPr>
              <a:t> AS </a:t>
            </a:r>
            <a:r>
              <a:rPr lang="en-US" sz="1500" dirty="0" err="1">
                <a:solidFill>
                  <a:srgbClr val="A8D89A"/>
                </a:solidFill>
              </a:rPr>
              <a:t>source_branch</a:t>
            </a:r>
            <a:r>
              <a:rPr lang="en-US" sz="1500" dirty="0">
                <a:solidFill>
                  <a:srgbClr val="A8D89A"/>
                </a:solidFill>
              </a:rPr>
              <a:t>,</a:t>
            </a:r>
          </a:p>
          <a:p>
            <a:r>
              <a:rPr lang="en-US" sz="1500" dirty="0">
                <a:solidFill>
                  <a:srgbClr val="A8D89A"/>
                </a:solidFill>
              </a:rPr>
              <a:t>       </a:t>
            </a:r>
            <a:r>
              <a:rPr lang="en-US" sz="1500" dirty="0" err="1">
                <a:solidFill>
                  <a:srgbClr val="A8D89A"/>
                </a:solidFill>
              </a:rPr>
              <a:t>payload.pull_request.base.ref</a:t>
            </a:r>
            <a:r>
              <a:rPr lang="en-US" sz="1500" dirty="0">
                <a:solidFill>
                  <a:srgbClr val="A8D89A"/>
                </a:solidFill>
              </a:rPr>
              <a:t> AS </a:t>
            </a:r>
            <a:r>
              <a:rPr lang="en-US" sz="1500" dirty="0" err="1">
                <a:solidFill>
                  <a:srgbClr val="A8D89A"/>
                </a:solidFill>
              </a:rPr>
              <a:t>target_branch</a:t>
            </a:r>
            <a:endParaRPr lang="en-US" sz="1500" dirty="0">
              <a:solidFill>
                <a:srgbClr val="A8D89A"/>
              </a:solidFill>
            </a:endParaRPr>
          </a:p>
          <a:p>
            <a:r>
              <a:rPr lang="en-US" sz="1500" dirty="0">
                <a:solidFill>
                  <a:srgbClr val="A8D89A"/>
                </a:solidFill>
              </a:rPr>
              <a:t>FROM </a:t>
            </a:r>
            <a:r>
              <a:rPr lang="en-US" sz="1500" dirty="0" err="1">
                <a:solidFill>
                  <a:srgbClr val="A8D89A"/>
                </a:solidFill>
              </a:rPr>
              <a:t>github_events</a:t>
            </a:r>
            <a:r>
              <a:rPr lang="en-US" sz="1500" dirty="0">
                <a:solidFill>
                  <a:srgbClr val="A8D89A"/>
                </a:solidFill>
              </a:rPr>
              <a:t> WHERE type = '</a:t>
            </a:r>
            <a:r>
              <a:rPr lang="en-US" sz="1500" dirty="0" err="1">
                <a:solidFill>
                  <a:srgbClr val="A8D89A"/>
                </a:solidFill>
              </a:rPr>
              <a:t>PullRequestEvent</a:t>
            </a:r>
            <a:r>
              <a:rPr lang="en-US" sz="1500" dirty="0">
                <a:solidFill>
                  <a:srgbClr val="A8D89A"/>
                </a:solidFill>
              </a:rPr>
              <a:t>' LIMIT 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146" name="ScenLabel"/>
          <p:cNvSpPr txBox="1"/>
          <p:nvPr/>
        </p:nvSpPr>
        <p:spPr>
          <a:xfrm>
            <a:off x="540000" y="288000"/>
            <a:ext cx="3600000" cy="288000"/>
          </a:xfrm>
          <a:prstGeom prst="rect">
            <a:avLst/>
          </a:prstGeom>
        </p:spPr>
        <p:txBody>
          <a:bodyPr/>
          <a:lstStyle/>
          <a:p>
            <a:r>
              <a:rPr lang="en-US" sz="1400" b="1">
                <a:solidFill>
                  <a:srgbClr val="5B9BD5"/>
                </a:solidFill>
              </a:rPr>
              <a:t>SCENARIO C</a:t>
            </a:r>
          </a:p>
        </p:txBody>
      </p:sp>
      <p:sp>
        <p:nvSpPr>
          <p:cNvPr id="100147" name="Title"/>
          <p:cNvSpPr txBox="1"/>
          <p:nvPr/>
        </p:nvSpPr>
        <p:spPr>
          <a:xfrm>
            <a:off x="540000" y="612000"/>
            <a:ext cx="10800000" cy="540000"/>
          </a:xfrm>
          <a:prstGeom prst="rect">
            <a:avLst/>
          </a:prstGeom>
        </p:spPr>
        <p:txBody>
          <a:bodyPr/>
          <a:lstStyle/>
          <a:p>
            <a:r>
              <a:rPr lang="en-US" sz="3200" b="1">
                <a:solidFill>
                  <a:srgbClr val="FFFFFF"/>
                </a:solidFill>
              </a:rPr>
              <a:t>Hudi ACID Superpowers Demo</a:t>
            </a:r>
          </a:p>
        </p:txBody>
      </p:sp>
      <p:sp>
        <p:nvSpPr>
          <p:cNvPr id="100148" name="Goal"/>
          <p:cNvSpPr txBox="1"/>
          <p:nvPr/>
        </p:nvSpPr>
        <p:spPr>
          <a:xfrm>
            <a:off x="540000" y="1224000"/>
            <a:ext cx="10800000" cy="288000"/>
          </a:xfrm>
          <a:prstGeom prst="rect">
            <a:avLst/>
          </a:prstGeom>
          <a:solidFill>
            <a:srgbClr val="1A3050"/>
          </a:solidFill>
        </p:spPr>
        <p:txBody>
          <a:bodyPr anchor="ctr"/>
          <a:lstStyle/>
          <a:p>
            <a:r>
              <a:rPr lang="en-US" sz="1700" dirty="0">
                <a:solidFill>
                  <a:srgbClr val="A8C6E8"/>
                </a:solidFill>
              </a:rPr>
              <a:t>Goal: Witness in-place record mutation, GDPR deletion, and commit timeline time-travel — all without table rewrites</a:t>
            </a:r>
          </a:p>
        </p:txBody>
      </p:sp>
      <p:sp>
        <p:nvSpPr>
          <p:cNvPr id="100149" name="CmdLabel"/>
          <p:cNvSpPr txBox="1"/>
          <p:nvPr/>
        </p:nvSpPr>
        <p:spPr>
          <a:xfrm>
            <a:off x="540000" y="1620000"/>
            <a:ext cx="10800000" cy="216000"/>
          </a:xfrm>
          <a:prstGeom prst="rect">
            <a:avLst/>
          </a:prstGeom>
        </p:spPr>
        <p:txBody>
          <a:bodyPr/>
          <a:lstStyle/>
          <a:p>
            <a:r>
              <a:rPr lang="en-US" sz="1700" b="1">
                <a:solidFill>
                  <a:srgbClr val="5B9BD5"/>
                </a:solidFill>
              </a:rPr>
              <a:t>Run the demo:</a:t>
            </a:r>
          </a:p>
        </p:txBody>
      </p:sp>
      <p:sp>
        <p:nvSpPr>
          <p:cNvPr id="100150" name="Cmd"/>
          <p:cNvSpPr txBox="1"/>
          <p:nvPr/>
        </p:nvSpPr>
        <p:spPr>
          <a:xfrm>
            <a:off x="540000" y="1904368"/>
            <a:ext cx="10800000" cy="756000"/>
          </a:xfrm>
          <a:prstGeom prst="rect">
            <a:avLst/>
          </a:prstGeom>
          <a:solidFill>
            <a:srgbClr val="0A1A0A"/>
          </a:solidFill>
        </p:spPr>
        <p:txBody>
          <a:bodyPr anchor="ctr"/>
          <a:lstStyle/>
          <a:p>
            <a:r>
              <a:rPr lang="en-US" sz="1500" dirty="0">
                <a:solidFill>
                  <a:srgbClr val="A8D89A"/>
                </a:solidFill>
              </a:rPr>
              <a:t>docker exec -it spark-client /opt/spark/bin/spark-submit \</a:t>
            </a:r>
          </a:p>
          <a:p>
            <a:r>
              <a:rPr lang="en-US" sz="1500" dirty="0">
                <a:solidFill>
                  <a:srgbClr val="A8D89A"/>
                </a:solidFill>
              </a:rPr>
              <a:t>  --master "local[4]" --driver-memory 2G \</a:t>
            </a:r>
          </a:p>
          <a:p>
            <a:r>
              <a:rPr lang="en-US" sz="1500" dirty="0">
                <a:solidFill>
                  <a:srgbClr val="A8D89A"/>
                </a:solidFill>
              </a:rPr>
              <a:t>  /opt/spark/</a:t>
            </a:r>
            <a:r>
              <a:rPr lang="en-US" sz="1500" dirty="0" err="1">
                <a:solidFill>
                  <a:srgbClr val="A8D89A"/>
                </a:solidFill>
              </a:rPr>
              <a:t>hudi_acid_superpowers_demo.py</a:t>
            </a:r>
            <a:endParaRPr lang="en-US" sz="1500" dirty="0">
              <a:solidFill>
                <a:srgbClr val="A8D89A"/>
              </a:solidFill>
            </a:endParaRPr>
          </a:p>
        </p:txBody>
      </p:sp>
      <p:sp>
        <p:nvSpPr>
          <p:cNvPr id="100151" name="D1Label"/>
          <p:cNvSpPr txBox="1"/>
          <p:nvPr/>
        </p:nvSpPr>
        <p:spPr>
          <a:xfrm>
            <a:off x="540000" y="2733196"/>
            <a:ext cx="10800000" cy="252000"/>
          </a:xfrm>
          <a:prstGeom prst="rect">
            <a:avLst/>
          </a:prstGeom>
        </p:spPr>
        <p:txBody>
          <a:bodyPr/>
          <a:lstStyle/>
          <a:p>
            <a:r>
              <a:rPr lang="en-US" sz="1800" b="1">
                <a:solidFill>
                  <a:srgbClr val="F0C040"/>
                </a:solidFill>
              </a:rPr>
              <a:t>Demo 1 — ACID In-Place Upsert</a:t>
            </a:r>
          </a:p>
        </p:txBody>
      </p:sp>
      <p:sp>
        <p:nvSpPr>
          <p:cNvPr id="100152" name="D1"/>
          <p:cNvSpPr txBox="1"/>
          <p:nvPr/>
        </p:nvSpPr>
        <p:spPr>
          <a:xfrm>
            <a:off x="540000" y="3021196"/>
            <a:ext cx="10800000" cy="540000"/>
          </a:xfrm>
          <a:prstGeom prst="rect">
            <a:avLst/>
          </a:prstGeom>
        </p:spPr>
        <p:txBody>
          <a:bodyPr/>
          <a:lstStyle/>
          <a:p>
            <a:r>
              <a:rPr lang="en-US" sz="1500">
                <a:solidFill>
                  <a:srgbClr val="D0E4F7"/>
                </a:solidFill>
              </a:rPr>
              <a:t>Picks an existing PullRequestEvent or IssuesEvent, updates its created_at timestamp to now(), and writes back with operation='upsert'. Hudi rewrites only the affected Parquet file — not the whole table. No duplicate rows are created.</a:t>
            </a:r>
          </a:p>
        </p:txBody>
      </p:sp>
      <p:sp>
        <p:nvSpPr>
          <p:cNvPr id="100153" name="D2Label"/>
          <p:cNvSpPr txBox="1"/>
          <p:nvPr/>
        </p:nvSpPr>
        <p:spPr>
          <a:xfrm>
            <a:off x="540000" y="3669196"/>
            <a:ext cx="10800000" cy="252000"/>
          </a:xfrm>
          <a:prstGeom prst="rect">
            <a:avLst/>
          </a:prstGeom>
        </p:spPr>
        <p:txBody>
          <a:bodyPr/>
          <a:lstStyle/>
          <a:p>
            <a:r>
              <a:rPr lang="en-US" sz="1800" b="1">
                <a:solidFill>
                  <a:srgbClr val="F0C040"/>
                </a:solidFill>
              </a:rPr>
              <a:t>Demo 2 — GDPR Point Delete</a:t>
            </a:r>
          </a:p>
        </p:txBody>
      </p:sp>
      <p:sp>
        <p:nvSpPr>
          <p:cNvPr id="100154" name="D2"/>
          <p:cNvSpPr txBox="1"/>
          <p:nvPr/>
        </p:nvSpPr>
        <p:spPr>
          <a:xfrm>
            <a:off x="540000" y="3957196"/>
            <a:ext cx="10800000" cy="540000"/>
          </a:xfrm>
          <a:prstGeom prst="rect">
            <a:avLst/>
          </a:prstGeom>
        </p:spPr>
        <p:txBody>
          <a:bodyPr/>
          <a:lstStyle/>
          <a:p>
            <a:r>
              <a:rPr lang="en-US" sz="1500" dirty="0">
                <a:solidFill>
                  <a:srgbClr val="D0E4F7"/>
                </a:solidFill>
              </a:rPr>
              <a:t>Selects a real </a:t>
            </a:r>
            <a:r>
              <a:rPr lang="en-US" sz="1500" dirty="0" err="1">
                <a:solidFill>
                  <a:srgbClr val="D0E4F7"/>
                </a:solidFill>
              </a:rPr>
              <a:t>actor.login</a:t>
            </a:r>
            <a:r>
              <a:rPr lang="en-US" sz="1500" dirty="0">
                <a:solidFill>
                  <a:srgbClr val="D0E4F7"/>
                </a:solidFill>
              </a:rPr>
              <a:t> from the table. Writes a delete batch with operation='delete', targeting only that user's record keys. Proof: run count(*) before and after — exact number removed, no other partitions touched.</a:t>
            </a:r>
          </a:p>
        </p:txBody>
      </p:sp>
      <p:sp>
        <p:nvSpPr>
          <p:cNvPr id="100155" name="D3Label"/>
          <p:cNvSpPr txBox="1"/>
          <p:nvPr/>
        </p:nvSpPr>
        <p:spPr>
          <a:xfrm>
            <a:off x="540000" y="4605196"/>
            <a:ext cx="10800000" cy="252000"/>
          </a:xfrm>
          <a:prstGeom prst="rect">
            <a:avLst/>
          </a:prstGeom>
        </p:spPr>
        <p:txBody>
          <a:bodyPr/>
          <a:lstStyle/>
          <a:p>
            <a:r>
              <a:rPr lang="en-US" sz="1800" b="1">
                <a:solidFill>
                  <a:srgbClr val="F0C040"/>
                </a:solidFill>
              </a:rPr>
              <a:t>Demo 3 — Commit Timeline Inspection</a:t>
            </a:r>
          </a:p>
        </p:txBody>
      </p:sp>
      <p:sp>
        <p:nvSpPr>
          <p:cNvPr id="100156" name="D3"/>
          <p:cNvSpPr txBox="1"/>
          <p:nvPr/>
        </p:nvSpPr>
        <p:spPr>
          <a:xfrm>
            <a:off x="540000" y="4893196"/>
            <a:ext cx="10800000" cy="540000"/>
          </a:xfrm>
          <a:prstGeom prst="rect">
            <a:avLst/>
          </a:prstGeom>
        </p:spPr>
        <p:txBody>
          <a:bodyPr/>
          <a:lstStyle/>
          <a:p>
            <a:r>
              <a:rPr lang="en-US" sz="1500" dirty="0">
                <a:solidFill>
                  <a:srgbClr val="D0E4F7"/>
                </a:solidFill>
              </a:rPr>
              <a:t>Reads the distinct _</a:t>
            </a:r>
            <a:r>
              <a:rPr lang="en-US" sz="1500" dirty="0" err="1">
                <a:solidFill>
                  <a:srgbClr val="D0E4F7"/>
                </a:solidFill>
              </a:rPr>
              <a:t>hoodie_commit_time</a:t>
            </a:r>
            <a:r>
              <a:rPr lang="en-US" sz="1500" dirty="0">
                <a:solidFill>
                  <a:srgbClr val="D0E4F7"/>
                </a:solidFill>
              </a:rPr>
              <a:t> values from the table. Each commit instant in the .hoodie/ folder represents a sealed, auditable transaction. Older commits are available for time-travel queries.</a:t>
            </a:r>
          </a:p>
        </p:txBody>
      </p:sp>
      <p:sp>
        <p:nvSpPr>
          <p:cNvPr id="100157" name="PreReq"/>
          <p:cNvSpPr txBox="1"/>
          <p:nvPr/>
        </p:nvSpPr>
        <p:spPr>
          <a:xfrm>
            <a:off x="540000" y="5865196"/>
            <a:ext cx="10800000" cy="252000"/>
          </a:xfrm>
          <a:prstGeom prst="rect">
            <a:avLst/>
          </a:prstGeom>
        </p:spPr>
        <p:txBody>
          <a:bodyPr/>
          <a:lstStyle/>
          <a:p>
            <a:pPr algn="ctr"/>
            <a:r>
              <a:rPr lang="en-US" sz="1400" dirty="0">
                <a:solidFill>
                  <a:srgbClr val="F0C040"/>
                </a:solidFill>
              </a:rPr>
              <a:t>Prerequisite: Requires at least one completed Airflow DAG run (data must exist in the </a:t>
            </a:r>
            <a:r>
              <a:rPr lang="en-US" sz="1400" dirty="0" err="1">
                <a:solidFill>
                  <a:srgbClr val="F0C040"/>
                </a:solidFill>
              </a:rPr>
              <a:t>lakehouse</a:t>
            </a:r>
            <a:r>
              <a:rPr lang="en-US" sz="1400" dirty="0">
                <a:solidFill>
                  <a:srgbClr val="F0C040"/>
                </a:solidFill>
              </a:rPr>
              <a:t> table).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158" name="ScenLabel"/>
          <p:cNvSpPr txBox="1"/>
          <p:nvPr/>
        </p:nvSpPr>
        <p:spPr>
          <a:xfrm>
            <a:off x="540000" y="288000"/>
            <a:ext cx="3600000" cy="288000"/>
          </a:xfrm>
          <a:prstGeom prst="rect">
            <a:avLst/>
          </a:prstGeom>
        </p:spPr>
        <p:txBody>
          <a:bodyPr/>
          <a:lstStyle/>
          <a:p>
            <a:r>
              <a:rPr lang="en-US" sz="1400" b="1">
                <a:solidFill>
                  <a:srgbClr val="5B9BD5"/>
                </a:solidFill>
              </a:rPr>
              <a:t>SCENARIO D</a:t>
            </a:r>
          </a:p>
        </p:txBody>
      </p:sp>
      <p:sp>
        <p:nvSpPr>
          <p:cNvPr id="100159" name="Title"/>
          <p:cNvSpPr txBox="1"/>
          <p:nvPr/>
        </p:nvSpPr>
        <p:spPr>
          <a:xfrm>
            <a:off x="540000" y="612000"/>
            <a:ext cx="10800000" cy="540000"/>
          </a:xfrm>
          <a:prstGeom prst="rect">
            <a:avLst/>
          </a:prstGeom>
        </p:spPr>
        <p:txBody>
          <a:bodyPr/>
          <a:lstStyle/>
          <a:p>
            <a:r>
              <a:rPr lang="en-US" sz="3200" b="1">
                <a:solidFill>
                  <a:srgbClr val="FFFFFF"/>
                </a:solidFill>
              </a:rPr>
              <a:t>Analytics in Apache Superset</a:t>
            </a:r>
          </a:p>
        </p:txBody>
      </p:sp>
      <p:sp>
        <p:nvSpPr>
          <p:cNvPr id="100160" name="Goal"/>
          <p:cNvSpPr txBox="1"/>
          <p:nvPr/>
        </p:nvSpPr>
        <p:spPr>
          <a:xfrm>
            <a:off x="540000" y="1224000"/>
            <a:ext cx="10800000" cy="288000"/>
          </a:xfrm>
          <a:prstGeom prst="rect">
            <a:avLst/>
          </a:prstGeom>
          <a:solidFill>
            <a:srgbClr val="1A3050"/>
          </a:solidFill>
        </p:spPr>
        <p:txBody>
          <a:bodyPr anchor="ctr"/>
          <a:lstStyle/>
          <a:p>
            <a:r>
              <a:rPr lang="en-US" sz="1700" dirty="0">
                <a:solidFill>
                  <a:srgbClr val="A8C6E8"/>
                </a:solidFill>
              </a:rPr>
              <a:t>Goal: Explore 15 pre-built interactive charts spanning developer activity, PR metrics, AI/bot telemetry, and trending repos</a:t>
            </a:r>
          </a:p>
        </p:txBody>
      </p:sp>
      <p:sp>
        <p:nvSpPr>
          <p:cNvPr id="100161" name="Step1"/>
          <p:cNvSpPr txBox="1"/>
          <p:nvPr/>
        </p:nvSpPr>
        <p:spPr>
          <a:xfrm>
            <a:off x="540000" y="1620000"/>
            <a:ext cx="10800000" cy="288000"/>
          </a:xfrm>
          <a:prstGeom prst="rect">
            <a:avLst/>
          </a:prstGeom>
        </p:spPr>
        <p:txBody>
          <a:bodyPr/>
          <a:lstStyle/>
          <a:p>
            <a:r>
              <a:rPr lang="en-US" sz="1700">
                <a:solidFill>
                  <a:srgbClr val="FFFFFF"/>
                </a:solidFill>
              </a:rPr>
              <a:t>1.  Open http://localhost:8088  (admin / admin)</a:t>
            </a:r>
          </a:p>
        </p:txBody>
      </p:sp>
      <p:sp>
        <p:nvSpPr>
          <p:cNvPr id="100162" name="Step2"/>
          <p:cNvSpPr txBox="1"/>
          <p:nvPr/>
        </p:nvSpPr>
        <p:spPr>
          <a:xfrm>
            <a:off x="540000" y="1980000"/>
            <a:ext cx="10800000" cy="288000"/>
          </a:xfrm>
          <a:prstGeom prst="rect">
            <a:avLst/>
          </a:prstGeom>
        </p:spPr>
        <p:txBody>
          <a:bodyPr/>
          <a:lstStyle/>
          <a:p>
            <a:r>
              <a:rPr lang="en-US" sz="1700">
                <a:solidFill>
                  <a:srgbClr val="FFFFFF"/>
                </a:solidFill>
              </a:rPr>
              <a:t>2.  Navigate to Dashboards → GitHub Archive Analytics (Last 24 Hours)</a:t>
            </a:r>
          </a:p>
        </p:txBody>
      </p:sp>
      <p:sp>
        <p:nvSpPr>
          <p:cNvPr id="100163" name="DashHeader"/>
          <p:cNvSpPr txBox="1"/>
          <p:nvPr/>
        </p:nvSpPr>
        <p:spPr>
          <a:xfrm>
            <a:off x="540000" y="2395816"/>
            <a:ext cx="10800000" cy="252000"/>
          </a:xfrm>
          <a:prstGeom prst="rect">
            <a:avLst/>
          </a:prstGeom>
        </p:spPr>
        <p:txBody>
          <a:bodyPr/>
          <a:lstStyle/>
          <a:p>
            <a:r>
              <a:rPr lang="en-US" sz="1800" b="1">
                <a:solidFill>
                  <a:srgbClr val="5B9BD5"/>
                </a:solidFill>
              </a:rPr>
              <a:t>What's in the dashboard:</a:t>
            </a:r>
          </a:p>
        </p:txBody>
      </p:sp>
      <p:sp>
        <p:nvSpPr>
          <p:cNvPr id="100164" name="DB1"/>
          <p:cNvSpPr txBox="1"/>
          <p:nvPr/>
        </p:nvSpPr>
        <p:spPr>
          <a:xfrm>
            <a:off x="540000" y="2756644"/>
            <a:ext cx="10800000" cy="720000"/>
          </a:xfrm>
          <a:prstGeom prst="rect">
            <a:avLst/>
          </a:prstGeom>
          <a:solidFill>
            <a:srgbClr val="1A2A3A"/>
          </a:solidFill>
        </p:spPr>
        <p:txBody>
          <a:bodyPr anchor="ctr"/>
          <a:lstStyle/>
          <a:p>
            <a:r>
              <a:rPr lang="en-US" sz="1500" dirty="0">
                <a:solidFill>
                  <a:srgbClr val="D0E4F7"/>
                </a:solidFill>
              </a:rPr>
              <a:t>View 1 — Global Activity &amp; Top Contributors</a:t>
            </a:r>
          </a:p>
          <a:p>
            <a:r>
              <a:rPr lang="en-US" sz="1500" dirty="0">
                <a:solidFill>
                  <a:srgbClr val="D0E4F7"/>
                </a:solidFill>
              </a:rPr>
              <a:t>KPI scorecard · Activity heatmap (</a:t>
            </a:r>
            <a:r>
              <a:rPr lang="en-US" sz="1500" dirty="0" err="1">
                <a:solidFill>
                  <a:srgbClr val="D0E4F7"/>
                </a:solidFill>
              </a:rPr>
              <a:t>day×hour</a:t>
            </a:r>
            <a:r>
              <a:rPr lang="en-US" sz="1500" dirty="0">
                <a:solidFill>
                  <a:srgbClr val="D0E4F7"/>
                </a:solidFill>
              </a:rPr>
              <a:t>) · Events by type donut · Hourly velocity · Top repos · Top human developers</a:t>
            </a:r>
          </a:p>
        </p:txBody>
      </p:sp>
      <p:sp>
        <p:nvSpPr>
          <p:cNvPr id="100165" name="DB2"/>
          <p:cNvSpPr txBox="1"/>
          <p:nvPr/>
        </p:nvSpPr>
        <p:spPr>
          <a:xfrm>
            <a:off x="540000" y="3548644"/>
            <a:ext cx="10800000" cy="720000"/>
          </a:xfrm>
          <a:prstGeom prst="rect">
            <a:avLst/>
          </a:prstGeom>
          <a:solidFill>
            <a:srgbClr val="1A2A3A"/>
          </a:solidFill>
        </p:spPr>
        <p:txBody>
          <a:bodyPr anchor="ctr"/>
          <a:lstStyle/>
          <a:p>
            <a:r>
              <a:rPr lang="en-US" sz="1500" dirty="0">
                <a:solidFill>
                  <a:srgbClr val="D0E4F7"/>
                </a:solidFill>
              </a:rPr>
              <a:t>View 2 — Organizations, Live Feed &amp; Repository Momentum</a:t>
            </a:r>
          </a:p>
          <a:p>
            <a:r>
              <a:rPr lang="en-US" sz="1500" dirty="0">
                <a:solidFill>
                  <a:srgbClr val="D0E4F7"/>
                </a:solidFill>
              </a:rPr>
              <a:t>Top orgs (Microsoft, Apache, NVIDIA…) · Live event audit table · Trending repos by star velocity · Most forked projects · PR merge rate</a:t>
            </a:r>
          </a:p>
        </p:txBody>
      </p:sp>
      <p:sp>
        <p:nvSpPr>
          <p:cNvPr id="100166" name="DB3"/>
          <p:cNvSpPr txBox="1"/>
          <p:nvPr/>
        </p:nvSpPr>
        <p:spPr>
          <a:xfrm>
            <a:off x="540000" y="4340644"/>
            <a:ext cx="10800000" cy="720000"/>
          </a:xfrm>
          <a:prstGeom prst="rect">
            <a:avLst/>
          </a:prstGeom>
          <a:solidFill>
            <a:srgbClr val="1A2A3A"/>
          </a:solidFill>
        </p:spPr>
        <p:txBody>
          <a:bodyPr anchor="ctr"/>
          <a:lstStyle/>
          <a:p>
            <a:r>
              <a:rPr lang="en-US" sz="1500" dirty="0">
                <a:solidFill>
                  <a:srgbClr val="D0E4F7"/>
                </a:solidFill>
              </a:rPr>
              <a:t>View 3 — Issue Resolution &amp; AI Agent Automation</a:t>
            </a:r>
          </a:p>
          <a:p>
            <a:r>
              <a:rPr lang="en-US" sz="1500" dirty="0">
                <a:solidFill>
                  <a:srgbClr val="D0E4F7"/>
                </a:solidFill>
              </a:rPr>
              <a:t>Issue opened vs closed · Humans vs Bots · Top AI agents: </a:t>
            </a:r>
            <a:r>
              <a:rPr lang="en-US" sz="1500" dirty="0" err="1">
                <a:solidFill>
                  <a:srgbClr val="D0E4F7"/>
                </a:solidFill>
              </a:rPr>
              <a:t>github</a:t>
            </a:r>
            <a:r>
              <a:rPr lang="en-US" sz="1500" dirty="0">
                <a:solidFill>
                  <a:srgbClr val="D0E4F7"/>
                </a:solidFill>
              </a:rPr>
              <a:t>-actions[bot], </a:t>
            </a:r>
            <a:r>
              <a:rPr lang="en-US" sz="1500" dirty="0" err="1">
                <a:solidFill>
                  <a:srgbClr val="D0E4F7"/>
                </a:solidFill>
              </a:rPr>
              <a:t>dependabot</a:t>
            </a:r>
            <a:r>
              <a:rPr lang="en-US" sz="1500" dirty="0">
                <a:solidFill>
                  <a:srgbClr val="D0E4F7"/>
                </a:solidFill>
              </a:rPr>
              <a:t>, </a:t>
            </a:r>
            <a:r>
              <a:rPr lang="en-US" sz="1500" dirty="0" err="1">
                <a:solidFill>
                  <a:srgbClr val="D0E4F7"/>
                </a:solidFill>
              </a:rPr>
              <a:t>coderabbitai</a:t>
            </a:r>
            <a:r>
              <a:rPr lang="en-US" sz="1500" dirty="0">
                <a:solidFill>
                  <a:srgbClr val="D0E4F7"/>
                </a:solidFill>
              </a:rPr>
              <a:t>, Copilot</a:t>
            </a:r>
          </a:p>
        </p:txBody>
      </p:sp>
      <p:sp>
        <p:nvSpPr>
          <p:cNvPr id="100167" name="VDSNote"/>
          <p:cNvSpPr txBox="1"/>
          <p:nvPr/>
        </p:nvSpPr>
        <p:spPr>
          <a:xfrm>
            <a:off x="540000" y="5132644"/>
            <a:ext cx="10800000" cy="360000"/>
          </a:xfrm>
          <a:prstGeom prst="rect">
            <a:avLst/>
          </a:prstGeom>
          <a:solidFill>
            <a:srgbClr val="0A1A2A"/>
          </a:solidFill>
        </p:spPr>
        <p:txBody>
          <a:bodyPr/>
          <a:lstStyle/>
          <a:p>
            <a:pPr algn="ctr"/>
            <a:r>
              <a:rPr lang="en-US" sz="1400">
                <a:solidFill>
                  <a:srgbClr val="A8C6E8"/>
                </a:solidFill>
              </a:rPr>
              <a:t>Virtual Dataset: github_events_flat — a Presto view over Hudi with pre-computed event_hour, actor_type (human/bot), day_name. Zero data copies.</a:t>
            </a:r>
          </a:p>
        </p:txBody>
      </p:sp>
      <p:sp>
        <p:nvSpPr>
          <p:cNvPr id="2" name="PreReq">
            <a:extLst>
              <a:ext uri="{FF2B5EF4-FFF2-40B4-BE49-F238E27FC236}">
                <a16:creationId xmlns:a16="http://schemas.microsoft.com/office/drawing/2014/main" id="{43057D8E-E5C4-6D87-36C4-461CC29C2A45}"/>
              </a:ext>
            </a:extLst>
          </p:cNvPr>
          <p:cNvSpPr txBox="1"/>
          <p:nvPr/>
        </p:nvSpPr>
        <p:spPr>
          <a:xfrm>
            <a:off x="540000" y="5865196"/>
            <a:ext cx="10800000" cy="252000"/>
          </a:xfrm>
          <a:prstGeom prst="rect">
            <a:avLst/>
          </a:prstGeom>
        </p:spPr>
        <p:txBody>
          <a:bodyPr/>
          <a:lstStyle/>
          <a:p>
            <a:pPr algn="ctr"/>
            <a:r>
              <a:rPr lang="en-US" sz="1400" dirty="0">
                <a:solidFill>
                  <a:srgbClr val="F0C040"/>
                </a:solidFill>
              </a:rPr>
              <a:t>Note: If you don’t see the dashboard, try restarting the superset container</a:t>
            </a:r>
          </a:p>
        </p:txBody>
      </p:sp>
      <p:sp>
        <p:nvSpPr>
          <p:cNvPr id="3" name="Cmd">
            <a:extLst>
              <a:ext uri="{FF2B5EF4-FFF2-40B4-BE49-F238E27FC236}">
                <a16:creationId xmlns:a16="http://schemas.microsoft.com/office/drawing/2014/main" id="{8C6C3671-D55F-FE88-F948-513532103DDC}"/>
              </a:ext>
            </a:extLst>
          </p:cNvPr>
          <p:cNvSpPr txBox="1"/>
          <p:nvPr/>
        </p:nvSpPr>
        <p:spPr>
          <a:xfrm>
            <a:off x="3220629" y="6211179"/>
            <a:ext cx="5381203" cy="358821"/>
          </a:xfrm>
          <a:prstGeom prst="rect">
            <a:avLst/>
          </a:prstGeom>
          <a:solidFill>
            <a:srgbClr val="0A1A0A"/>
          </a:solidFill>
        </p:spPr>
        <p:txBody>
          <a:bodyPr anchor="ctr"/>
          <a:lstStyle/>
          <a:p>
            <a:r>
              <a:rPr lang="en-US" sz="1400" dirty="0">
                <a:solidFill>
                  <a:srgbClr val="A8D89A"/>
                </a:solidFill>
              </a:rPr>
              <a:t>docker compose restart superset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168" name="Title"/>
          <p:cNvSpPr txBox="1"/>
          <p:nvPr/>
        </p:nvSpPr>
        <p:spPr>
          <a:xfrm>
            <a:off x="540000" y="288000"/>
            <a:ext cx="10800000" cy="540000"/>
          </a:xfrm>
          <a:prstGeom prst="rect">
            <a:avLst/>
          </a:prstGeom>
        </p:spPr>
        <p:txBody>
          <a:bodyPr/>
          <a:lstStyle/>
          <a:p>
            <a:r>
              <a:rPr lang="en-US" sz="3000" b="1">
                <a:solidFill>
                  <a:srgbClr val="FFFFFF"/>
                </a:solidFill>
              </a:rPr>
              <a:t>Design Decisions — Why Things Are Built This Way</a:t>
            </a:r>
          </a:p>
        </p:txBody>
      </p:sp>
      <p:sp>
        <p:nvSpPr>
          <p:cNvPr id="100169" name="D1"/>
          <p:cNvSpPr txBox="1"/>
          <p:nvPr/>
        </p:nvSpPr>
        <p:spPr>
          <a:xfrm>
            <a:off x="540000" y="1008000"/>
            <a:ext cx="5040000" cy="252000"/>
          </a:xfrm>
          <a:prstGeom prst="rect">
            <a:avLst/>
          </a:prstGeom>
        </p:spPr>
        <p:txBody>
          <a:bodyPr/>
          <a:lstStyle/>
          <a:p>
            <a:r>
              <a:rPr lang="en-US" sz="1700" b="1">
                <a:solidFill>
                  <a:srgbClr val="F0C040"/>
                </a:solidFill>
              </a:rPr>
              <a:t>Why local[4] and 6 GB driver memory?</a:t>
            </a:r>
          </a:p>
        </p:txBody>
      </p:sp>
      <p:sp>
        <p:nvSpPr>
          <p:cNvPr id="100170" name="D1A"/>
          <p:cNvSpPr txBox="1"/>
          <p:nvPr/>
        </p:nvSpPr>
        <p:spPr>
          <a:xfrm>
            <a:off x="540000" y="1296000"/>
            <a:ext cx="5040000" cy="900000"/>
          </a:xfrm>
          <a:prstGeom prst="rect">
            <a:avLst/>
          </a:prstGeom>
        </p:spPr>
        <p:txBody>
          <a:bodyPr/>
          <a:lstStyle/>
          <a:p>
            <a:r>
              <a:rPr lang="en-US" sz="1300">
                <a:solidFill>
                  <a:srgbClr val="A8C6E8"/>
                </a:solidFill>
              </a:rPr>
              <a:t>GitHub .json.gz files are non-splittable gzip — each inflates ~10x in RAM. local[*] would open 8-12 simultaneously → OOM. local[4] limits to 4 concurrent inflations. Only driver-memory matters in local mode (executor-memory is ignored).</a:t>
            </a:r>
          </a:p>
        </p:txBody>
      </p:sp>
      <p:sp>
        <p:nvSpPr>
          <p:cNvPr id="100171" name="D2"/>
          <p:cNvSpPr txBox="1"/>
          <p:nvPr/>
        </p:nvSpPr>
        <p:spPr>
          <a:xfrm>
            <a:off x="5940000" y="1008000"/>
            <a:ext cx="5040000" cy="252000"/>
          </a:xfrm>
          <a:prstGeom prst="rect">
            <a:avLst/>
          </a:prstGeom>
        </p:spPr>
        <p:txBody>
          <a:bodyPr/>
          <a:lstStyle/>
          <a:p>
            <a:r>
              <a:rPr lang="en-US" sz="1700" b="1">
                <a:solidFill>
                  <a:srgbClr val="F0C040"/>
                </a:solidFill>
              </a:rPr>
              <a:t>Why Copy-on-Write vs Merge-on-Read?</a:t>
            </a:r>
          </a:p>
        </p:txBody>
      </p:sp>
      <p:sp>
        <p:nvSpPr>
          <p:cNvPr id="100172" name="D2A"/>
          <p:cNvSpPr txBox="1"/>
          <p:nvPr/>
        </p:nvSpPr>
        <p:spPr>
          <a:xfrm>
            <a:off x="5940000" y="1296000"/>
            <a:ext cx="5040000" cy="900000"/>
          </a:xfrm>
          <a:prstGeom prst="rect">
            <a:avLst/>
          </a:prstGeom>
        </p:spPr>
        <p:txBody>
          <a:bodyPr/>
          <a:lstStyle/>
          <a:p>
            <a:r>
              <a:rPr lang="en-US" sz="1300">
                <a:solidFill>
                  <a:srgbClr val="A8C6E8"/>
                </a:solidFill>
              </a:rPr>
              <a:t>COW = slower writes, fastest reads (pure Parquet). MOR = fastest writes, slower reads (must merge base + delta). We run batch ingestion and serve interactive SQL — read speed wins. Presto queries never see delta files.</a:t>
            </a:r>
          </a:p>
        </p:txBody>
      </p:sp>
      <p:sp>
        <p:nvSpPr>
          <p:cNvPr id="100173" name="D3"/>
          <p:cNvSpPr txBox="1"/>
          <p:nvPr/>
        </p:nvSpPr>
        <p:spPr>
          <a:xfrm>
            <a:off x="540000" y="2520000"/>
            <a:ext cx="5040000" cy="252000"/>
          </a:xfrm>
          <a:prstGeom prst="rect">
            <a:avLst/>
          </a:prstGeom>
        </p:spPr>
        <p:txBody>
          <a:bodyPr/>
          <a:lstStyle/>
          <a:p>
            <a:r>
              <a:rPr lang="en-US" sz="1700" b="1">
                <a:solidFill>
                  <a:srgbClr val="F0C040"/>
                </a:solidFill>
              </a:rPr>
              <a:t>Why partition by type, not date?</a:t>
            </a:r>
          </a:p>
        </p:txBody>
      </p:sp>
      <p:sp>
        <p:nvSpPr>
          <p:cNvPr id="100174" name="D3A"/>
          <p:cNvSpPr txBox="1"/>
          <p:nvPr/>
        </p:nvSpPr>
        <p:spPr>
          <a:xfrm>
            <a:off x="540000" y="2808000"/>
            <a:ext cx="5040000" cy="900000"/>
          </a:xfrm>
          <a:prstGeom prst="rect">
            <a:avLst/>
          </a:prstGeom>
        </p:spPr>
        <p:txBody>
          <a:bodyPr/>
          <a:lstStyle/>
          <a:p>
            <a:r>
              <a:rPr lang="en-US" sz="1300">
                <a:solidFill>
                  <a:srgbClr val="A8C6E8"/>
                </a:solidFill>
              </a:rPr>
              <a:t>Makes partition pruning easy to demonstrate in SQL (WHERE type = 'PushEvent'). Production reality: date partitioning is better because type skews heavily (~65% PushEvent). For this workshop, type makes a more visual teaching example.</a:t>
            </a:r>
          </a:p>
        </p:txBody>
      </p:sp>
      <p:sp>
        <p:nvSpPr>
          <p:cNvPr id="100175" name="D4"/>
          <p:cNvSpPr txBox="1"/>
          <p:nvPr/>
        </p:nvSpPr>
        <p:spPr>
          <a:xfrm>
            <a:off x="5940000" y="2520000"/>
            <a:ext cx="5040000" cy="252000"/>
          </a:xfrm>
          <a:prstGeom prst="rect">
            <a:avLst/>
          </a:prstGeom>
        </p:spPr>
        <p:txBody>
          <a:bodyPr/>
          <a:lstStyle/>
          <a:p>
            <a:r>
              <a:rPr lang="en-US" sz="1700" b="1">
                <a:solidFill>
                  <a:srgbClr val="F0C040"/>
                </a:solidFill>
              </a:rPr>
              <a:t>Why Docker socket instead of SparkSubmitOperator?</a:t>
            </a:r>
          </a:p>
        </p:txBody>
      </p:sp>
      <p:sp>
        <p:nvSpPr>
          <p:cNvPr id="100176" name="D4A"/>
          <p:cNvSpPr txBox="1"/>
          <p:nvPr/>
        </p:nvSpPr>
        <p:spPr>
          <a:xfrm>
            <a:off x="5940000" y="2808000"/>
            <a:ext cx="5040000" cy="900000"/>
          </a:xfrm>
          <a:prstGeom prst="rect">
            <a:avLst/>
          </a:prstGeom>
        </p:spPr>
        <p:txBody>
          <a:bodyPr/>
          <a:lstStyle/>
          <a:p>
            <a:r>
              <a:rPr lang="en-US" sz="1300">
                <a:solidFill>
                  <a:srgbClr val="A8C6E8"/>
                </a:solidFill>
              </a:rPr>
              <a:t>SparkSubmitOperator requires Java + Spark + 150 MB of Hudi JARs inside Airflow. Docker socket keeps Airflow lightweight and conflict-free. Production: use Apache Livy or Kubernetes Spark Operator instead.</a:t>
            </a:r>
          </a:p>
        </p:txBody>
      </p:sp>
      <p:sp>
        <p:nvSpPr>
          <p:cNvPr id="100177" name="D5"/>
          <p:cNvSpPr txBox="1"/>
          <p:nvPr/>
        </p:nvSpPr>
        <p:spPr>
          <a:xfrm>
            <a:off x="540000" y="3960000"/>
            <a:ext cx="10800000" cy="252000"/>
          </a:xfrm>
          <a:prstGeom prst="rect">
            <a:avLst/>
          </a:prstGeom>
        </p:spPr>
        <p:txBody>
          <a:bodyPr/>
          <a:lstStyle/>
          <a:p>
            <a:r>
              <a:rPr lang="en-US" sz="1700" b="1">
                <a:solidFill>
                  <a:srgbClr val="F0C040"/>
                </a:solidFill>
              </a:rPr>
              <a:t>Why the 'Nothing to commit' circuit breaker?</a:t>
            </a:r>
          </a:p>
        </p:txBody>
      </p:sp>
      <p:sp>
        <p:nvSpPr>
          <p:cNvPr id="100178" name="D5A"/>
          <p:cNvSpPr txBox="1"/>
          <p:nvPr/>
        </p:nvSpPr>
        <p:spPr>
          <a:xfrm>
            <a:off x="540000" y="4248000"/>
            <a:ext cx="10800000" cy="648000"/>
          </a:xfrm>
          <a:prstGeom prst="rect">
            <a:avLst/>
          </a:prstGeom>
        </p:spPr>
        <p:txBody>
          <a:bodyPr/>
          <a:lstStyle/>
          <a:p>
            <a:r>
              <a:rPr lang="en-US" sz="1300">
                <a:solidFill>
                  <a:srgbClr val="A8C6E8"/>
                </a:solidFill>
              </a:rPr>
              <a:t>If no new raw files exist, HoodieStreamer exits with code 0 (success) without writing any records. Without this guard, Airflow would mark the pipeline green while validating stale data. The circuit breaker catches the 'Nothing to commit' log message and raises RuntimeError.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179" name="Title"/>
          <p:cNvSpPr txBox="1"/>
          <p:nvPr/>
        </p:nvSpPr>
        <p:spPr>
          <a:xfrm>
            <a:off x="540000" y="288000"/>
            <a:ext cx="10800000" cy="540000"/>
          </a:xfrm>
          <a:prstGeom prst="rect">
            <a:avLst/>
          </a:prstGeom>
        </p:spPr>
        <p:txBody>
          <a:bodyPr/>
          <a:lstStyle/>
          <a:p>
            <a:r>
              <a:rPr lang="en-US" sz="3200" b="1">
                <a:solidFill>
                  <a:srgbClr val="FFFFFF"/>
                </a:solidFill>
              </a:rPr>
              <a:t>Common Troubleshooting</a:t>
            </a:r>
          </a:p>
        </p:txBody>
      </p:sp>
      <p:sp>
        <p:nvSpPr>
          <p:cNvPr id="100180" name="T1"/>
          <p:cNvSpPr txBox="1"/>
          <p:nvPr/>
        </p:nvSpPr>
        <p:spPr>
          <a:xfrm>
            <a:off x="540000" y="936000"/>
            <a:ext cx="4680000" cy="252000"/>
          </a:xfrm>
          <a:prstGeom prst="rect">
            <a:avLst/>
          </a:prstGeom>
        </p:spPr>
        <p:txBody>
          <a:bodyPr/>
          <a:lstStyle/>
          <a:p>
            <a:r>
              <a:rPr lang="en-US" sz="1600" b="1">
                <a:solidFill>
                  <a:srgbClr val="F0C040"/>
                </a:solidFill>
              </a:rPr>
              <a:t>minio-init is 'Exited (0)'</a:t>
            </a:r>
          </a:p>
        </p:txBody>
      </p:sp>
      <p:sp>
        <p:nvSpPr>
          <p:cNvPr id="100181" name="T1A"/>
          <p:cNvSpPr txBox="1"/>
          <p:nvPr/>
        </p:nvSpPr>
        <p:spPr>
          <a:xfrm>
            <a:off x="540000" y="1224000"/>
            <a:ext cx="4680000" cy="540000"/>
          </a:xfrm>
          <a:prstGeom prst="rect">
            <a:avLst/>
          </a:prstGeom>
        </p:spPr>
        <p:txBody>
          <a:bodyPr/>
          <a:lstStyle/>
          <a:p>
            <a:r>
              <a:rPr lang="en-US" sz="1300">
                <a:solidFill>
                  <a:srgbClr val="A8D89A"/>
                </a:solidFill>
              </a:rPr>
              <a:t>EXPECTED — it's a one-shot bucket setup container. Run: docker logs minio-init to confirm 'MinIO storage initialized successfully'</a:t>
            </a:r>
          </a:p>
        </p:txBody>
      </p:sp>
      <p:sp>
        <p:nvSpPr>
          <p:cNvPr id="100182" name="T2"/>
          <p:cNvSpPr txBox="1"/>
          <p:nvPr/>
        </p:nvSpPr>
        <p:spPr>
          <a:xfrm>
            <a:off x="5580000" y="936000"/>
            <a:ext cx="5400000" cy="252000"/>
          </a:xfrm>
          <a:prstGeom prst="rect">
            <a:avLst/>
          </a:prstGeom>
        </p:spPr>
        <p:txBody>
          <a:bodyPr/>
          <a:lstStyle/>
          <a:p>
            <a:r>
              <a:rPr lang="en-US" sz="1600" b="1">
                <a:solidFill>
                  <a:srgbClr val="F0C040"/>
                </a:solidFill>
              </a:rPr>
              <a:t>Presto: 'Table does not exist'</a:t>
            </a:r>
          </a:p>
        </p:txBody>
      </p:sp>
      <p:sp>
        <p:nvSpPr>
          <p:cNvPr id="100183" name="T2A"/>
          <p:cNvSpPr txBox="1"/>
          <p:nvPr/>
        </p:nvSpPr>
        <p:spPr>
          <a:xfrm>
            <a:off x="5580000" y="1224000"/>
            <a:ext cx="5400000" cy="540000"/>
          </a:xfrm>
          <a:prstGeom prst="rect">
            <a:avLst/>
          </a:prstGeom>
        </p:spPr>
        <p:txBody>
          <a:bodyPr/>
          <a:lstStyle/>
          <a:p>
            <a:r>
              <a:rPr lang="en-US" sz="1300">
                <a:solidFill>
                  <a:srgbClr val="A8D89A"/>
                </a:solidFill>
              </a:rPr>
              <a:t>DAG hasn't run yet. Trigger github_events_ingestion in Airflow. If DAG was green but table missing, check for 'Nothing to commit' in Task 2 logs.</a:t>
            </a:r>
          </a:p>
        </p:txBody>
      </p:sp>
      <p:sp>
        <p:nvSpPr>
          <p:cNvPr id="100184" name="T3"/>
          <p:cNvSpPr txBox="1"/>
          <p:nvPr/>
        </p:nvSpPr>
        <p:spPr>
          <a:xfrm>
            <a:off x="540000" y="1944000"/>
            <a:ext cx="4680000" cy="252000"/>
          </a:xfrm>
          <a:prstGeom prst="rect">
            <a:avLst/>
          </a:prstGeom>
        </p:spPr>
        <p:txBody>
          <a:bodyPr/>
          <a:lstStyle/>
          <a:p>
            <a:r>
              <a:rPr lang="en-US" sz="1600" b="1">
                <a:solidFill>
                  <a:srgbClr val="F0C040"/>
                </a:solidFill>
              </a:rPr>
              <a:t>Spark OOM: Java heap space</a:t>
            </a:r>
          </a:p>
        </p:txBody>
      </p:sp>
      <p:sp>
        <p:nvSpPr>
          <p:cNvPr id="100185" name="T3A"/>
          <p:cNvSpPr txBox="1"/>
          <p:nvPr/>
        </p:nvSpPr>
        <p:spPr>
          <a:xfrm>
            <a:off x="540000" y="2232000"/>
            <a:ext cx="4680000" cy="540000"/>
          </a:xfrm>
          <a:prstGeom prst="rect">
            <a:avLst/>
          </a:prstGeom>
        </p:spPr>
        <p:txBody>
          <a:bodyPr/>
          <a:lstStyle/>
          <a:p>
            <a:r>
              <a:rPr lang="en-US" sz="1300">
                <a:solidFill>
                  <a:srgbClr val="A8D89A"/>
                </a:solidFill>
              </a:rPr>
              <a:t>Docker RAM &lt; 16 GB. Fix: Docker Desktop → Settings → Resources → increase to 16 GB. Or change local[4] → local[2] in DAG.</a:t>
            </a:r>
          </a:p>
        </p:txBody>
      </p:sp>
      <p:sp>
        <p:nvSpPr>
          <p:cNvPr id="100186" name="T4"/>
          <p:cNvSpPr txBox="1"/>
          <p:nvPr/>
        </p:nvSpPr>
        <p:spPr>
          <a:xfrm>
            <a:off x="5580000" y="1944000"/>
            <a:ext cx="5400000" cy="252000"/>
          </a:xfrm>
          <a:prstGeom prst="rect">
            <a:avLst/>
          </a:prstGeom>
        </p:spPr>
        <p:txBody>
          <a:bodyPr/>
          <a:lstStyle/>
          <a:p>
            <a:r>
              <a:rPr lang="en-US" sz="1600" b="1">
                <a:solidFill>
                  <a:srgbClr val="F0C040"/>
                </a:solidFill>
              </a:rPr>
              <a:t>Presto: 'Hoodie table not found in path'</a:t>
            </a:r>
          </a:p>
        </p:txBody>
      </p:sp>
      <p:sp>
        <p:nvSpPr>
          <p:cNvPr id="100187" name="T4A"/>
          <p:cNvSpPr txBox="1"/>
          <p:nvPr/>
        </p:nvSpPr>
        <p:spPr>
          <a:xfrm>
            <a:off x="5580000" y="2232000"/>
            <a:ext cx="5400000" cy="540000"/>
          </a:xfrm>
          <a:prstGeom prst="rect">
            <a:avLst/>
          </a:prstGeom>
        </p:spPr>
        <p:txBody>
          <a:bodyPr/>
          <a:lstStyle/>
          <a:p>
            <a:r>
              <a:rPr lang="en-US" sz="1300">
                <a:solidFill>
                  <a:srgbClr val="A8D89A"/>
                </a:solidFill>
              </a:rPr>
              <a:t>MinIO data was deleted but Metastore entry remains. Fix: docker exec spark-client spark-sql -e 'DROP TABLE IF EXISTS default.github_events;' then re-run DAG.</a:t>
            </a:r>
          </a:p>
        </p:txBody>
      </p:sp>
      <p:sp>
        <p:nvSpPr>
          <p:cNvPr id="100188" name="T5"/>
          <p:cNvSpPr txBox="1"/>
          <p:nvPr/>
        </p:nvSpPr>
        <p:spPr>
          <a:xfrm>
            <a:off x="540000" y="2952000"/>
            <a:ext cx="4680000" cy="252000"/>
          </a:xfrm>
          <a:prstGeom prst="rect">
            <a:avLst/>
          </a:prstGeom>
        </p:spPr>
        <p:txBody>
          <a:bodyPr/>
          <a:lstStyle/>
          <a:p>
            <a:r>
              <a:rPr lang="en-US" sz="1600" b="1">
                <a:solidFill>
                  <a:srgbClr val="F0C040"/>
                </a:solidFill>
              </a:rPr>
              <a:t>Presto: S3 Auth / Access Denied</a:t>
            </a:r>
          </a:p>
        </p:txBody>
      </p:sp>
      <p:sp>
        <p:nvSpPr>
          <p:cNvPr id="100189" name="T5A"/>
          <p:cNvSpPr txBox="1"/>
          <p:nvPr/>
        </p:nvSpPr>
        <p:spPr>
          <a:xfrm>
            <a:off x="540000" y="3240000"/>
            <a:ext cx="4680000" cy="540000"/>
          </a:xfrm>
          <a:prstGeom prst="rect">
            <a:avLst/>
          </a:prstGeom>
        </p:spPr>
        <p:txBody>
          <a:bodyPr/>
          <a:lstStyle/>
          <a:p>
            <a:r>
              <a:rPr lang="en-US" sz="1300">
                <a:solidFill>
                  <a:srgbClr val="A8D89A"/>
                </a:solidFill>
              </a:rPr>
              <a:t>Presto started before .env was set. Fix: docker compose restart presto-server presto-worker-1 presto-worker-2</a:t>
            </a:r>
          </a:p>
        </p:txBody>
      </p:sp>
      <p:sp>
        <p:nvSpPr>
          <p:cNvPr id="100190" name="T6"/>
          <p:cNvSpPr txBox="1"/>
          <p:nvPr/>
        </p:nvSpPr>
        <p:spPr>
          <a:xfrm>
            <a:off x="5580000" y="2952000"/>
            <a:ext cx="5400000" cy="252000"/>
          </a:xfrm>
          <a:prstGeom prst="rect">
            <a:avLst/>
          </a:prstGeom>
        </p:spPr>
        <p:txBody>
          <a:bodyPr/>
          <a:lstStyle/>
          <a:p>
            <a:r>
              <a:rPr lang="en-US" sz="1600" b="1">
                <a:solidFill>
                  <a:srgbClr val="F0C040"/>
                </a:solidFill>
              </a:rPr>
              <a:t>Metastore: 'Table metastore_db.DBS doesn't exist'</a:t>
            </a:r>
          </a:p>
        </p:txBody>
      </p:sp>
      <p:sp>
        <p:nvSpPr>
          <p:cNvPr id="100191" name="T6A"/>
          <p:cNvSpPr txBox="1"/>
          <p:nvPr/>
        </p:nvSpPr>
        <p:spPr>
          <a:xfrm>
            <a:off x="5580000" y="3240000"/>
            <a:ext cx="5400000" cy="540000"/>
          </a:xfrm>
          <a:prstGeom prst="rect">
            <a:avLst/>
          </a:prstGeom>
        </p:spPr>
        <p:txBody>
          <a:bodyPr/>
          <a:lstStyle/>
          <a:p>
            <a:r>
              <a:rPr lang="en-US" sz="1300">
                <a:solidFill>
                  <a:srgbClr val="A8D89A"/>
                </a:solidFill>
              </a:rPr>
              <a:t>MySQL was interrupted during init. Fix: docker exec hive-metastore /opt/hive/bin/schematool -dbType mysql -initSchema</a:t>
            </a:r>
          </a:p>
        </p:txBody>
      </p:sp>
      <p:sp>
        <p:nvSpPr>
          <p:cNvPr id="100192" name="Reset"/>
          <p:cNvSpPr txBox="1"/>
          <p:nvPr/>
        </p:nvSpPr>
        <p:spPr>
          <a:xfrm>
            <a:off x="540000" y="3960000"/>
            <a:ext cx="10800000" cy="360000"/>
          </a:xfrm>
          <a:prstGeom prst="rect">
            <a:avLst/>
          </a:prstGeom>
          <a:solidFill>
            <a:srgbClr val="1A0A0A"/>
          </a:solidFill>
        </p:spPr>
        <p:txBody>
          <a:bodyPr/>
          <a:lstStyle/>
          <a:p>
            <a:pPr algn="ctr"/>
            <a:r>
              <a:rPr lang="en-US" sz="1400" dirty="0">
                <a:solidFill>
                  <a:srgbClr val="E05A4A"/>
                </a:solidFill>
              </a:rPr>
              <a:t>Factory Reset: docker compose down -v &amp;&amp; docker compose up -d   [WARNING: deletes all volumes and data]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193" name="Title"/>
          <p:cNvSpPr txBox="1"/>
          <p:nvPr/>
        </p:nvSpPr>
        <p:spPr>
          <a:xfrm>
            <a:off x="540000" y="288000"/>
            <a:ext cx="10800000" cy="540000"/>
          </a:xfrm>
          <a:prstGeom prst="rect">
            <a:avLst/>
          </a:prstGeom>
        </p:spPr>
        <p:txBody>
          <a:bodyPr/>
          <a:lstStyle/>
          <a:p>
            <a:r>
              <a:rPr lang="en-US" sz="3200" b="1" dirty="0">
                <a:solidFill>
                  <a:srgbClr val="FFFFFF"/>
                </a:solidFill>
              </a:rPr>
              <a:t>Going Further — What You Can Explore Next</a:t>
            </a:r>
          </a:p>
        </p:txBody>
      </p:sp>
      <p:sp>
        <p:nvSpPr>
          <p:cNvPr id="100194" name="NLabel"/>
          <p:cNvSpPr txBox="1"/>
          <p:nvPr/>
        </p:nvSpPr>
        <p:spPr>
          <a:xfrm>
            <a:off x="540000" y="1080000"/>
            <a:ext cx="3240000" cy="252000"/>
          </a:xfrm>
          <a:prstGeom prst="rect">
            <a:avLst/>
          </a:prstGeom>
        </p:spPr>
        <p:txBody>
          <a:bodyPr/>
          <a:lstStyle/>
          <a:p>
            <a:r>
              <a:rPr lang="en-US" sz="1600" b="1">
                <a:solidFill>
                  <a:srgbClr val="5B9BD5"/>
                </a:solidFill>
              </a:rPr>
              <a:t>Schema Evolution</a:t>
            </a:r>
          </a:p>
        </p:txBody>
      </p:sp>
      <p:sp>
        <p:nvSpPr>
          <p:cNvPr id="100195" name="N1"/>
          <p:cNvSpPr txBox="1"/>
          <p:nvPr/>
        </p:nvSpPr>
        <p:spPr>
          <a:xfrm>
            <a:off x="540000" y="1368000"/>
            <a:ext cx="3240000" cy="900000"/>
          </a:xfrm>
          <a:prstGeom prst="rect">
            <a:avLst/>
          </a:prstGeom>
        </p:spPr>
        <p:txBody>
          <a:bodyPr/>
          <a:lstStyle/>
          <a:p>
            <a:r>
              <a:rPr lang="en-US" sz="1400">
                <a:solidFill>
                  <a:srgbClr val="D0E4F7"/>
                </a:solidFill>
              </a:rPr>
              <a:t>Add a new nullable field to github-schema.avsc and watch Hudi evolve the schema on the next ingestion run — zero table recreation needed.</a:t>
            </a:r>
          </a:p>
        </p:txBody>
      </p:sp>
      <p:sp>
        <p:nvSpPr>
          <p:cNvPr id="100196" name="N2Label"/>
          <p:cNvSpPr txBox="1"/>
          <p:nvPr/>
        </p:nvSpPr>
        <p:spPr>
          <a:xfrm>
            <a:off x="4140000" y="1080000"/>
            <a:ext cx="3240000" cy="252000"/>
          </a:xfrm>
          <a:prstGeom prst="rect">
            <a:avLst/>
          </a:prstGeom>
        </p:spPr>
        <p:txBody>
          <a:bodyPr/>
          <a:lstStyle/>
          <a:p>
            <a:r>
              <a:rPr lang="en-US" sz="1600" b="1">
                <a:solidFill>
                  <a:srgbClr val="5B9BD5"/>
                </a:solidFill>
              </a:rPr>
              <a:t>Cloud Storage</a:t>
            </a:r>
          </a:p>
        </p:txBody>
      </p:sp>
      <p:sp>
        <p:nvSpPr>
          <p:cNvPr id="100197" name="N2"/>
          <p:cNvSpPr txBox="1"/>
          <p:nvPr/>
        </p:nvSpPr>
        <p:spPr>
          <a:xfrm>
            <a:off x="4140000" y="1368000"/>
            <a:ext cx="3240000" cy="900000"/>
          </a:xfrm>
          <a:prstGeom prst="rect">
            <a:avLst/>
          </a:prstGeom>
        </p:spPr>
        <p:txBody>
          <a:bodyPr/>
          <a:lstStyle/>
          <a:p>
            <a:r>
              <a:rPr lang="en-US" sz="1400">
                <a:solidFill>
                  <a:srgbClr val="D0E4F7"/>
                </a:solidFill>
              </a:rPr>
              <a:t>Point the lakehouse at AWS S3 or Backblaze B2 by editing S3_ENDPOINT, S3_PATH_STYLE_ACCESS, and S3_SSL_ENABLED in .env — zero code changes.</a:t>
            </a:r>
          </a:p>
        </p:txBody>
      </p:sp>
      <p:sp>
        <p:nvSpPr>
          <p:cNvPr id="100198" name="N3Label"/>
          <p:cNvSpPr txBox="1"/>
          <p:nvPr/>
        </p:nvSpPr>
        <p:spPr>
          <a:xfrm>
            <a:off x="7740000" y="1080000"/>
            <a:ext cx="3240000" cy="252000"/>
          </a:xfrm>
          <a:prstGeom prst="rect">
            <a:avLst/>
          </a:prstGeom>
        </p:spPr>
        <p:txBody>
          <a:bodyPr/>
          <a:lstStyle/>
          <a:p>
            <a:r>
              <a:rPr lang="en-US" sz="1600" b="1">
                <a:solidFill>
                  <a:srgbClr val="5B9BD5"/>
                </a:solidFill>
              </a:rPr>
              <a:t>Custom Dashboards</a:t>
            </a:r>
          </a:p>
        </p:txBody>
      </p:sp>
      <p:sp>
        <p:nvSpPr>
          <p:cNvPr id="100199" name="N3"/>
          <p:cNvSpPr txBox="1"/>
          <p:nvPr/>
        </p:nvSpPr>
        <p:spPr>
          <a:xfrm>
            <a:off x="7740000" y="1368000"/>
            <a:ext cx="3240000" cy="900000"/>
          </a:xfrm>
          <a:prstGeom prst="rect">
            <a:avLst/>
          </a:prstGeom>
        </p:spPr>
        <p:txBody>
          <a:bodyPr/>
          <a:lstStyle/>
          <a:p>
            <a:r>
              <a:rPr lang="en-US" sz="1400">
                <a:solidFill>
                  <a:srgbClr val="D0E4F7"/>
                </a:solidFill>
              </a:rPr>
              <a:t>Build new Superset charts using the github_events_flat virtual dataset. Try geospatial maps of org locations or a PR cycle-time histogram.</a:t>
            </a:r>
          </a:p>
        </p:txBody>
      </p:sp>
      <p:sp>
        <p:nvSpPr>
          <p:cNvPr id="100200" name="N4Label"/>
          <p:cNvSpPr txBox="1"/>
          <p:nvPr/>
        </p:nvSpPr>
        <p:spPr>
          <a:xfrm>
            <a:off x="540000" y="2880000"/>
            <a:ext cx="3240000" cy="252000"/>
          </a:xfrm>
          <a:prstGeom prst="rect">
            <a:avLst/>
          </a:prstGeom>
        </p:spPr>
        <p:txBody>
          <a:bodyPr/>
          <a:lstStyle/>
          <a:p>
            <a:r>
              <a:rPr lang="en-US" sz="1600" b="1">
                <a:solidFill>
                  <a:srgbClr val="5B9BD5"/>
                </a:solidFill>
              </a:rPr>
              <a:t>Merge-on-Read</a:t>
            </a:r>
          </a:p>
        </p:txBody>
      </p:sp>
      <p:sp>
        <p:nvSpPr>
          <p:cNvPr id="100201" name="N4"/>
          <p:cNvSpPr txBox="1"/>
          <p:nvPr/>
        </p:nvSpPr>
        <p:spPr>
          <a:xfrm>
            <a:off x="540000" y="3168000"/>
            <a:ext cx="3240000" cy="900000"/>
          </a:xfrm>
          <a:prstGeom prst="rect">
            <a:avLst/>
          </a:prstGeom>
        </p:spPr>
        <p:txBody>
          <a:bodyPr/>
          <a:lstStyle/>
          <a:p>
            <a:r>
              <a:rPr lang="en-US" sz="1400">
                <a:solidFill>
                  <a:srgbClr val="D0E4F7"/>
                </a:solidFill>
              </a:rPr>
              <a:t>Change --table-type to MERGE_ON_READ in the DAG. Observe the .avro delta log files appearing in MinIO alongside Parquet and the compaction timeline entries.</a:t>
            </a:r>
          </a:p>
        </p:txBody>
      </p:sp>
      <p:sp>
        <p:nvSpPr>
          <p:cNvPr id="100202" name="N5Label"/>
          <p:cNvSpPr txBox="1"/>
          <p:nvPr/>
        </p:nvSpPr>
        <p:spPr>
          <a:xfrm>
            <a:off x="4140000" y="2880000"/>
            <a:ext cx="3240000" cy="252000"/>
          </a:xfrm>
          <a:prstGeom prst="rect">
            <a:avLst/>
          </a:prstGeom>
        </p:spPr>
        <p:txBody>
          <a:bodyPr/>
          <a:lstStyle/>
          <a:p>
            <a:r>
              <a:rPr lang="en-US" sz="1600" b="1">
                <a:solidFill>
                  <a:srgbClr val="5B9BD5"/>
                </a:solidFill>
              </a:rPr>
              <a:t>Slack Alerting</a:t>
            </a:r>
          </a:p>
        </p:txBody>
      </p:sp>
      <p:sp>
        <p:nvSpPr>
          <p:cNvPr id="100203" name="N5"/>
          <p:cNvSpPr txBox="1"/>
          <p:nvPr/>
        </p:nvSpPr>
        <p:spPr>
          <a:xfrm>
            <a:off x="4140000" y="3168000"/>
            <a:ext cx="3240000" cy="900000"/>
          </a:xfrm>
          <a:prstGeom prst="rect">
            <a:avLst/>
          </a:prstGeom>
        </p:spPr>
        <p:txBody>
          <a:bodyPr/>
          <a:lstStyle/>
          <a:p>
            <a:r>
              <a:rPr lang="en-US" sz="1400">
                <a:solidFill>
                  <a:srgbClr val="D0E4F7"/>
                </a:solidFill>
              </a:rPr>
              <a:t>Add a SLACK_WEBHOOK_URL in .env and deliberately break the pipeline (e.g. delete all MinIO data). Watch the failure alert fire in your Slack channel.</a:t>
            </a:r>
          </a:p>
        </p:txBody>
      </p:sp>
      <p:sp>
        <p:nvSpPr>
          <p:cNvPr id="100204" name="N6Label"/>
          <p:cNvSpPr txBox="1"/>
          <p:nvPr/>
        </p:nvSpPr>
        <p:spPr>
          <a:xfrm>
            <a:off x="7740000" y="2880000"/>
            <a:ext cx="3240000" cy="252000"/>
          </a:xfrm>
          <a:prstGeom prst="rect">
            <a:avLst/>
          </a:prstGeom>
        </p:spPr>
        <p:txBody>
          <a:bodyPr/>
          <a:lstStyle/>
          <a:p>
            <a:r>
              <a:rPr lang="en-US" sz="1600" b="1">
                <a:solidFill>
                  <a:srgbClr val="5B9BD5"/>
                </a:solidFill>
              </a:rPr>
              <a:t>Streaming Ingestion</a:t>
            </a:r>
          </a:p>
        </p:txBody>
      </p:sp>
      <p:sp>
        <p:nvSpPr>
          <p:cNvPr id="100205" name="N6"/>
          <p:cNvSpPr txBox="1"/>
          <p:nvPr/>
        </p:nvSpPr>
        <p:spPr>
          <a:xfrm>
            <a:off x="7740000" y="3168000"/>
            <a:ext cx="3240000" cy="900000"/>
          </a:xfrm>
          <a:prstGeom prst="rect">
            <a:avLst/>
          </a:prstGeom>
        </p:spPr>
        <p:txBody>
          <a:bodyPr/>
          <a:lstStyle/>
          <a:p>
            <a:r>
              <a:rPr lang="en-US" sz="1400">
                <a:solidFill>
                  <a:srgbClr val="D0E4F7"/>
                </a:solidFill>
              </a:rPr>
              <a:t>Replace HoodieStreamer's batch source with a Kafka source to stream GitHub events in near-real-time using the Hudi DeltaStreamer Kafka connector.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a:extLst>
            <a:ext uri="{FF2B5EF4-FFF2-40B4-BE49-F238E27FC236}">
              <a16:creationId xmlns:a16="http://schemas.microsoft.com/office/drawing/2014/main" id="{63357A31-04F4-60FE-3C5D-97A3AB031449}"/>
            </a:ext>
          </a:extLst>
        </p:cNvPr>
        <p:cNvGrpSpPr/>
        <p:nvPr/>
      </p:nvGrpSpPr>
      <p:grpSpPr>
        <a:xfrm>
          <a:off x="0" y="0"/>
          <a:ext cx="0" cy="0"/>
          <a:chOff x="0" y="0"/>
          <a:chExt cx="0" cy="0"/>
        </a:xfrm>
      </p:grpSpPr>
      <p:sp>
        <p:nvSpPr>
          <p:cNvPr id="7" name="Google Shape;292;g13c4d3c33ba_0_40">
            <a:extLst>
              <a:ext uri="{FF2B5EF4-FFF2-40B4-BE49-F238E27FC236}">
                <a16:creationId xmlns:a16="http://schemas.microsoft.com/office/drawing/2014/main" id="{4BE0578D-B895-5204-2E78-C66E3EB93F04}"/>
              </a:ext>
            </a:extLst>
          </p:cNvPr>
          <p:cNvSpPr txBox="1"/>
          <p:nvPr/>
        </p:nvSpPr>
        <p:spPr>
          <a:xfrm>
            <a:off x="6096000" y="4535242"/>
            <a:ext cx="4880410" cy="572700"/>
          </a:xfrm>
          <a:prstGeom prst="rect">
            <a:avLst/>
          </a:prstGeom>
          <a:noFill/>
          <a:ln>
            <a:noFill/>
          </a:ln>
        </p:spPr>
        <p:txBody>
          <a:bodyPr spcFirstLastPara="1" wrap="square" lIns="91425" tIns="45700" rIns="91425" bIns="45700" anchor="t" anchorCtr="0">
            <a:noAutofit/>
          </a:bodyPr>
          <a:lstStyle/>
          <a:p>
            <a:pPr algn="ctr">
              <a:lnSpc>
                <a:spcPct val="90000"/>
              </a:lnSpc>
              <a:spcBef>
                <a:spcPts val="1000"/>
              </a:spcBef>
            </a:pPr>
            <a:r>
              <a:rPr lang="en-US" sz="1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Calibri"/>
                <a:hlinkClick r:id="rId3"/>
              </a:rPr>
              <a:t>https://ibm.biz/dev-watsonx-data</a:t>
            </a:r>
            <a:endParaRPr lang="en-US" sz="1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Calibri"/>
            </a:endParaRPr>
          </a:p>
          <a:p>
            <a:pPr algn="ctr">
              <a:lnSpc>
                <a:spcPct val="90000"/>
              </a:lnSpc>
              <a:spcBef>
                <a:spcPts val="1000"/>
              </a:spcBef>
            </a:pPr>
            <a:endParaRPr lang="en-US" sz="20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Calibri"/>
            </a:endParaRPr>
          </a:p>
          <a:p>
            <a:pPr>
              <a:lnSpc>
                <a:spcPct val="90000"/>
              </a:lnSpc>
              <a:spcBef>
                <a:spcPts val="1000"/>
              </a:spcBef>
            </a:pPr>
            <a:endParaRPr lang="en-US"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Calibri"/>
            </a:endParaRPr>
          </a:p>
          <a:p>
            <a:pPr marL="0" lvl="0" indent="0" algn="l" rtl="0">
              <a:lnSpc>
                <a:spcPct val="90000"/>
              </a:lnSpc>
              <a:spcBef>
                <a:spcPts val="1000"/>
              </a:spcBef>
              <a:spcAft>
                <a:spcPts val="0"/>
              </a:spcAft>
              <a:buNone/>
            </a:pPr>
            <a:endPar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Calibri"/>
            </a:endParaRPr>
          </a:p>
          <a:p>
            <a:pPr marL="0" lvl="0" indent="0" algn="l" rtl="0">
              <a:lnSpc>
                <a:spcPct val="90000"/>
              </a:lnSpc>
              <a:spcBef>
                <a:spcPts val="1000"/>
              </a:spcBef>
              <a:spcAft>
                <a:spcPts val="0"/>
              </a:spcAft>
              <a:buNone/>
            </a:pPr>
            <a:endPar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Calibri"/>
            </a:endParaRPr>
          </a:p>
          <a:p>
            <a:pPr marL="0" lvl="0" indent="0" algn="l" rtl="0">
              <a:lnSpc>
                <a:spcPct val="90000"/>
              </a:lnSpc>
              <a:spcBef>
                <a:spcPts val="1000"/>
              </a:spcBef>
              <a:spcAft>
                <a:spcPts val="0"/>
              </a:spcAft>
              <a:buNone/>
            </a:pPr>
            <a:endParaRPr sz="11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Calibri"/>
            </a:endParaRPr>
          </a:p>
          <a:p>
            <a:pPr marL="0" lvl="0" indent="0" algn="l" rtl="0">
              <a:lnSpc>
                <a:spcPct val="90000"/>
              </a:lnSpc>
              <a:spcBef>
                <a:spcPts val="1000"/>
              </a:spcBef>
              <a:spcAft>
                <a:spcPts val="0"/>
              </a:spcAft>
              <a:buNone/>
            </a:pPr>
            <a:endParaRPr sz="1600" b="1"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Calibri"/>
            </a:endParaRPr>
          </a:p>
          <a:p>
            <a:pPr marL="0" lvl="0" indent="0" algn="l" rtl="0">
              <a:lnSpc>
                <a:spcPct val="90000"/>
              </a:lnSpc>
              <a:spcBef>
                <a:spcPts val="1000"/>
              </a:spcBef>
              <a:spcAft>
                <a:spcPts val="0"/>
              </a:spcAft>
              <a:buNone/>
            </a:pPr>
            <a:endParaRPr sz="11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8" name="Picture 7" descr="A screenshot of a computer&#10;&#10;Description automatically generated">
            <a:extLst>
              <a:ext uri="{FF2B5EF4-FFF2-40B4-BE49-F238E27FC236}">
                <a16:creationId xmlns:a16="http://schemas.microsoft.com/office/drawing/2014/main" id="{F5877F87-9DC2-33DA-B4CA-A8D8055B6A19}"/>
              </a:ext>
            </a:extLst>
          </p:cNvPr>
          <p:cNvPicPr>
            <a:picLocks noChangeAspect="1"/>
          </p:cNvPicPr>
          <p:nvPr/>
        </p:nvPicPr>
        <p:blipFill>
          <a:blip r:embed="rId4"/>
          <a:stretch>
            <a:fillRect/>
          </a:stretch>
        </p:blipFill>
        <p:spPr>
          <a:xfrm>
            <a:off x="2249729" y="1555498"/>
            <a:ext cx="3402926" cy="4156142"/>
          </a:xfrm>
          <a:prstGeom prst="rect">
            <a:avLst/>
          </a:prstGeom>
        </p:spPr>
      </p:pic>
      <p:pic>
        <p:nvPicPr>
          <p:cNvPr id="9" name="Picture 4">
            <a:extLst>
              <a:ext uri="{FF2B5EF4-FFF2-40B4-BE49-F238E27FC236}">
                <a16:creationId xmlns:a16="http://schemas.microsoft.com/office/drawing/2014/main" id="{CD091FB5-9AA1-C317-6EA1-007A1A0539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6077" y="1922844"/>
            <a:ext cx="2376871" cy="2376871"/>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a:extLst>
              <a:ext uri="{FF2B5EF4-FFF2-40B4-BE49-F238E27FC236}">
                <a16:creationId xmlns:a16="http://schemas.microsoft.com/office/drawing/2014/main" id="{1A24B0D4-F38F-A5C0-92F2-EBC9F4636ACB}"/>
              </a:ext>
            </a:extLst>
          </p:cNvPr>
          <p:cNvSpPr txBox="1"/>
          <p:nvPr/>
        </p:nvSpPr>
        <p:spPr>
          <a:xfrm>
            <a:off x="540000" y="288000"/>
            <a:ext cx="10800000" cy="540000"/>
          </a:xfrm>
          <a:prstGeom prst="rect">
            <a:avLst/>
          </a:prstGeom>
        </p:spPr>
        <p:txBody>
          <a:bodyPr/>
          <a:lstStyle/>
          <a:p>
            <a:r>
              <a:rPr lang="en-US" sz="3200" b="1" dirty="0">
                <a:solidFill>
                  <a:srgbClr val="FFFFFF"/>
                </a:solidFill>
              </a:rPr>
              <a:t>Explore </a:t>
            </a:r>
            <a:r>
              <a:rPr lang="en-US" sz="3200" b="1" dirty="0" err="1">
                <a:solidFill>
                  <a:srgbClr val="FFFFFF"/>
                </a:solidFill>
              </a:rPr>
              <a:t>watsonx.data</a:t>
            </a:r>
            <a:r>
              <a:rPr lang="en-US" sz="3200" b="1" dirty="0">
                <a:solidFill>
                  <a:srgbClr val="FFFFFF"/>
                </a:solidFill>
              </a:rPr>
              <a:t> – Enterprise Open Lakehouse</a:t>
            </a:r>
          </a:p>
        </p:txBody>
      </p:sp>
    </p:spTree>
    <p:extLst>
      <p:ext uri="{BB962C8B-B14F-4D97-AF65-F5344CB8AC3E}">
        <p14:creationId xmlns:p14="http://schemas.microsoft.com/office/powerpoint/2010/main" val="4001835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100206" name="Title"/>
          <p:cNvSpPr txBox="1"/>
          <p:nvPr/>
        </p:nvSpPr>
        <p:spPr>
          <a:xfrm>
            <a:off x="540000" y="1800000"/>
            <a:ext cx="10800000" cy="900000"/>
          </a:xfrm>
          <a:prstGeom prst="rect">
            <a:avLst/>
          </a:prstGeom>
        </p:spPr>
        <p:txBody>
          <a:bodyPr/>
          <a:lstStyle/>
          <a:p>
            <a:pPr algn="ctr"/>
            <a:r>
              <a:rPr lang="en-US" sz="5400" b="1">
                <a:solidFill>
                  <a:srgbClr val="FFFFFF"/>
                </a:solidFill>
              </a:rPr>
              <a:t>Thank You</a:t>
            </a:r>
          </a:p>
        </p:txBody>
      </p:sp>
      <p:sp>
        <p:nvSpPr>
          <p:cNvPr id="100207" name="Sub"/>
          <p:cNvSpPr txBox="1"/>
          <p:nvPr/>
        </p:nvSpPr>
        <p:spPr>
          <a:xfrm>
            <a:off x="540000" y="2880000"/>
            <a:ext cx="10800000" cy="360000"/>
          </a:xfrm>
          <a:prstGeom prst="rect">
            <a:avLst/>
          </a:prstGeom>
        </p:spPr>
        <p:txBody>
          <a:bodyPr/>
          <a:lstStyle/>
          <a:p>
            <a:pPr algn="ctr"/>
            <a:r>
              <a:rPr lang="en-US" sz="2200">
                <a:solidFill>
                  <a:srgbClr val="A8C6E8"/>
                </a:solidFill>
              </a:rPr>
              <a:t>You've built a production-grade data lakehouse from scratch.</a:t>
            </a:r>
          </a:p>
        </p:txBody>
      </p:sp>
      <p:sp>
        <p:nvSpPr>
          <p:cNvPr id="100208" name="Tech"/>
          <p:cNvSpPr txBox="1"/>
          <p:nvPr/>
        </p:nvSpPr>
        <p:spPr>
          <a:xfrm>
            <a:off x="540000" y="3384000"/>
            <a:ext cx="10800000" cy="288000"/>
          </a:xfrm>
          <a:prstGeom prst="rect">
            <a:avLst/>
          </a:prstGeom>
        </p:spPr>
        <p:txBody>
          <a:bodyPr/>
          <a:lstStyle/>
          <a:p>
            <a:pPr algn="ctr"/>
            <a:r>
              <a:rPr lang="en-US" sz="1600">
                <a:solidFill>
                  <a:srgbClr val="5B9BD5"/>
                </a:solidFill>
              </a:rPr>
              <a:t>PrestoDB  ·  Apache Hudi  ·  MinIO  ·  Airflow  ·  Spark  ·  Superset</a:t>
            </a:r>
          </a:p>
        </p:txBody>
      </p:sp>
      <p:sp>
        <p:nvSpPr>
          <p:cNvPr id="100209" name="Ref"/>
          <p:cNvSpPr txBox="1"/>
          <p:nvPr/>
        </p:nvSpPr>
        <p:spPr>
          <a:xfrm>
            <a:off x="2888672" y="4181563"/>
            <a:ext cx="6414656" cy="778363"/>
          </a:xfrm>
          <a:prstGeom prst="rect">
            <a:avLst/>
          </a:prstGeom>
        </p:spPr>
        <p:txBody>
          <a:bodyPr/>
          <a:lstStyle/>
          <a:p>
            <a:r>
              <a:rPr lang="en-US" sz="1500" dirty="0">
                <a:solidFill>
                  <a:srgbClr val="7A8DA0"/>
                </a:solidFill>
              </a:rPr>
              <a:t>Repo:  https://</a:t>
            </a:r>
            <a:r>
              <a:rPr lang="en-US" sz="1500" dirty="0" err="1">
                <a:solidFill>
                  <a:srgbClr val="7A8DA0"/>
                </a:solidFill>
              </a:rPr>
              <a:t>github.com</a:t>
            </a:r>
            <a:r>
              <a:rPr lang="en-US" sz="1500" dirty="0">
                <a:solidFill>
                  <a:srgbClr val="7A8DA0"/>
                </a:solidFill>
              </a:rPr>
              <a:t>/</a:t>
            </a:r>
            <a:r>
              <a:rPr lang="en-US" sz="1500" dirty="0" err="1">
                <a:solidFill>
                  <a:srgbClr val="7A8DA0"/>
                </a:solidFill>
              </a:rPr>
              <a:t>saurabhmahawar</a:t>
            </a:r>
            <a:r>
              <a:rPr lang="en-US" sz="1500" dirty="0">
                <a:solidFill>
                  <a:srgbClr val="7A8DA0"/>
                </a:solidFill>
              </a:rPr>
              <a:t>/</a:t>
            </a:r>
            <a:r>
              <a:rPr lang="en-US" sz="1500" dirty="0" err="1">
                <a:solidFill>
                  <a:srgbClr val="7A8DA0"/>
                </a:solidFill>
              </a:rPr>
              <a:t>presto_hudi_github_data_pipeline</a:t>
            </a:r>
            <a:endParaRPr lang="en-US" sz="1500" dirty="0">
              <a:solidFill>
                <a:srgbClr val="7A8DA0"/>
              </a:solidFill>
            </a:endParaRPr>
          </a:p>
          <a:p>
            <a:r>
              <a:rPr lang="en-US" sz="1500" dirty="0">
                <a:solidFill>
                  <a:srgbClr val="7A8DA0"/>
                </a:solidFill>
              </a:rPr>
              <a:t>Docs:  See </a:t>
            </a:r>
            <a:r>
              <a:rPr lang="en-US" sz="1500" dirty="0" err="1">
                <a:solidFill>
                  <a:srgbClr val="7A8DA0"/>
                </a:solidFill>
              </a:rPr>
              <a:t>README.md</a:t>
            </a:r>
            <a:r>
              <a:rPr lang="en-US" sz="1500" dirty="0">
                <a:solidFill>
                  <a:srgbClr val="7A8DA0"/>
                </a:solidFill>
              </a:rPr>
              <a:t> for full reference, troubleshooting, and design decisions</a:t>
            </a:r>
          </a:p>
          <a:p>
            <a:r>
              <a:rPr lang="en-US" sz="1500" dirty="0">
                <a:solidFill>
                  <a:srgbClr val="7A8DA0"/>
                </a:solidFill>
              </a:rPr>
              <a:t>Presto Community: https://</a:t>
            </a:r>
            <a:r>
              <a:rPr lang="en-US" sz="1500" dirty="0" err="1">
                <a:solidFill>
                  <a:srgbClr val="7A8DA0"/>
                </a:solidFill>
              </a:rPr>
              <a:t>prestodb.io</a:t>
            </a:r>
            <a:r>
              <a:rPr lang="en-US" sz="1500" dirty="0">
                <a:solidFill>
                  <a:srgbClr val="7A8DA0"/>
                </a:solidFill>
              </a:rPr>
              <a:t>/community/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rgbClr val="0F1B2D"/>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4380</TotalTime>
  <Words>5674</Words>
  <Application>Microsoft Macintosh PowerPoint</Application>
  <PresentationFormat>Widescreen</PresentationFormat>
  <Paragraphs>477</Paragraphs>
  <Slides>26</Slides>
  <Notes>26</Notes>
  <HiddenSlides>1</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26</vt:i4>
      </vt:variant>
    </vt:vector>
  </HeadingPairs>
  <TitlesOfParts>
    <vt:vector size="31" baseType="lpstr">
      <vt:lpstr>Arial</vt:lpstr>
      <vt:lpstr>Calibri</vt:lpstr>
      <vt:lpstr>Open Sans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Yi-Hong Wang</cp:lastModifiedBy>
  <cp:revision>42</cp:revision>
  <dcterms:created xsi:type="dcterms:W3CDTF">2026-10-09T17:12:10Z</dcterms:created>
  <dcterms:modified xsi:type="dcterms:W3CDTF">2026-10-15T17:19:17Z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1.0.157</vt:lpwstr>
  </property>
  <property fmtid="{D5CDD505-2E9C-101B-9397-08002B2CF9AE}" pid="3" name="OfficeCLI.LastModified">
    <vt:lpwstr>2026-10-14T01:48:02Z</vt:lpwstr>
  </property>
</Properties>
</file>